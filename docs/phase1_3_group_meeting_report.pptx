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153512D6-D32E-4F5D-8E46-4F817133EA0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6C2422-16B5-4409-80A6-54F17E68BFE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14E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8E0FF2-6E35-48AA-B521-F4A44912B13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32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283354-B2CD-4DF2-A0C4-0E497DC63D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B65D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37EE4F-3D71-4344-A21A-A63DF4080E9F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9334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Counterfactual Conversation Emulation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95EE97-B54A-4459-B5CC-539800B4D2AA}"/>
              </a:ext>
            </a:extLst>
          </p:cNvPr>
          <p:cNvSpPr>
            <a:spLocks noGrp="1"/>
          </p:cNvSpPr>
          <p:nvPr/>
        </p:nvSpPr>
        <p:spPr>
          <a:xfrm>
            <a:off x="704850" y="1390650"/>
            <a:ext cx="885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D9DEE8"/>
                </a:solidFill>
                <a:latin typeface="PingFang SC"/>
                <a:ea typeface="PingFang SC"/>
                <a:cs typeface="PingFang SC"/>
              </a:defRPr>
            </a:pPr>
            <a:r>
              <a:rPr lang="en-US" sz="1500" b="0" dirty="0">
                <a:solidFill>
                  <a:srgbClr val="D9DEE8"/>
                </a:solidFill>
                <a:latin typeface="PingFang SC"/>
                <a:ea typeface="PingFang SC"/>
                <a:cs typeface="PingFang SC"/>
              </a:rPr>
              <a:t>Phase 1-3 </a:t>
            </a:r>
            <a:r>
              <a:rPr lang="zh-CN" altLang="en-US" sz="1500" b="0" dirty="0">
                <a:solidFill>
                  <a:srgbClr val="D9DEE8"/>
                </a:solidFill>
                <a:latin typeface="PingFang SC"/>
                <a:ea typeface="PingFang SC"/>
                <a:cs typeface="PingFang SC"/>
              </a:rPr>
              <a:t>：</a:t>
            </a:r>
            <a:r>
              <a:rPr sz="1500" b="0" dirty="0" err="1">
                <a:solidFill>
                  <a:srgbClr val="D9DEE8"/>
                </a:solidFill>
                <a:latin typeface="PingFang SC"/>
                <a:ea typeface="PingFang SC"/>
                <a:cs typeface="PingFang SC"/>
              </a:rPr>
              <a:t>问题形式化、数据构建、Ground</a:t>
            </a:r>
            <a:r>
              <a:rPr sz="1500" b="0" dirty="0">
                <a:solidFill>
                  <a:srgbClr val="D9DEE8"/>
                </a:solidFill>
                <a:latin typeface="PingFang SC"/>
                <a:ea typeface="PingFang SC"/>
                <a:cs typeface="PingFang SC"/>
              </a:rPr>
              <a:t> Truth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E376AE-63BE-4BC6-8AA6-B4FA2A60C327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75489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A4E9241-6DE2-412C-A7D3-410EE79B31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BB03BB-9380-4A8C-A634-7CFC83C90A5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14E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C3AB5D-6298-42DE-B0C5-FC1CA6F2E16A}"/>
              </a:ext>
            </a:extLst>
          </p:cNvPr>
          <p:cNvSpPr>
            <a:spLocks noGrp="1"/>
          </p:cNvSpPr>
          <p:nvPr/>
        </p:nvSpPr>
        <p:spPr>
          <a:xfrm>
            <a:off x="552450" y="257175"/>
            <a:ext cx="95250" cy="95250"/>
          </a:xfrm>
          <a:prstGeom prst="rect">
            <a:avLst/>
          </a:prstGeom>
          <a:solidFill>
            <a:srgbClr val="B65D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5E74EE-C7D9-4BFA-B28D-933ABF0D6CB1}"/>
              </a:ext>
            </a:extLst>
          </p:cNvPr>
          <p:cNvSpPr>
            <a:spLocks noGrp="1"/>
          </p:cNvSpPr>
          <p:nvPr/>
        </p:nvSpPr>
        <p:spPr>
          <a:xfrm>
            <a:off x="723900" y="228600"/>
            <a:ext cx="304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B65D3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B65D3B"/>
                </a:solidFill>
                <a:latin typeface="PingFang SC"/>
                <a:ea typeface="PingFang SC"/>
                <a:cs typeface="PingFang SC"/>
              </a:rPr>
              <a:t>EXECUTIVE STATUS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699060-25C4-43DD-9D94-F3762899EBCA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03822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Phase 1-3 已形成完整 benchmark 骨架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1B40FF-9A6F-471F-84F8-A71B57F5F50B}"/>
              </a:ext>
            </a:extLst>
          </p:cNvPr>
          <p:cNvSpPr>
            <a:spLocks noGrp="1"/>
          </p:cNvSpPr>
          <p:nvPr/>
        </p:nvSpPr>
        <p:spPr>
          <a:xfrm>
            <a:off x="571500" y="1057275"/>
            <a:ext cx="990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从 causal question 到 frozen dataset，再到 rubric-judge ground truth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980864-F929-4423-A9B6-E1DD740C34C8}"/>
              </a:ext>
            </a:extLst>
          </p:cNvPr>
          <p:cNvSpPr>
            <a:spLocks noGrp="1"/>
          </p:cNvSpPr>
          <p:nvPr/>
        </p:nvSpPr>
        <p:spPr>
          <a:xfrm>
            <a:off x="552450" y="1371600"/>
            <a:ext cx="11049000" cy="19050"/>
          </a:xfrm>
          <a:prstGeom prst="rect">
            <a:avLst/>
          </a:prstGeom>
          <a:solidFill>
            <a:srgbClr val="E7E1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FC2D44-0120-4463-A01D-DBCBB94949F5}"/>
              </a:ext>
            </a:extLst>
          </p:cNvPr>
          <p:cNvSpPr>
            <a:spLocks noGrp="1"/>
          </p:cNvSpPr>
          <p:nvPr/>
        </p:nvSpPr>
        <p:spPr>
          <a:xfrm>
            <a:off x="666750" y="1619250"/>
            <a:ext cx="3238500" cy="1466850"/>
          </a:xfrm>
          <a:prstGeom prst="rect">
            <a:avLst/>
          </a:prstGeom>
          <a:solidFill>
            <a:srgbClr val="FFFFFF"/>
          </a:solidFill>
          <a:ln w="9525">
            <a:solidFill>
              <a:srgbClr val="E7E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5D5199-D0AA-47AE-BB2D-D57E02EF45E1}"/>
              </a:ext>
            </a:extLst>
          </p:cNvPr>
          <p:cNvSpPr>
            <a:spLocks noGrp="1"/>
          </p:cNvSpPr>
          <p:nvPr/>
        </p:nvSpPr>
        <p:spPr>
          <a:xfrm>
            <a:off x="819150" y="1771650"/>
            <a:ext cx="704850" cy="228600"/>
          </a:xfrm>
          <a:prstGeom prst="rect">
            <a:avLst/>
          </a:prstGeom>
          <a:solidFill>
            <a:srgbClr val="214E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82F76A-94C2-47FB-88B0-EE73D55C4646}"/>
              </a:ext>
            </a:extLst>
          </p:cNvPr>
          <p:cNvSpPr>
            <a:spLocks noGrp="1"/>
          </p:cNvSpPr>
          <p:nvPr/>
        </p:nvSpPr>
        <p:spPr>
          <a:xfrm>
            <a:off x="895350" y="1819275"/>
            <a:ext cx="552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Phase 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4D1F4C-690B-4076-80EF-23201C11E770}"/>
              </a:ext>
            </a:extLst>
          </p:cNvPr>
          <p:cNvSpPr>
            <a:spLocks noGrp="1"/>
          </p:cNvSpPr>
          <p:nvPr/>
        </p:nvSpPr>
        <p:spPr>
          <a:xfrm>
            <a:off x="819150" y="2133600"/>
            <a:ext cx="2933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问题被压成单步 contextual bandit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B58BD8-F16D-4BD8-B55C-0A1D4542B616}"/>
              </a:ext>
            </a:extLst>
          </p:cNvPr>
          <p:cNvSpPr>
            <a:spLocks noGrp="1"/>
          </p:cNvSpPr>
          <p:nvPr/>
        </p:nvSpPr>
        <p:spPr>
          <a:xfrm>
            <a:off x="4476750" y="1619250"/>
            <a:ext cx="3238500" cy="1466850"/>
          </a:xfrm>
          <a:prstGeom prst="rect">
            <a:avLst/>
          </a:prstGeom>
          <a:solidFill>
            <a:srgbClr val="FFFFFF"/>
          </a:solidFill>
          <a:ln w="9525">
            <a:solidFill>
              <a:srgbClr val="E7E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95C7F8-9B7F-4992-A6A6-56FDC8F9B274}"/>
              </a:ext>
            </a:extLst>
          </p:cNvPr>
          <p:cNvSpPr>
            <a:spLocks noGrp="1"/>
          </p:cNvSpPr>
          <p:nvPr/>
        </p:nvSpPr>
        <p:spPr>
          <a:xfrm>
            <a:off x="4629150" y="1771650"/>
            <a:ext cx="704850" cy="228600"/>
          </a:xfrm>
          <a:prstGeom prst="rect">
            <a:avLst/>
          </a:prstGeom>
          <a:solidFill>
            <a:srgbClr val="2F7D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3EF2C4-32D7-4B73-8DDA-691EF03AEF3B}"/>
              </a:ext>
            </a:extLst>
          </p:cNvPr>
          <p:cNvSpPr>
            <a:spLocks noGrp="1"/>
          </p:cNvSpPr>
          <p:nvPr/>
        </p:nvSpPr>
        <p:spPr>
          <a:xfrm>
            <a:off x="4705350" y="1819275"/>
            <a:ext cx="552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Phase 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9433614-C737-47C6-80E4-48AD41728196}"/>
              </a:ext>
            </a:extLst>
          </p:cNvPr>
          <p:cNvSpPr>
            <a:spLocks noGrp="1"/>
          </p:cNvSpPr>
          <p:nvPr/>
        </p:nvSpPr>
        <p:spPr>
          <a:xfrm>
            <a:off x="4629150" y="2133600"/>
            <a:ext cx="2933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公开医患数据被转成 canonical 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1969839-A4A2-434A-8CC7-84D69FEEE0E9}"/>
              </a:ext>
            </a:extLst>
          </p:cNvPr>
          <p:cNvSpPr>
            <a:spLocks noGrp="1"/>
          </p:cNvSpPr>
          <p:nvPr/>
        </p:nvSpPr>
        <p:spPr>
          <a:xfrm>
            <a:off x="8286750" y="1619250"/>
            <a:ext cx="3238500" cy="1466850"/>
          </a:xfrm>
          <a:prstGeom prst="rect">
            <a:avLst/>
          </a:prstGeom>
          <a:solidFill>
            <a:srgbClr val="FFFFFF"/>
          </a:solidFill>
          <a:ln w="9525">
            <a:solidFill>
              <a:srgbClr val="E7E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8112A7-FF0F-473F-BAEF-5B8501542077}"/>
              </a:ext>
            </a:extLst>
          </p:cNvPr>
          <p:cNvSpPr>
            <a:spLocks noGrp="1"/>
          </p:cNvSpPr>
          <p:nvPr/>
        </p:nvSpPr>
        <p:spPr>
          <a:xfrm>
            <a:off x="8439150" y="1771650"/>
            <a:ext cx="704850" cy="228600"/>
          </a:xfrm>
          <a:prstGeom prst="rect">
            <a:avLst/>
          </a:prstGeom>
          <a:solidFill>
            <a:srgbClr val="B65D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B2B4AE-EB2A-41A4-9543-4449DFE1A637}"/>
              </a:ext>
            </a:extLst>
          </p:cNvPr>
          <p:cNvSpPr>
            <a:spLocks noGrp="1"/>
          </p:cNvSpPr>
          <p:nvPr/>
        </p:nvSpPr>
        <p:spPr>
          <a:xfrm>
            <a:off x="8515350" y="1819275"/>
            <a:ext cx="552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Phase 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CC96363-06EB-475B-92FE-B7A9CFCE9496}"/>
              </a:ext>
            </a:extLst>
          </p:cNvPr>
          <p:cNvSpPr>
            <a:spLocks noGrp="1"/>
          </p:cNvSpPr>
          <p:nvPr/>
        </p:nvSpPr>
        <p:spPr>
          <a:xfrm>
            <a:off x="8439150" y="2133600"/>
            <a:ext cx="2933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同一 X 池子上构造 agent vs clinician ground truth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8004D8F-D09B-43E2-B112-D198DAC50BCC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7905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Sources: onboarding.pdf; repo Phase 1-3 docs/configs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8482F7A-6144-4846-9940-274E4281AED6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20630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7792E910-5212-4394-A992-ADCFB8E3B3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234F92-3003-4E09-ACC3-588871B54E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14E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E8BBCD-F5A2-4226-822D-FDC19A5914F9}"/>
              </a:ext>
            </a:extLst>
          </p:cNvPr>
          <p:cNvSpPr>
            <a:spLocks noGrp="1"/>
          </p:cNvSpPr>
          <p:nvPr/>
        </p:nvSpPr>
        <p:spPr>
          <a:xfrm>
            <a:off x="552450" y="257175"/>
            <a:ext cx="95250" cy="95250"/>
          </a:xfrm>
          <a:prstGeom prst="rect">
            <a:avLst/>
          </a:prstGeom>
          <a:solidFill>
            <a:srgbClr val="B65D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2C6725-AA7D-4807-A3D5-F1EB75627DA3}"/>
              </a:ext>
            </a:extLst>
          </p:cNvPr>
          <p:cNvSpPr>
            <a:spLocks noGrp="1"/>
          </p:cNvSpPr>
          <p:nvPr/>
        </p:nvSpPr>
        <p:spPr>
          <a:xfrm>
            <a:off x="723900" y="228600"/>
            <a:ext cx="304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B65D3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B65D3B"/>
                </a:solidFill>
                <a:latin typeface="PingFang SC"/>
                <a:ea typeface="PingFang SC"/>
                <a:cs typeface="PingFang SC"/>
              </a:rPr>
              <a:t>PHASE 1 DESIGN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E4AAA0-86A5-482D-9E73-241496509725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03822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把医疗 agent 部署问题写成 causal policy evaluation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FC1610-7F46-44C8-9A3C-B6934A4D87AD}"/>
              </a:ext>
            </a:extLst>
          </p:cNvPr>
          <p:cNvSpPr>
            <a:spLocks noGrp="1"/>
          </p:cNvSpPr>
          <p:nvPr/>
        </p:nvSpPr>
        <p:spPr>
          <a:xfrm>
            <a:off x="571500" y="1057275"/>
            <a:ext cx="990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关键降维：不评估整场对话，而评估最终临床输出替换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DE8492-13D0-4950-BD50-BF21E8004E92}"/>
              </a:ext>
            </a:extLst>
          </p:cNvPr>
          <p:cNvSpPr>
            <a:spLocks noGrp="1"/>
          </p:cNvSpPr>
          <p:nvPr/>
        </p:nvSpPr>
        <p:spPr>
          <a:xfrm>
            <a:off x="552450" y="1371600"/>
            <a:ext cx="11049000" cy="19050"/>
          </a:xfrm>
          <a:prstGeom prst="rect">
            <a:avLst/>
          </a:prstGeom>
          <a:solidFill>
            <a:srgbClr val="E7E1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DF8AC9-F767-4598-AF24-1E59C2018471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2619375" cy="971550"/>
          </a:xfrm>
          <a:prstGeom prst="rect">
            <a:avLst/>
          </a:prstGeom>
          <a:solidFill>
            <a:srgbClr val="FFFFFF"/>
          </a:solidFill>
          <a:ln w="19050">
            <a:solidFill>
              <a:srgbClr val="214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F994B7-1AB2-4C3C-9E7A-94DA9AF612DC}"/>
              </a:ext>
            </a:extLst>
          </p:cNvPr>
          <p:cNvSpPr>
            <a:spLocks noGrp="1"/>
          </p:cNvSpPr>
          <p:nvPr/>
        </p:nvSpPr>
        <p:spPr>
          <a:xfrm>
            <a:off x="819150" y="1943100"/>
            <a:ext cx="23145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14E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14E7A"/>
                </a:solidFill>
                <a:latin typeface="PingFang SC"/>
                <a:ea typeface="PingFang SC"/>
                <a:cs typeface="PingFang SC"/>
              </a:rPr>
              <a:t>Time zero: X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27756F-3433-4459-944D-9A8422AFED1A}"/>
              </a:ext>
            </a:extLst>
          </p:cNvPr>
          <p:cNvSpPr>
            <a:spLocks noGrp="1"/>
          </p:cNvSpPr>
          <p:nvPr/>
        </p:nvSpPr>
        <p:spPr>
          <a:xfrm>
            <a:off x="819150" y="2209800"/>
            <a:ext cx="231457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70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870" b="0" dirty="0" err="1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患者主诉、病史、对话中决策前可得信息；不含</a:t>
            </a:r>
            <a:r>
              <a:rPr sz="870" b="0" dirty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 final assessment / plan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AE65F8-24CE-4800-9BDB-67A413F736F5}"/>
              </a:ext>
            </a:extLst>
          </p:cNvPr>
          <p:cNvSpPr>
            <a:spLocks noGrp="1"/>
          </p:cNvSpPr>
          <p:nvPr/>
        </p:nvSpPr>
        <p:spPr>
          <a:xfrm>
            <a:off x="3448050" y="2314575"/>
            <a:ext cx="762000" cy="28575"/>
          </a:xfrm>
          <a:prstGeom prst="rect">
            <a:avLst/>
          </a:prstGeom>
          <a:solidFill>
            <a:srgbClr val="D8D0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794589-0F44-4DCE-B836-01D146983F8B}"/>
              </a:ext>
            </a:extLst>
          </p:cNvPr>
          <p:cNvSpPr>
            <a:spLocks noGrp="1"/>
          </p:cNvSpPr>
          <p:nvPr/>
        </p:nvSpPr>
        <p:spPr>
          <a:xfrm>
            <a:off x="4133850" y="2190750"/>
            <a:ext cx="247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D8D0C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D8D0C0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B67988-2374-4F92-933E-83870F0A496C}"/>
              </a:ext>
            </a:extLst>
          </p:cNvPr>
          <p:cNvSpPr>
            <a:spLocks noGrp="1"/>
          </p:cNvSpPr>
          <p:nvPr/>
        </p:nvSpPr>
        <p:spPr>
          <a:xfrm>
            <a:off x="4381500" y="1809750"/>
            <a:ext cx="2619375" cy="971550"/>
          </a:xfrm>
          <a:prstGeom prst="rect">
            <a:avLst/>
          </a:prstGeom>
          <a:solidFill>
            <a:srgbClr val="FFFFFF"/>
          </a:solidFill>
          <a:ln w="19050">
            <a:solidFill>
              <a:srgbClr val="B65D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02691D-D1BE-422E-84A3-A851303409DF}"/>
              </a:ext>
            </a:extLst>
          </p:cNvPr>
          <p:cNvSpPr>
            <a:spLocks noGrp="1"/>
          </p:cNvSpPr>
          <p:nvPr/>
        </p:nvSpPr>
        <p:spPr>
          <a:xfrm>
            <a:off x="4533900" y="1943100"/>
            <a:ext cx="23145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B65D3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B65D3B"/>
                </a:solidFill>
                <a:latin typeface="PingFang SC"/>
                <a:ea typeface="PingFang SC"/>
                <a:cs typeface="PingFang SC"/>
              </a:rPr>
              <a:t>Action: 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2EA3D6A-E39C-43CC-A4F8-F57EF0490E56}"/>
              </a:ext>
            </a:extLst>
          </p:cNvPr>
          <p:cNvSpPr>
            <a:spLocks noGrp="1"/>
          </p:cNvSpPr>
          <p:nvPr/>
        </p:nvSpPr>
        <p:spPr>
          <a:xfrm>
            <a:off x="4533900" y="2209800"/>
            <a:ext cx="231457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70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自由文本 final diagnosis / differential + management plan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298570-3228-40A1-A294-42EDD6F9FF55}"/>
              </a:ext>
            </a:extLst>
          </p:cNvPr>
          <p:cNvSpPr>
            <a:spLocks noGrp="1"/>
          </p:cNvSpPr>
          <p:nvPr/>
        </p:nvSpPr>
        <p:spPr>
          <a:xfrm>
            <a:off x="7162800" y="2314575"/>
            <a:ext cx="762000" cy="28575"/>
          </a:xfrm>
          <a:prstGeom prst="rect">
            <a:avLst/>
          </a:prstGeom>
          <a:solidFill>
            <a:srgbClr val="D8D0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1004AA-8C44-4331-96EF-D78A9B281BDA}"/>
              </a:ext>
            </a:extLst>
          </p:cNvPr>
          <p:cNvSpPr>
            <a:spLocks noGrp="1"/>
          </p:cNvSpPr>
          <p:nvPr/>
        </p:nvSpPr>
        <p:spPr>
          <a:xfrm>
            <a:off x="7848600" y="2190750"/>
            <a:ext cx="247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D8D0C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D8D0C0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585339-3A7F-4D7F-BAF1-A8ABF39F08A0}"/>
              </a:ext>
            </a:extLst>
          </p:cNvPr>
          <p:cNvSpPr>
            <a:spLocks noGrp="1"/>
          </p:cNvSpPr>
          <p:nvPr/>
        </p:nvSpPr>
        <p:spPr>
          <a:xfrm>
            <a:off x="8096250" y="1809750"/>
            <a:ext cx="2619375" cy="971550"/>
          </a:xfrm>
          <a:prstGeom prst="rect">
            <a:avLst/>
          </a:prstGeom>
          <a:solidFill>
            <a:srgbClr val="FFFFFF"/>
          </a:solidFill>
          <a:ln w="19050">
            <a:solidFill>
              <a:srgbClr val="2F7D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5C2F9BF-79BA-4040-93C2-2FA802EB2F31}"/>
              </a:ext>
            </a:extLst>
          </p:cNvPr>
          <p:cNvSpPr>
            <a:spLocks noGrp="1"/>
          </p:cNvSpPr>
          <p:nvPr/>
        </p:nvSpPr>
        <p:spPr>
          <a:xfrm>
            <a:off x="8248650" y="1943100"/>
            <a:ext cx="23145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F7D62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F7D62"/>
                </a:solidFill>
                <a:latin typeface="PingFang SC"/>
                <a:ea typeface="PingFang SC"/>
                <a:cs typeface="PingFang SC"/>
              </a:rPr>
              <a:t>Reward: 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FDF1F2-DF07-4326-9642-8F2240545D03}"/>
              </a:ext>
            </a:extLst>
          </p:cNvPr>
          <p:cNvSpPr>
            <a:spLocks noGrp="1"/>
          </p:cNvSpPr>
          <p:nvPr/>
        </p:nvSpPr>
        <p:spPr>
          <a:xfrm>
            <a:off x="8248650" y="2209800"/>
            <a:ext cx="231457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70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同一 rubric judge 输出 [0,1] clinical quality score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B1A5B04-8D97-49F3-A867-C3BC8EA98F7F}"/>
              </a:ext>
            </a:extLst>
          </p:cNvPr>
          <p:cNvSpPr>
            <a:spLocks noGrp="1"/>
          </p:cNvSpPr>
          <p:nvPr/>
        </p:nvSpPr>
        <p:spPr>
          <a:xfrm>
            <a:off x="866775" y="3524250"/>
            <a:ext cx="9953625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D67B44F-8DFF-4325-9C88-6F5E7C8FF422}"/>
              </a:ext>
            </a:extLst>
          </p:cNvPr>
          <p:cNvSpPr>
            <a:spLocks noGrp="1"/>
          </p:cNvSpPr>
          <p:nvPr/>
        </p:nvSpPr>
        <p:spPr>
          <a:xfrm>
            <a:off x="1143000" y="373380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14E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14E7A"/>
                </a:solidFill>
                <a:latin typeface="PingFang SC"/>
                <a:ea typeface="PingFang SC"/>
                <a:cs typeface="PingFang SC"/>
              </a:rPr>
              <a:t>Primary estimand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ED568EA-4749-49BA-8D43-218182326949}"/>
              </a:ext>
            </a:extLst>
          </p:cNvPr>
          <p:cNvSpPr>
            <a:spLocks noGrp="1"/>
          </p:cNvSpPr>
          <p:nvPr/>
        </p:nvSpPr>
        <p:spPr>
          <a:xfrm>
            <a:off x="3333750" y="3724275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3203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132033"/>
                </a:solidFill>
                <a:latin typeface="Menlo"/>
                <a:ea typeface="Menlo"/>
                <a:cs typeface="Menlo"/>
              </a:rPr>
              <a:t>V(pi_agent) = E_X [ E_{A ~ pi_agent(.|X)} [ q(X, A) ] ]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4408899-D82B-48E1-9701-37A16DDEA8AB}"/>
              </a:ext>
            </a:extLst>
          </p:cNvPr>
          <p:cNvSpPr>
            <a:spLocks noGrp="1"/>
          </p:cNvSpPr>
          <p:nvPr/>
        </p:nvSpPr>
        <p:spPr>
          <a:xfrm>
            <a:off x="3333750" y="4048125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B65D3B"/>
                </a:solidFill>
                <a:latin typeface="Menlo"/>
                <a:ea typeface="Menlo"/>
                <a:cs typeface="Menlo"/>
              </a:defRPr>
            </a:pPr>
            <a:r>
              <a:rPr sz="1275" b="0" dirty="0">
                <a:solidFill>
                  <a:srgbClr val="B65D3B"/>
                </a:solidFill>
                <a:latin typeface="Menlo"/>
                <a:ea typeface="Menlo"/>
                <a:cs typeface="Menlo"/>
              </a:rPr>
              <a:t>Delta = V(</a:t>
            </a:r>
            <a:r>
              <a:rPr sz="1275" b="0" dirty="0" err="1">
                <a:solidFill>
                  <a:srgbClr val="B65D3B"/>
                </a:solidFill>
                <a:latin typeface="Menlo"/>
                <a:ea typeface="Menlo"/>
                <a:cs typeface="Menlo"/>
              </a:rPr>
              <a:t>pi_agent</a:t>
            </a:r>
            <a:r>
              <a:rPr sz="1275" b="0" dirty="0">
                <a:solidFill>
                  <a:srgbClr val="B65D3B"/>
                </a:solidFill>
                <a:latin typeface="Menlo"/>
                <a:ea typeface="Menlo"/>
                <a:cs typeface="Menlo"/>
              </a:rPr>
              <a:t>) - V(</a:t>
            </a:r>
            <a:r>
              <a:rPr sz="1275" b="0" dirty="0" err="1">
                <a:solidFill>
                  <a:srgbClr val="B65D3B"/>
                </a:solidFill>
                <a:latin typeface="Menlo"/>
                <a:ea typeface="Menlo"/>
                <a:cs typeface="Menlo"/>
              </a:rPr>
              <a:t>pi_b</a:t>
            </a:r>
            <a:r>
              <a:rPr sz="1275" b="0" dirty="0">
                <a:solidFill>
                  <a:srgbClr val="B65D3B"/>
                </a:solidFill>
                <a:latin typeface="Menlo"/>
                <a:ea typeface="Menlo"/>
                <a:cs typeface="Menlo"/>
              </a:rPr>
              <a:t>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E90BBEE-B837-4149-8CC0-DC2A79B146D1}"/>
              </a:ext>
            </a:extLst>
          </p:cNvPr>
          <p:cNvSpPr>
            <a:spLocks noGrp="1"/>
          </p:cNvSpPr>
          <p:nvPr/>
        </p:nvSpPr>
        <p:spPr>
          <a:xfrm>
            <a:off x="933450" y="4905375"/>
            <a:ext cx="9525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设计理由：这样保留 action 是 natural language 的方法难点，同时避开 full dialogue OPE 的 trajectory coverage 崩溃。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47E3802-FFD2-47DF-92F7-5A432CBFDD0F}"/>
              </a:ext>
            </a:extLst>
          </p:cNvPr>
          <p:cNvSpPr>
            <a:spLocks noGrp="1"/>
          </p:cNvSpPr>
          <p:nvPr/>
        </p:nvSpPr>
        <p:spPr>
          <a:xfrm>
            <a:off x="552450" y="6315075"/>
            <a:ext cx="1000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0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660" b="0" dirty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References: Hernán &amp; Robins 2016 target trial emulation; </a:t>
            </a:r>
            <a:r>
              <a:rPr sz="660" b="0" dirty="0" err="1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Dudík</a:t>
            </a:r>
            <a:r>
              <a:rPr sz="660" b="0" dirty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 et al. 2011 contextual-bandit / DR OPE; Jiang et al. 2021 dialog OPE.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81699C9-4EF8-41F4-B197-FE05134483DD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58913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B77174AC-2E6C-4622-AED4-00260954CB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7CD2F2-9F3B-46AA-8EF6-EB2558890AC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14E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605497-7CFD-424D-87DA-8E2DDCDE7381}"/>
              </a:ext>
            </a:extLst>
          </p:cNvPr>
          <p:cNvSpPr>
            <a:spLocks noGrp="1"/>
          </p:cNvSpPr>
          <p:nvPr/>
        </p:nvSpPr>
        <p:spPr>
          <a:xfrm>
            <a:off x="552450" y="257175"/>
            <a:ext cx="95250" cy="95250"/>
          </a:xfrm>
          <a:prstGeom prst="rect">
            <a:avLst/>
          </a:prstGeom>
          <a:solidFill>
            <a:srgbClr val="B65D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F23FF8-DF2B-4156-AECB-FBC06BFCFF04}"/>
              </a:ext>
            </a:extLst>
          </p:cNvPr>
          <p:cNvSpPr>
            <a:spLocks noGrp="1"/>
          </p:cNvSpPr>
          <p:nvPr/>
        </p:nvSpPr>
        <p:spPr>
          <a:xfrm>
            <a:off x="723900" y="228600"/>
            <a:ext cx="304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B65D3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B65D3B"/>
                </a:solidFill>
                <a:latin typeface="PingFang SC"/>
                <a:ea typeface="PingFang SC"/>
                <a:cs typeface="PingFang SC"/>
              </a:rPr>
              <a:t>SCOPE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7B63C2-4F6F-431F-9D81-8738166C4F4D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03822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dirty="0" err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为什么</a:t>
            </a:r>
            <a:r>
              <a:rPr sz="2250" b="1" dirty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 v1 </a:t>
            </a:r>
            <a:r>
              <a:rPr sz="2250" b="1" dirty="0" err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不做</a:t>
            </a:r>
            <a:r>
              <a:rPr sz="2250" b="1" dirty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 full multi-turn dialogue policy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F63841-5AD1-4BC0-8640-A04BCF1F813F}"/>
              </a:ext>
            </a:extLst>
          </p:cNvPr>
          <p:cNvSpPr>
            <a:spLocks noGrp="1"/>
          </p:cNvSpPr>
          <p:nvPr/>
        </p:nvSpPr>
        <p:spPr>
          <a:xfrm>
            <a:off x="552450" y="1371600"/>
            <a:ext cx="11049000" cy="19050"/>
          </a:xfrm>
          <a:prstGeom prst="rect">
            <a:avLst/>
          </a:prstGeom>
          <a:solidFill>
            <a:srgbClr val="E7E1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375496-A9DA-4A47-8E76-05273BD841FB}"/>
              </a:ext>
            </a:extLst>
          </p:cNvPr>
          <p:cNvSpPr>
            <a:spLocks noGrp="1"/>
          </p:cNvSpPr>
          <p:nvPr/>
        </p:nvSpPr>
        <p:spPr>
          <a:xfrm>
            <a:off x="762000" y="1619250"/>
            <a:ext cx="4857750" cy="3048000"/>
          </a:xfrm>
          <a:prstGeom prst="rect">
            <a:avLst/>
          </a:prstGeom>
          <a:solidFill>
            <a:srgbClr val="FFFFFF"/>
          </a:solidFill>
          <a:ln w="9525">
            <a:solidFill>
              <a:srgbClr val="214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1CDA41-BEF9-46A8-B87D-AA57FA2FCF23}"/>
              </a:ext>
            </a:extLst>
          </p:cNvPr>
          <p:cNvSpPr>
            <a:spLocks noGrp="1"/>
          </p:cNvSpPr>
          <p:nvPr/>
        </p:nvSpPr>
        <p:spPr>
          <a:xfrm>
            <a:off x="1047750" y="1885950"/>
            <a:ext cx="3619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14E7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14E7A"/>
                </a:solidFill>
                <a:latin typeface="PingFang SC"/>
                <a:ea typeface="PingFang SC"/>
                <a:cs typeface="PingFang SC"/>
              </a:rPr>
              <a:t>Full dialogue MDP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7A9CC2-1E72-4ACD-85F0-BCBEFE816351}"/>
              </a:ext>
            </a:extLst>
          </p:cNvPr>
          <p:cNvSpPr>
            <a:spLocks noGrp="1"/>
          </p:cNvSpPr>
          <p:nvPr/>
        </p:nvSpPr>
        <p:spPr>
          <a:xfrm>
            <a:off x="1066800" y="2438400"/>
            <a:ext cx="57150" cy="57150"/>
          </a:xfrm>
          <a:prstGeom prst="rect">
            <a:avLst/>
          </a:prstGeom>
          <a:solidFill>
            <a:srgbClr val="B65D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AFB7A9-F8C2-4143-A60E-F8F1775D320C}"/>
              </a:ext>
            </a:extLst>
          </p:cNvPr>
          <p:cNvSpPr>
            <a:spLocks noGrp="1"/>
          </p:cNvSpPr>
          <p:nvPr/>
        </p:nvSpPr>
        <p:spPr>
          <a:xfrm>
            <a:off x="1200150" y="2362200"/>
            <a:ext cx="3962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需要覆盖 agent 诱导出的整条 dialogue trajectory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66ED7B-38BB-46C0-BDFF-10F509075CB7}"/>
              </a:ext>
            </a:extLst>
          </p:cNvPr>
          <p:cNvSpPr>
            <a:spLocks noGrp="1"/>
          </p:cNvSpPr>
          <p:nvPr/>
        </p:nvSpPr>
        <p:spPr>
          <a:xfrm>
            <a:off x="1066800" y="2952750"/>
            <a:ext cx="57150" cy="57150"/>
          </a:xfrm>
          <a:prstGeom prst="rect">
            <a:avLst/>
          </a:prstGeom>
          <a:solidFill>
            <a:srgbClr val="B65D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3F85A8-D95F-4BC9-9959-288C5E08FF93}"/>
              </a:ext>
            </a:extLst>
          </p:cNvPr>
          <p:cNvSpPr>
            <a:spLocks noGrp="1"/>
          </p:cNvSpPr>
          <p:nvPr/>
        </p:nvSpPr>
        <p:spPr>
          <a:xfrm>
            <a:off x="1200150" y="2876550"/>
            <a:ext cx="3962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历史数据只覆盖 human clinician trajectory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1B6A45-3798-4EFD-A456-82329794CD1F}"/>
              </a:ext>
            </a:extLst>
          </p:cNvPr>
          <p:cNvSpPr>
            <a:spLocks noGrp="1"/>
          </p:cNvSpPr>
          <p:nvPr/>
        </p:nvSpPr>
        <p:spPr>
          <a:xfrm>
            <a:off x="1066800" y="3467100"/>
            <a:ext cx="57150" cy="57150"/>
          </a:xfrm>
          <a:prstGeom prst="rect">
            <a:avLst/>
          </a:prstGeom>
          <a:solidFill>
            <a:srgbClr val="B65D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4215CC-58FB-4C19-B442-7B16D247BE5F}"/>
              </a:ext>
            </a:extLst>
          </p:cNvPr>
          <p:cNvSpPr>
            <a:spLocks noGrp="1"/>
          </p:cNvSpPr>
          <p:nvPr/>
        </p:nvSpPr>
        <p:spPr>
          <a:xfrm>
            <a:off x="1200150" y="3390900"/>
            <a:ext cx="3962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state-action support 很快变稀疏，OPE 方差/偏差失控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4DDDC0-58F0-4D87-8527-DF6091BDD4C3}"/>
              </a:ext>
            </a:extLst>
          </p:cNvPr>
          <p:cNvSpPr>
            <a:spLocks noGrp="1"/>
          </p:cNvSpPr>
          <p:nvPr/>
        </p:nvSpPr>
        <p:spPr>
          <a:xfrm>
            <a:off x="1066800" y="4038600"/>
            <a:ext cx="57150" cy="57150"/>
          </a:xfrm>
          <a:prstGeom prst="rect">
            <a:avLst/>
          </a:prstGeom>
          <a:solidFill>
            <a:srgbClr val="B65D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2A7CE4-014F-469C-9E4E-BF2B6510F942}"/>
              </a:ext>
            </a:extLst>
          </p:cNvPr>
          <p:cNvSpPr>
            <a:spLocks noGrp="1"/>
          </p:cNvSpPr>
          <p:nvPr/>
        </p:nvSpPr>
        <p:spPr>
          <a:xfrm>
            <a:off x="1200150" y="3962400"/>
            <a:ext cx="3962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time zero 和 outcome 更难落地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6582DF2-871A-424A-84AC-1F55A765FE06}"/>
              </a:ext>
            </a:extLst>
          </p:cNvPr>
          <p:cNvSpPr>
            <a:spLocks noGrp="1"/>
          </p:cNvSpPr>
          <p:nvPr/>
        </p:nvSpPr>
        <p:spPr>
          <a:xfrm>
            <a:off x="6572250" y="1619250"/>
            <a:ext cx="4095750" cy="3048000"/>
          </a:xfrm>
          <a:prstGeom prst="rect">
            <a:avLst/>
          </a:prstGeom>
          <a:solidFill>
            <a:srgbClr val="F2FBF5"/>
          </a:solidFill>
          <a:ln w="9525">
            <a:solidFill>
              <a:srgbClr val="2F7D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8F27F1-875F-4A86-9749-CB48642A6C72}"/>
              </a:ext>
            </a:extLst>
          </p:cNvPr>
          <p:cNvSpPr>
            <a:spLocks noGrp="1"/>
          </p:cNvSpPr>
          <p:nvPr/>
        </p:nvSpPr>
        <p:spPr>
          <a:xfrm>
            <a:off x="6858000" y="1885950"/>
            <a:ext cx="3333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F7D6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F7D62"/>
                </a:solidFill>
                <a:latin typeface="PingFang SC"/>
                <a:ea typeface="PingFang SC"/>
                <a:cs typeface="PingFang SC"/>
              </a:rPr>
              <a:t>Final-output replacement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02669D4-8424-4656-8B13-19FE1D643C2A}"/>
              </a:ext>
            </a:extLst>
          </p:cNvPr>
          <p:cNvSpPr>
            <a:spLocks noGrp="1"/>
          </p:cNvSpPr>
          <p:nvPr/>
        </p:nvSpPr>
        <p:spPr>
          <a:xfrm>
            <a:off x="6877050" y="2438400"/>
            <a:ext cx="57150" cy="57150"/>
          </a:xfrm>
          <a:prstGeom prst="rect">
            <a:avLst/>
          </a:prstGeom>
          <a:solidFill>
            <a:srgbClr val="2F7D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272AE3E-7A33-4A50-B107-58B207BDE1EA}"/>
              </a:ext>
            </a:extLst>
          </p:cNvPr>
          <p:cNvSpPr>
            <a:spLocks noGrp="1"/>
          </p:cNvSpPr>
          <p:nvPr/>
        </p:nvSpPr>
        <p:spPr>
          <a:xfrm>
            <a:off x="7010400" y="2362200"/>
            <a:ext cx="3105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同一个 X 池子上比较 clinician vs agent final output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F44D10-E308-4D21-B004-CD7CDB20E7F2}"/>
              </a:ext>
            </a:extLst>
          </p:cNvPr>
          <p:cNvSpPr>
            <a:spLocks noGrp="1"/>
          </p:cNvSpPr>
          <p:nvPr/>
        </p:nvSpPr>
        <p:spPr>
          <a:xfrm>
            <a:off x="6877050" y="2952750"/>
            <a:ext cx="57150" cy="57150"/>
          </a:xfrm>
          <a:prstGeom prst="rect">
            <a:avLst/>
          </a:prstGeom>
          <a:solidFill>
            <a:srgbClr val="2F7D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0AEBDF3-6CD6-4D3D-80BA-C7D05775109A}"/>
              </a:ext>
            </a:extLst>
          </p:cNvPr>
          <p:cNvSpPr>
            <a:spLocks noGrp="1"/>
          </p:cNvSpPr>
          <p:nvPr/>
        </p:nvSpPr>
        <p:spPr>
          <a:xfrm>
            <a:off x="7010400" y="2876550"/>
            <a:ext cx="3105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action 仍然是 free-form clinical language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24439AB-7440-4529-806C-4A5C3B4C4380}"/>
              </a:ext>
            </a:extLst>
          </p:cNvPr>
          <p:cNvSpPr>
            <a:spLocks noGrp="1"/>
          </p:cNvSpPr>
          <p:nvPr/>
        </p:nvSpPr>
        <p:spPr>
          <a:xfrm>
            <a:off x="6877050" y="3467100"/>
            <a:ext cx="57150" cy="57150"/>
          </a:xfrm>
          <a:prstGeom prst="rect">
            <a:avLst/>
          </a:prstGeom>
          <a:solidFill>
            <a:srgbClr val="2F7D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324706E-B9E0-44AB-97D7-DC5D8A23CCF5}"/>
              </a:ext>
            </a:extLst>
          </p:cNvPr>
          <p:cNvSpPr>
            <a:spLocks noGrp="1"/>
          </p:cNvSpPr>
          <p:nvPr/>
        </p:nvSpPr>
        <p:spPr>
          <a:xfrm>
            <a:off x="7010400" y="3390900"/>
            <a:ext cx="3105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outcome 可以用统一 rubric 连续评分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9906664-7BD1-42B3-9965-CA030373E5C5}"/>
              </a:ext>
            </a:extLst>
          </p:cNvPr>
          <p:cNvSpPr>
            <a:spLocks noGrp="1"/>
          </p:cNvSpPr>
          <p:nvPr/>
        </p:nvSpPr>
        <p:spPr>
          <a:xfrm>
            <a:off x="6877050" y="3981450"/>
            <a:ext cx="57150" cy="57150"/>
          </a:xfrm>
          <a:prstGeom prst="rect">
            <a:avLst/>
          </a:prstGeom>
          <a:solidFill>
            <a:srgbClr val="2F7D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28A33D6-809C-4A04-A103-5560CBBBFFCA}"/>
              </a:ext>
            </a:extLst>
          </p:cNvPr>
          <p:cNvSpPr>
            <a:spLocks noGrp="1"/>
          </p:cNvSpPr>
          <p:nvPr/>
        </p:nvSpPr>
        <p:spPr>
          <a:xfrm>
            <a:off x="7010400" y="3905250"/>
            <a:ext cx="3105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自然连接到 MIPS / OffCEM 的 embedding-space OPE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27410C1-932F-4C1E-9825-7A38B9D28C1F}"/>
              </a:ext>
            </a:extLst>
          </p:cNvPr>
          <p:cNvSpPr>
            <a:spLocks noGrp="1"/>
          </p:cNvSpPr>
          <p:nvPr/>
        </p:nvSpPr>
        <p:spPr>
          <a:xfrm>
            <a:off x="904875" y="5095875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B65D3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65D3B"/>
                </a:solidFill>
                <a:latin typeface="PingFang SC"/>
                <a:ea typeface="PingFang SC"/>
                <a:cs typeface="PingFang SC"/>
              </a:rPr>
              <a:t>Tradeoff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E36F671-471C-4F02-A8FE-A1BBA75E2A33}"/>
              </a:ext>
            </a:extLst>
          </p:cNvPr>
          <p:cNvSpPr>
            <a:spLocks noGrp="1"/>
          </p:cNvSpPr>
          <p:nvPr/>
        </p:nvSpPr>
        <p:spPr>
          <a:xfrm>
            <a:off x="2333625" y="5095875"/>
            <a:ext cx="7620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牺牲了“完整对话策略”的范围，但换来可识别的 target trial、可构造的数据集、可运行的 Phase 3 ground truth。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30C8D3B-55EB-41C4-96D8-593DD9C40E6C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95413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9A13AC0E-815B-4102-9BBC-780063C5EF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38F267-D6E0-4DFD-BBC4-5C9C228C95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14E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EEC662-FBB6-41D5-8DEB-FC47F9D092D5}"/>
              </a:ext>
            </a:extLst>
          </p:cNvPr>
          <p:cNvSpPr>
            <a:spLocks noGrp="1"/>
          </p:cNvSpPr>
          <p:nvPr/>
        </p:nvSpPr>
        <p:spPr>
          <a:xfrm>
            <a:off x="552450" y="257175"/>
            <a:ext cx="95250" cy="95250"/>
          </a:xfrm>
          <a:prstGeom prst="rect">
            <a:avLst/>
          </a:prstGeom>
          <a:solidFill>
            <a:srgbClr val="B65D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61CFDE-C08C-47B8-A4D8-B12BF88662D0}"/>
              </a:ext>
            </a:extLst>
          </p:cNvPr>
          <p:cNvSpPr>
            <a:spLocks noGrp="1"/>
          </p:cNvSpPr>
          <p:nvPr/>
        </p:nvSpPr>
        <p:spPr>
          <a:xfrm>
            <a:off x="723900" y="228600"/>
            <a:ext cx="304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B65D3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B65D3B"/>
                </a:solidFill>
                <a:latin typeface="PingFang SC"/>
                <a:ea typeface="PingFang SC"/>
                <a:cs typeface="PingFang SC"/>
              </a:rPr>
              <a:t>PHASE 2 DESIGN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096501-B044-47D1-B540-5F3C08961334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03822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dirty="0" err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数据构建：把公开医患对话转成</a:t>
            </a:r>
            <a:r>
              <a:rPr sz="2250" b="1" dirty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 canonical logged-bandit 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CE65AB-493A-47D9-BE10-5A52F95CA574}"/>
              </a:ext>
            </a:extLst>
          </p:cNvPr>
          <p:cNvSpPr>
            <a:spLocks noGrp="1"/>
          </p:cNvSpPr>
          <p:nvPr/>
        </p:nvSpPr>
        <p:spPr>
          <a:xfrm>
            <a:off x="552450" y="1371600"/>
            <a:ext cx="11049000" cy="19050"/>
          </a:xfrm>
          <a:prstGeom prst="rect">
            <a:avLst/>
          </a:prstGeom>
          <a:solidFill>
            <a:srgbClr val="E7E1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CA2009-01CE-409A-9ECD-29BA76C3CAF8}"/>
              </a:ext>
            </a:extLst>
          </p:cNvPr>
          <p:cNvSpPr>
            <a:spLocks noGrp="1"/>
          </p:cNvSpPr>
          <p:nvPr/>
        </p:nvSpPr>
        <p:spPr>
          <a:xfrm>
            <a:off x="666750" y="1733550"/>
            <a:ext cx="2095500" cy="971550"/>
          </a:xfrm>
          <a:prstGeom prst="rect">
            <a:avLst/>
          </a:prstGeom>
          <a:solidFill>
            <a:srgbClr val="FFFFFF"/>
          </a:solidFill>
          <a:ln w="19050">
            <a:solidFill>
              <a:srgbClr val="214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ABCBCB-91E6-4CBB-A07D-18DB2C297851}"/>
              </a:ext>
            </a:extLst>
          </p:cNvPr>
          <p:cNvSpPr>
            <a:spLocks noGrp="1"/>
          </p:cNvSpPr>
          <p:nvPr/>
        </p:nvSpPr>
        <p:spPr>
          <a:xfrm>
            <a:off x="819150" y="1866900"/>
            <a:ext cx="1790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14E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14E7A"/>
                </a:solidFill>
                <a:latin typeface="PingFang SC"/>
                <a:ea typeface="PingFang SC"/>
                <a:cs typeface="PingFang SC"/>
              </a:rPr>
              <a:t>Raw public 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0A438A-4AF7-4B7E-8816-2D3E4F8E0856}"/>
              </a:ext>
            </a:extLst>
          </p:cNvPr>
          <p:cNvSpPr>
            <a:spLocks noGrp="1"/>
          </p:cNvSpPr>
          <p:nvPr/>
        </p:nvSpPr>
        <p:spPr>
          <a:xfrm>
            <a:off x="819150" y="2133600"/>
            <a:ext cx="17907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70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ACI-Bench / MTS-Dialog / PriMock57；MedDialog 仅 auxiliary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B0E291-3780-4B8C-BC7D-935CD17DC1D1}"/>
              </a:ext>
            </a:extLst>
          </p:cNvPr>
          <p:cNvSpPr>
            <a:spLocks noGrp="1"/>
          </p:cNvSpPr>
          <p:nvPr/>
        </p:nvSpPr>
        <p:spPr>
          <a:xfrm>
            <a:off x="2905125" y="2247900"/>
            <a:ext cx="552450" cy="28575"/>
          </a:xfrm>
          <a:prstGeom prst="rect">
            <a:avLst/>
          </a:prstGeom>
          <a:solidFill>
            <a:srgbClr val="D8D0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3DDE60-F3F9-471D-8515-FDDB4A327ADD}"/>
              </a:ext>
            </a:extLst>
          </p:cNvPr>
          <p:cNvSpPr>
            <a:spLocks noGrp="1"/>
          </p:cNvSpPr>
          <p:nvPr/>
        </p:nvSpPr>
        <p:spPr>
          <a:xfrm>
            <a:off x="3381375" y="2124075"/>
            <a:ext cx="247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D8D0C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D8D0C0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49BE45-ED2F-4EE1-8C52-81E7BE4F76DC}"/>
              </a:ext>
            </a:extLst>
          </p:cNvPr>
          <p:cNvSpPr>
            <a:spLocks noGrp="1"/>
          </p:cNvSpPr>
          <p:nvPr/>
        </p:nvSpPr>
        <p:spPr>
          <a:xfrm>
            <a:off x="3619500" y="1733550"/>
            <a:ext cx="2095500" cy="971550"/>
          </a:xfrm>
          <a:prstGeom prst="rect">
            <a:avLst/>
          </a:prstGeom>
          <a:solidFill>
            <a:srgbClr val="FFFFFF"/>
          </a:solidFill>
          <a:ln w="19050">
            <a:solidFill>
              <a:srgbClr val="2F7D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D0E6AF-F036-49B5-97BC-67E110822C0D}"/>
              </a:ext>
            </a:extLst>
          </p:cNvPr>
          <p:cNvSpPr>
            <a:spLocks noGrp="1"/>
          </p:cNvSpPr>
          <p:nvPr/>
        </p:nvSpPr>
        <p:spPr>
          <a:xfrm>
            <a:off x="3771900" y="1866900"/>
            <a:ext cx="1790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F7D62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F7D62"/>
                </a:solidFill>
                <a:latin typeface="PingFang SC"/>
                <a:ea typeface="PingFang SC"/>
                <a:cs typeface="PingFang SC"/>
              </a:rPr>
              <a:t>Adapter parsing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481671F-301F-4546-AD23-A3DD0BA68839}"/>
              </a:ext>
            </a:extLst>
          </p:cNvPr>
          <p:cNvSpPr>
            <a:spLocks noGrp="1"/>
          </p:cNvSpPr>
          <p:nvPr/>
        </p:nvSpPr>
        <p:spPr>
          <a:xfrm>
            <a:off x="3771900" y="2133600"/>
            <a:ext cx="17907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70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按 source 规则解析 dialogue、note、section header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BD0567-CD04-4528-8D44-D164130A185C}"/>
              </a:ext>
            </a:extLst>
          </p:cNvPr>
          <p:cNvSpPr>
            <a:spLocks noGrp="1"/>
          </p:cNvSpPr>
          <p:nvPr/>
        </p:nvSpPr>
        <p:spPr>
          <a:xfrm>
            <a:off x="5857875" y="2247900"/>
            <a:ext cx="552450" cy="28575"/>
          </a:xfrm>
          <a:prstGeom prst="rect">
            <a:avLst/>
          </a:prstGeom>
          <a:solidFill>
            <a:srgbClr val="D8D0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6FEEA7-42C0-4F84-A81B-8371CF65084D}"/>
              </a:ext>
            </a:extLst>
          </p:cNvPr>
          <p:cNvSpPr>
            <a:spLocks noGrp="1"/>
          </p:cNvSpPr>
          <p:nvPr/>
        </p:nvSpPr>
        <p:spPr>
          <a:xfrm>
            <a:off x="6334125" y="2124075"/>
            <a:ext cx="247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D8D0C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D8D0C0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E66559-CED2-48C2-882D-4DC4983D36BE}"/>
              </a:ext>
            </a:extLst>
          </p:cNvPr>
          <p:cNvSpPr>
            <a:spLocks noGrp="1"/>
          </p:cNvSpPr>
          <p:nvPr/>
        </p:nvSpPr>
        <p:spPr>
          <a:xfrm>
            <a:off x="6572250" y="1733550"/>
            <a:ext cx="2095500" cy="971550"/>
          </a:xfrm>
          <a:prstGeom prst="rect">
            <a:avLst/>
          </a:prstGeom>
          <a:solidFill>
            <a:srgbClr val="FFFFFF"/>
          </a:solidFill>
          <a:ln w="19050">
            <a:solidFill>
              <a:srgbClr val="B65D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15EE19-59DC-49F6-B7A6-B624E826A478}"/>
              </a:ext>
            </a:extLst>
          </p:cNvPr>
          <p:cNvSpPr>
            <a:spLocks noGrp="1"/>
          </p:cNvSpPr>
          <p:nvPr/>
        </p:nvSpPr>
        <p:spPr>
          <a:xfrm>
            <a:off x="6724650" y="1866900"/>
            <a:ext cx="1790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B65D3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B65D3B"/>
                </a:solidFill>
                <a:latin typeface="PingFang SC"/>
                <a:ea typeface="PingFang SC"/>
                <a:cs typeface="PingFang SC"/>
              </a:rPr>
              <a:t>Leakage control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F1F3F0-DE6F-4013-8C1A-9FE62D143533}"/>
              </a:ext>
            </a:extLst>
          </p:cNvPr>
          <p:cNvSpPr>
            <a:spLocks noGrp="1"/>
          </p:cNvSpPr>
          <p:nvPr/>
        </p:nvSpPr>
        <p:spPr>
          <a:xfrm>
            <a:off x="6724650" y="2133600"/>
            <a:ext cx="17907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70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X 只保留 decision 前信息；A 从 assessment/plan 抽取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2454D88-F87A-4023-8115-47A6EB440DC0}"/>
              </a:ext>
            </a:extLst>
          </p:cNvPr>
          <p:cNvSpPr>
            <a:spLocks noGrp="1"/>
          </p:cNvSpPr>
          <p:nvPr/>
        </p:nvSpPr>
        <p:spPr>
          <a:xfrm>
            <a:off x="8810625" y="2247900"/>
            <a:ext cx="552450" cy="28575"/>
          </a:xfrm>
          <a:prstGeom prst="rect">
            <a:avLst/>
          </a:prstGeom>
          <a:solidFill>
            <a:srgbClr val="D8D0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0CF598-DDCC-4918-82DB-2AEB9390B1D0}"/>
              </a:ext>
            </a:extLst>
          </p:cNvPr>
          <p:cNvSpPr>
            <a:spLocks noGrp="1"/>
          </p:cNvSpPr>
          <p:nvPr/>
        </p:nvSpPr>
        <p:spPr>
          <a:xfrm>
            <a:off x="9286875" y="2124075"/>
            <a:ext cx="247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D8D0C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D8D0C0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D28BB60-6865-4582-B095-C0557FC8E35A}"/>
              </a:ext>
            </a:extLst>
          </p:cNvPr>
          <p:cNvSpPr>
            <a:spLocks noGrp="1"/>
          </p:cNvSpPr>
          <p:nvPr/>
        </p:nvSpPr>
        <p:spPr>
          <a:xfrm>
            <a:off x="9525000" y="1733550"/>
            <a:ext cx="2095500" cy="971550"/>
          </a:xfrm>
          <a:prstGeom prst="rect">
            <a:avLst/>
          </a:prstGeom>
          <a:solidFill>
            <a:srgbClr val="FFFFFF"/>
          </a:solidFill>
          <a:ln w="19050">
            <a:solidFill>
              <a:srgbClr val="C99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A232132-669A-4DCC-9DFD-8E440A72124E}"/>
              </a:ext>
            </a:extLst>
          </p:cNvPr>
          <p:cNvSpPr>
            <a:spLocks noGrp="1"/>
          </p:cNvSpPr>
          <p:nvPr/>
        </p:nvSpPr>
        <p:spPr>
          <a:xfrm>
            <a:off x="9677400" y="1866900"/>
            <a:ext cx="1790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C9942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9942E"/>
                </a:solidFill>
                <a:latin typeface="PingFang SC"/>
                <a:ea typeface="PingFang SC"/>
                <a:cs typeface="PingFang SC"/>
              </a:rPr>
              <a:t>Canonical 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9CAD1B1-4219-46ED-9126-51C7C17F089C}"/>
              </a:ext>
            </a:extLst>
          </p:cNvPr>
          <p:cNvSpPr>
            <a:spLocks noGrp="1"/>
          </p:cNvSpPr>
          <p:nvPr/>
        </p:nvSpPr>
        <p:spPr>
          <a:xfrm>
            <a:off x="9677400" y="2133600"/>
            <a:ext cx="17907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70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example_id, X, A_clinician, y_score, metadata, inclusion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32DB523-1774-4681-A5C8-F9A5D7476DF8}"/>
              </a:ext>
            </a:extLst>
          </p:cNvPr>
          <p:cNvSpPr>
            <a:spLocks noGrp="1"/>
          </p:cNvSpPr>
          <p:nvPr/>
        </p:nvSpPr>
        <p:spPr>
          <a:xfrm>
            <a:off x="857250" y="3571875"/>
            <a:ext cx="98107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E7E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CD7D9F1-38A0-4189-9210-EDE735B536CC}"/>
              </a:ext>
            </a:extLst>
          </p:cNvPr>
          <p:cNvSpPr>
            <a:spLocks noGrp="1"/>
          </p:cNvSpPr>
          <p:nvPr/>
        </p:nvSpPr>
        <p:spPr>
          <a:xfrm>
            <a:off x="1123950" y="3829050"/>
            <a:ext cx="4375298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214E7A"/>
                </a:solidFill>
                <a:latin typeface="Menlo"/>
                <a:ea typeface="Menlo"/>
                <a:cs typeface="Menlo"/>
              </a:defRPr>
            </a:pPr>
            <a:r>
              <a:rPr sz="1875" b="1" dirty="0">
                <a:solidFill>
                  <a:srgbClr val="214E7A"/>
                </a:solidFill>
                <a:latin typeface="Menlo"/>
                <a:ea typeface="Menlo"/>
                <a:cs typeface="Menlo"/>
              </a:rPr>
              <a:t>D = {(</a:t>
            </a:r>
            <a:r>
              <a:rPr sz="1875" b="1" dirty="0" err="1">
                <a:solidFill>
                  <a:srgbClr val="214E7A"/>
                </a:solidFill>
                <a:latin typeface="Menlo"/>
                <a:ea typeface="Menlo"/>
                <a:cs typeface="Menlo"/>
              </a:rPr>
              <a:t>X_i</a:t>
            </a:r>
            <a:r>
              <a:rPr sz="1875" b="1" dirty="0">
                <a:solidFill>
                  <a:srgbClr val="214E7A"/>
                </a:solidFill>
                <a:latin typeface="Menlo"/>
                <a:ea typeface="Menlo"/>
                <a:cs typeface="Menlo"/>
              </a:rPr>
              <a:t>, </a:t>
            </a:r>
            <a:r>
              <a:rPr sz="1875" b="1" dirty="0" err="1">
                <a:solidFill>
                  <a:srgbClr val="214E7A"/>
                </a:solidFill>
                <a:latin typeface="Menlo"/>
                <a:ea typeface="Menlo"/>
                <a:cs typeface="Menlo"/>
              </a:rPr>
              <a:t>A_i^b</a:t>
            </a:r>
            <a:r>
              <a:rPr sz="1875" b="1" dirty="0">
                <a:solidFill>
                  <a:srgbClr val="214E7A"/>
                </a:solidFill>
                <a:latin typeface="Menlo"/>
                <a:ea typeface="Menlo"/>
                <a:cs typeface="Menlo"/>
              </a:rPr>
              <a:t>, </a:t>
            </a:r>
            <a:r>
              <a:rPr sz="1875" b="1" dirty="0" err="1">
                <a:solidFill>
                  <a:srgbClr val="214E7A"/>
                </a:solidFill>
                <a:latin typeface="Menlo"/>
                <a:ea typeface="Menlo"/>
                <a:cs typeface="Menlo"/>
              </a:rPr>
              <a:t>E_i</a:t>
            </a:r>
            <a:r>
              <a:rPr sz="1875" b="1" dirty="0">
                <a:solidFill>
                  <a:srgbClr val="214E7A"/>
                </a:solidFill>
                <a:latin typeface="Menlo"/>
                <a:ea typeface="Menlo"/>
                <a:cs typeface="Menlo"/>
              </a:rPr>
              <a:t>, </a:t>
            </a:r>
            <a:r>
              <a:rPr sz="1875" b="1" dirty="0" err="1">
                <a:solidFill>
                  <a:srgbClr val="214E7A"/>
                </a:solidFill>
                <a:latin typeface="Menlo"/>
                <a:ea typeface="Menlo"/>
                <a:cs typeface="Menlo"/>
              </a:rPr>
              <a:t>Y_i</a:t>
            </a:r>
            <a:r>
              <a:rPr sz="1875" b="1" dirty="0">
                <a:solidFill>
                  <a:srgbClr val="214E7A"/>
                </a:solidFill>
                <a:latin typeface="Menlo"/>
                <a:ea typeface="Menlo"/>
                <a:cs typeface="Menlo"/>
              </a:rPr>
              <a:t>)}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8C0E56A-0ECC-45E8-A93E-9C6381F494D5}"/>
              </a:ext>
            </a:extLst>
          </p:cNvPr>
          <p:cNvSpPr>
            <a:spLocks noGrp="1"/>
          </p:cNvSpPr>
          <p:nvPr/>
        </p:nvSpPr>
        <p:spPr>
          <a:xfrm>
            <a:off x="5975498" y="3829050"/>
            <a:ext cx="4216252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dirty="0" err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E_i</a:t>
            </a:r>
            <a:r>
              <a:rPr sz="1200" b="0" dirty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b="0" dirty="0" err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先保留为空位，等</a:t>
            </a:r>
            <a:r>
              <a:rPr sz="1200" b="0" dirty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 Phase 4/5 </a:t>
            </a:r>
            <a:r>
              <a:rPr sz="1200" b="0" dirty="0" err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再用</a:t>
            </a:r>
            <a:r>
              <a:rPr sz="1200" b="0" dirty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 embedding / cluster </a:t>
            </a:r>
            <a:r>
              <a:rPr sz="1200" b="0" dirty="0" err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填充；Y_i</a:t>
            </a:r>
            <a:r>
              <a:rPr sz="1200" b="0" dirty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200" b="0" dirty="0" err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在</a:t>
            </a:r>
            <a:r>
              <a:rPr sz="1200" b="0" dirty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 Phase 3 </a:t>
            </a:r>
            <a:r>
              <a:rPr sz="1200" b="0" dirty="0" err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由</a:t>
            </a:r>
            <a:r>
              <a:rPr sz="1200" b="0" dirty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 rubric judge </a:t>
            </a:r>
            <a:r>
              <a:rPr sz="1200" b="0" dirty="0" err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统一赋值</a:t>
            </a:r>
            <a:r>
              <a:rPr sz="1200" b="0" dirty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7883663-D302-4D65-B225-8CB5DDD7B911}"/>
              </a:ext>
            </a:extLst>
          </p:cNvPr>
          <p:cNvSpPr>
            <a:spLocks noGrp="1"/>
          </p:cNvSpPr>
          <p:nvPr/>
        </p:nvSpPr>
        <p:spPr>
          <a:xfrm>
            <a:off x="895350" y="5095875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B65D3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dirty="0" err="1">
                <a:solidFill>
                  <a:srgbClr val="B65D3B"/>
                </a:solidFill>
                <a:latin typeface="PingFang SC"/>
                <a:ea typeface="PingFang SC"/>
                <a:cs typeface="PingFang SC"/>
              </a:rPr>
              <a:t>设计</a:t>
            </a:r>
            <a:r>
              <a:rPr lang="en-US" sz="1200" b="1" dirty="0" err="1">
                <a:solidFill>
                  <a:srgbClr val="B65D3B"/>
                </a:solidFill>
                <a:latin typeface="PingFang SC"/>
                <a:ea typeface="PingFang SC"/>
                <a:cs typeface="PingFang SC"/>
              </a:rPr>
              <a:t>原因</a:t>
            </a:r>
            <a:endParaRPr sz="1200" b="1" dirty="0">
              <a:solidFill>
                <a:srgbClr val="B65D3B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A05CE63-B2F9-4A08-A243-6D7C432FC35A}"/>
              </a:ext>
            </a:extLst>
          </p:cNvPr>
          <p:cNvSpPr>
            <a:spLocks noGrp="1"/>
          </p:cNvSpPr>
          <p:nvPr/>
        </p:nvSpPr>
        <p:spPr>
          <a:xfrm>
            <a:off x="2714625" y="5095875"/>
            <a:ext cx="8048625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公开数据集本来是 note summarization / dialogue dataset，不是 causal OPE 数据；所以必须记录 extraction_method、inclusion_status 和 exclusion_reasons，保证每一行能回溯。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8F1B055-2B57-494D-8221-7170327E4337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7806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66E430B0-41F1-4656-A3E5-8C0B4B45CAD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7CEB10-A193-4DCC-AAC5-3C8B5AFC7A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14E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745AF2-8660-4735-AF93-83A0EC8D1A85}"/>
              </a:ext>
            </a:extLst>
          </p:cNvPr>
          <p:cNvSpPr>
            <a:spLocks noGrp="1"/>
          </p:cNvSpPr>
          <p:nvPr/>
        </p:nvSpPr>
        <p:spPr>
          <a:xfrm>
            <a:off x="552450" y="257175"/>
            <a:ext cx="95250" cy="95250"/>
          </a:xfrm>
          <a:prstGeom prst="rect">
            <a:avLst/>
          </a:prstGeom>
          <a:solidFill>
            <a:srgbClr val="B65D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CA0289-5AB3-42D3-A7CB-B978551AA987}"/>
              </a:ext>
            </a:extLst>
          </p:cNvPr>
          <p:cNvSpPr>
            <a:spLocks noGrp="1"/>
          </p:cNvSpPr>
          <p:nvPr/>
        </p:nvSpPr>
        <p:spPr>
          <a:xfrm>
            <a:off x="723900" y="228600"/>
            <a:ext cx="304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B65D3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B65D3B"/>
                </a:solidFill>
                <a:latin typeface="PingFang SC"/>
                <a:ea typeface="PingFang SC"/>
                <a:cs typeface="PingFang SC"/>
              </a:rPr>
              <a:t>DATA SOURCE CHOICES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FA7CB3-C543-41D7-AD1A-F7135A443295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03822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数据源选择围绕一个原则：能否定义 X 和 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5C730A-3555-46A3-89E8-93932BCC64C5}"/>
              </a:ext>
            </a:extLst>
          </p:cNvPr>
          <p:cNvSpPr>
            <a:spLocks noGrp="1"/>
          </p:cNvSpPr>
          <p:nvPr/>
        </p:nvSpPr>
        <p:spPr>
          <a:xfrm>
            <a:off x="571500" y="1057275"/>
            <a:ext cx="990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可用规模不是唯一标准；能否构造 clinician final action 更关键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27BB6E-9B29-4235-9ECB-0EF3CD7DBAD9}"/>
              </a:ext>
            </a:extLst>
          </p:cNvPr>
          <p:cNvSpPr>
            <a:spLocks noGrp="1"/>
          </p:cNvSpPr>
          <p:nvPr/>
        </p:nvSpPr>
        <p:spPr>
          <a:xfrm>
            <a:off x="552450" y="1371600"/>
            <a:ext cx="11049000" cy="19050"/>
          </a:xfrm>
          <a:prstGeom prst="rect">
            <a:avLst/>
          </a:prstGeom>
          <a:solidFill>
            <a:srgbClr val="E7E1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BC4DD0-2D0D-4AD8-89C8-373620F4669F}"/>
              </a:ext>
            </a:extLst>
          </p:cNvPr>
          <p:cNvSpPr>
            <a:spLocks noGrp="1"/>
          </p:cNvSpPr>
          <p:nvPr/>
        </p:nvSpPr>
        <p:spPr>
          <a:xfrm>
            <a:off x="781050" y="1600200"/>
            <a:ext cx="9906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7E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02D9C2-3AEF-4C01-9189-58194184286B}"/>
              </a:ext>
            </a:extLst>
          </p:cNvPr>
          <p:cNvSpPr>
            <a:spLocks noGrp="1"/>
          </p:cNvSpPr>
          <p:nvPr/>
        </p:nvSpPr>
        <p:spPr>
          <a:xfrm>
            <a:off x="1000125" y="1724025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14E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14E7A"/>
                </a:solidFill>
                <a:latin typeface="PingFang SC"/>
                <a:ea typeface="PingFang SC"/>
                <a:cs typeface="PingFang SC"/>
              </a:rPr>
              <a:t>ACI-Bench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BE6A8E-EBD2-4D97-A066-2A778410EDC1}"/>
              </a:ext>
            </a:extLst>
          </p:cNvPr>
          <p:cNvSpPr>
            <a:spLocks noGrp="1"/>
          </p:cNvSpPr>
          <p:nvPr/>
        </p:nvSpPr>
        <p:spPr>
          <a:xfrm>
            <a:off x="2857500" y="1752600"/>
            <a:ext cx="1428750" cy="219075"/>
          </a:xfrm>
          <a:prstGeom prst="rect">
            <a:avLst/>
          </a:prstGeom>
          <a:solidFill>
            <a:srgbClr val="214E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98CA1D-EFC7-4E1D-9DF0-BCFF017723D8}"/>
              </a:ext>
            </a:extLst>
          </p:cNvPr>
          <p:cNvSpPr>
            <a:spLocks noGrp="1"/>
          </p:cNvSpPr>
          <p:nvPr/>
        </p:nvSpPr>
        <p:spPr>
          <a:xfrm>
            <a:off x="2933700" y="1800225"/>
            <a:ext cx="12763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3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3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Primary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960869-39C6-450A-8F12-6CB4877486F7}"/>
              </a:ext>
            </a:extLst>
          </p:cNvPr>
          <p:cNvSpPr>
            <a:spLocks noGrp="1"/>
          </p:cNvSpPr>
          <p:nvPr/>
        </p:nvSpPr>
        <p:spPr>
          <a:xfrm>
            <a:off x="4572000" y="1724025"/>
            <a:ext cx="571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完整 encounter + clinical note；最贴近 final-output replacement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EF4FC5-8D02-4E79-AEF3-898CCDB1CED5}"/>
              </a:ext>
            </a:extLst>
          </p:cNvPr>
          <p:cNvSpPr>
            <a:spLocks noGrp="1"/>
          </p:cNvSpPr>
          <p:nvPr/>
        </p:nvSpPr>
        <p:spPr>
          <a:xfrm>
            <a:off x="781050" y="2286000"/>
            <a:ext cx="9906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7E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C0F10D-6004-4BA4-AD95-56481DCDF463}"/>
              </a:ext>
            </a:extLst>
          </p:cNvPr>
          <p:cNvSpPr>
            <a:spLocks noGrp="1"/>
          </p:cNvSpPr>
          <p:nvPr/>
        </p:nvSpPr>
        <p:spPr>
          <a:xfrm>
            <a:off x="1000125" y="2409825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F7D6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F7D62"/>
                </a:solidFill>
                <a:latin typeface="PingFang SC"/>
                <a:ea typeface="PingFang SC"/>
                <a:cs typeface="PingFang SC"/>
              </a:rPr>
              <a:t>MTS-Dialog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5C1A5F-2FBB-4B34-951E-231C253F848E}"/>
              </a:ext>
            </a:extLst>
          </p:cNvPr>
          <p:cNvSpPr>
            <a:spLocks noGrp="1"/>
          </p:cNvSpPr>
          <p:nvPr/>
        </p:nvSpPr>
        <p:spPr>
          <a:xfrm>
            <a:off x="2857500" y="2438400"/>
            <a:ext cx="1428750" cy="219075"/>
          </a:xfrm>
          <a:prstGeom prst="rect">
            <a:avLst/>
          </a:prstGeom>
          <a:solidFill>
            <a:srgbClr val="2F7D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1154A1-3A19-40CC-B9EB-F9E4F5906788}"/>
              </a:ext>
            </a:extLst>
          </p:cNvPr>
          <p:cNvSpPr>
            <a:spLocks noGrp="1"/>
          </p:cNvSpPr>
          <p:nvPr/>
        </p:nvSpPr>
        <p:spPr>
          <a:xfrm>
            <a:off x="2933700" y="2486025"/>
            <a:ext cx="12763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3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3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Primary / scale-up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338A3B-F09A-4C9A-B60C-81029DC631FC}"/>
              </a:ext>
            </a:extLst>
          </p:cNvPr>
          <p:cNvSpPr>
            <a:spLocks noGrp="1"/>
          </p:cNvSpPr>
          <p:nvPr/>
        </p:nvSpPr>
        <p:spPr>
          <a:xfrm>
            <a:off x="4572000" y="2409825"/>
            <a:ext cx="571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dialogue-note snippet；section header 适合 action-section filtering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5889E4-FA2F-41CE-A2B2-93EE55C1BD14}"/>
              </a:ext>
            </a:extLst>
          </p:cNvPr>
          <p:cNvSpPr>
            <a:spLocks noGrp="1"/>
          </p:cNvSpPr>
          <p:nvPr/>
        </p:nvSpPr>
        <p:spPr>
          <a:xfrm>
            <a:off x="781050" y="2971800"/>
            <a:ext cx="9906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7E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E949D27-6B6B-4985-976E-D7F389DC7962}"/>
              </a:ext>
            </a:extLst>
          </p:cNvPr>
          <p:cNvSpPr>
            <a:spLocks noGrp="1"/>
          </p:cNvSpPr>
          <p:nvPr/>
        </p:nvSpPr>
        <p:spPr>
          <a:xfrm>
            <a:off x="1000125" y="3095625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C994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C9942E"/>
                </a:solidFill>
                <a:latin typeface="PingFang SC"/>
                <a:ea typeface="PingFang SC"/>
                <a:cs typeface="PingFang SC"/>
              </a:rPr>
              <a:t>PriMock57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92249D-D021-46CC-BB94-0A187F47835D}"/>
              </a:ext>
            </a:extLst>
          </p:cNvPr>
          <p:cNvSpPr>
            <a:spLocks noGrp="1"/>
          </p:cNvSpPr>
          <p:nvPr/>
        </p:nvSpPr>
        <p:spPr>
          <a:xfrm>
            <a:off x="2857500" y="3124200"/>
            <a:ext cx="1428750" cy="219075"/>
          </a:xfrm>
          <a:prstGeom prst="rect">
            <a:avLst/>
          </a:prstGeom>
          <a:solidFill>
            <a:srgbClr val="C994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B0C0ECD-6A13-4600-A56A-7F0A5F043CA1}"/>
              </a:ext>
            </a:extLst>
          </p:cNvPr>
          <p:cNvSpPr>
            <a:spLocks noGrp="1"/>
          </p:cNvSpPr>
          <p:nvPr/>
        </p:nvSpPr>
        <p:spPr>
          <a:xfrm>
            <a:off x="2933700" y="3171825"/>
            <a:ext cx="12763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3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3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Smoke test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AC65892-21C0-4E66-8C39-7C0E173A1785}"/>
              </a:ext>
            </a:extLst>
          </p:cNvPr>
          <p:cNvSpPr>
            <a:spLocks noGrp="1"/>
          </p:cNvSpPr>
          <p:nvPr/>
        </p:nvSpPr>
        <p:spPr>
          <a:xfrm>
            <a:off x="4572000" y="3095625"/>
            <a:ext cx="571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小而干净，有 transcripts + notes；适合 parser sanity check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071D574-09FA-46F6-906A-279001613980}"/>
              </a:ext>
            </a:extLst>
          </p:cNvPr>
          <p:cNvSpPr>
            <a:spLocks noGrp="1"/>
          </p:cNvSpPr>
          <p:nvPr/>
        </p:nvSpPr>
        <p:spPr>
          <a:xfrm>
            <a:off x="781050" y="3657600"/>
            <a:ext cx="9906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7E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CA5CEA6-3D42-472C-AB62-754F79290041}"/>
              </a:ext>
            </a:extLst>
          </p:cNvPr>
          <p:cNvSpPr>
            <a:spLocks noGrp="1"/>
          </p:cNvSpPr>
          <p:nvPr/>
        </p:nvSpPr>
        <p:spPr>
          <a:xfrm>
            <a:off x="1000125" y="3781425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B65D3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65D3B"/>
                </a:solidFill>
                <a:latin typeface="PingFang SC"/>
                <a:ea typeface="PingFang SC"/>
                <a:cs typeface="PingFang SC"/>
              </a:rPr>
              <a:t>MedDialog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C22AD0-F404-4E04-A9EC-5D0C0441FD92}"/>
              </a:ext>
            </a:extLst>
          </p:cNvPr>
          <p:cNvSpPr>
            <a:spLocks noGrp="1"/>
          </p:cNvSpPr>
          <p:nvPr/>
        </p:nvSpPr>
        <p:spPr>
          <a:xfrm>
            <a:off x="2857500" y="3810000"/>
            <a:ext cx="1428750" cy="219075"/>
          </a:xfrm>
          <a:prstGeom prst="rect">
            <a:avLst/>
          </a:prstGeom>
          <a:solidFill>
            <a:srgbClr val="B65D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49A1ACE-1285-4659-901A-69D8AE492D99}"/>
              </a:ext>
            </a:extLst>
          </p:cNvPr>
          <p:cNvSpPr>
            <a:spLocks noGrp="1"/>
          </p:cNvSpPr>
          <p:nvPr/>
        </p:nvSpPr>
        <p:spPr>
          <a:xfrm>
            <a:off x="2933700" y="3857625"/>
            <a:ext cx="12763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3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3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Auxiliary only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33DBC1-2EFB-4483-AECD-B8D4F217BDB2}"/>
              </a:ext>
            </a:extLst>
          </p:cNvPr>
          <p:cNvSpPr>
            <a:spLocks noGrp="1"/>
          </p:cNvSpPr>
          <p:nvPr/>
        </p:nvSpPr>
        <p:spPr>
          <a:xfrm>
            <a:off x="4572000" y="3781425"/>
            <a:ext cx="571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规模大但缺 clinician note；无法直接得到 assessment + plan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257F2B9-7E97-4835-8824-2D489C76EE74}"/>
              </a:ext>
            </a:extLst>
          </p:cNvPr>
          <p:cNvSpPr>
            <a:spLocks noGrp="1"/>
          </p:cNvSpPr>
          <p:nvPr/>
        </p:nvSpPr>
        <p:spPr>
          <a:xfrm>
            <a:off x="857250" y="4905375"/>
            <a:ext cx="9667875" cy="666750"/>
          </a:xfrm>
          <a:prstGeom prst="rect">
            <a:avLst/>
          </a:prstGeom>
          <a:solidFill>
            <a:srgbClr val="FFF8EC"/>
          </a:solidFill>
          <a:ln w="9525">
            <a:solidFill>
              <a:srgbClr val="C99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AD927A3-3580-496C-8F15-760A24FB14B5}"/>
              </a:ext>
            </a:extLst>
          </p:cNvPr>
          <p:cNvSpPr>
            <a:spLocks noGrp="1"/>
          </p:cNvSpPr>
          <p:nvPr/>
        </p:nvSpPr>
        <p:spPr>
          <a:xfrm>
            <a:off x="1095375" y="5124450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B65D3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65D3B"/>
                </a:solidFill>
                <a:latin typeface="PingFang SC"/>
                <a:ea typeface="PingFang SC"/>
                <a:cs typeface="PingFang SC"/>
              </a:rPr>
              <a:t>Leakage rule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DBF4819-2EFE-46AB-9388-6988690C3B98}"/>
              </a:ext>
            </a:extLst>
          </p:cNvPr>
          <p:cNvSpPr>
            <a:spLocks noGrp="1"/>
          </p:cNvSpPr>
          <p:nvPr/>
        </p:nvSpPr>
        <p:spPr>
          <a:xfrm>
            <a:off x="2762250" y="5105400"/>
            <a:ext cx="733868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40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140" b="0" dirty="0" err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X_i</a:t>
            </a:r>
            <a:r>
              <a:rPr sz="1140" b="0" dirty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40" b="0" dirty="0" err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不能包含</a:t>
            </a:r>
            <a:r>
              <a:rPr sz="1140" b="0" dirty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 clinician </a:t>
            </a:r>
            <a:r>
              <a:rPr sz="1140" b="0" dirty="0" err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决策后信息；final</a:t>
            </a:r>
            <a:r>
              <a:rPr sz="1140" b="0" dirty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 diagnosis / assessment / management plan </a:t>
            </a:r>
            <a:r>
              <a:rPr sz="1140" b="0" dirty="0" err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只能进入</a:t>
            </a:r>
            <a:r>
              <a:rPr sz="1140" b="0" dirty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40" b="0" dirty="0" err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A_i^b，不能泄漏到</a:t>
            </a:r>
            <a:r>
              <a:rPr sz="1140" b="0" dirty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40" b="0" dirty="0" err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X_i</a:t>
            </a:r>
            <a:r>
              <a:rPr sz="1140" b="0" dirty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88BA58D-3B7C-40F1-851B-38DE3F976152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63586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B449B7B2-77FB-42E9-8762-48792485CF70}"/>
              </a:ext>
            </a:extLst>
          </p:cNvPr>
          <p:cNvSpPr>
            <a:spLocks noGrp="1"/>
          </p:cNvSpPr>
          <p:nvPr/>
        </p:nvSpPr>
        <p:spPr>
          <a:xfrm>
            <a:off x="0" y="286193"/>
            <a:ext cx="12192000" cy="6858000"/>
          </a:xfrm>
          <a:prstGeom prst="rect">
            <a:avLst/>
          </a:prstGeom>
          <a:solidFill>
            <a:srgbClr val="F7F5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AA928C-E78B-4ADF-9268-9FBE143321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14E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42581A-BE6F-4940-9856-6CF651EB69EF}"/>
              </a:ext>
            </a:extLst>
          </p:cNvPr>
          <p:cNvSpPr>
            <a:spLocks noGrp="1"/>
          </p:cNvSpPr>
          <p:nvPr/>
        </p:nvSpPr>
        <p:spPr>
          <a:xfrm>
            <a:off x="552450" y="257175"/>
            <a:ext cx="95250" cy="95250"/>
          </a:xfrm>
          <a:prstGeom prst="rect">
            <a:avLst/>
          </a:prstGeom>
          <a:solidFill>
            <a:srgbClr val="B65D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FB61B0-561F-425F-8E65-C6AFCB0F0673}"/>
              </a:ext>
            </a:extLst>
          </p:cNvPr>
          <p:cNvSpPr>
            <a:spLocks noGrp="1"/>
          </p:cNvSpPr>
          <p:nvPr/>
        </p:nvSpPr>
        <p:spPr>
          <a:xfrm>
            <a:off x="723900" y="228600"/>
            <a:ext cx="304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B65D3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B65D3B"/>
                </a:solidFill>
                <a:latin typeface="PingFang SC"/>
                <a:ea typeface="PingFang SC"/>
                <a:cs typeface="PingFang SC"/>
              </a:rPr>
              <a:t>PHASE 2 EVIDENCE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441CA6-F1FD-41A1-9629-D49B9FEF214A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03822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Phase 2 产物已冻结：397 included examples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3A5CCC-123B-4D6C-98A7-F8A3A007B751}"/>
              </a:ext>
            </a:extLst>
          </p:cNvPr>
          <p:cNvSpPr>
            <a:spLocks noGrp="1"/>
          </p:cNvSpPr>
          <p:nvPr/>
        </p:nvSpPr>
        <p:spPr>
          <a:xfrm>
            <a:off x="571500" y="1057275"/>
            <a:ext cx="990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freeze manifest 记录 hash、source counts、split counts 和 reproduction command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633660-82EC-4B78-B938-736D8956225E}"/>
              </a:ext>
            </a:extLst>
          </p:cNvPr>
          <p:cNvSpPr>
            <a:spLocks noGrp="1"/>
          </p:cNvSpPr>
          <p:nvPr/>
        </p:nvSpPr>
        <p:spPr>
          <a:xfrm>
            <a:off x="552450" y="1371600"/>
            <a:ext cx="11049000" cy="19050"/>
          </a:xfrm>
          <a:prstGeom prst="rect">
            <a:avLst/>
          </a:prstGeom>
          <a:solidFill>
            <a:srgbClr val="E7E1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D825F7-C6E1-4904-B345-5994F821B003}"/>
              </a:ext>
            </a:extLst>
          </p:cNvPr>
          <p:cNvSpPr>
            <a:spLocks noGrp="1"/>
          </p:cNvSpPr>
          <p:nvPr/>
        </p:nvSpPr>
        <p:spPr>
          <a:xfrm>
            <a:off x="742950" y="1600200"/>
            <a:ext cx="2047875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28DD33-80D0-44FD-9B63-2312DF28A66D}"/>
              </a:ext>
            </a:extLst>
          </p:cNvPr>
          <p:cNvSpPr>
            <a:spLocks noGrp="1"/>
          </p:cNvSpPr>
          <p:nvPr/>
        </p:nvSpPr>
        <p:spPr>
          <a:xfrm>
            <a:off x="914400" y="1733550"/>
            <a:ext cx="17049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14E7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14E7A"/>
                </a:solidFill>
                <a:latin typeface="PingFang SC"/>
                <a:ea typeface="PingFang SC"/>
                <a:cs typeface="PingFang SC"/>
              </a:rPr>
              <a:t>397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1EC321-F78C-4CDB-A037-9AACD602ECFE}"/>
              </a:ext>
            </a:extLst>
          </p:cNvPr>
          <p:cNvSpPr>
            <a:spLocks noGrp="1"/>
          </p:cNvSpPr>
          <p:nvPr/>
        </p:nvSpPr>
        <p:spPr>
          <a:xfrm>
            <a:off x="914400" y="2105025"/>
            <a:ext cx="17049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total included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EB41D4-3A95-4644-AC83-76D6E742A46C}"/>
              </a:ext>
            </a:extLst>
          </p:cNvPr>
          <p:cNvSpPr>
            <a:spLocks noGrp="1"/>
          </p:cNvSpPr>
          <p:nvPr/>
        </p:nvSpPr>
        <p:spPr>
          <a:xfrm>
            <a:off x="3028950" y="1600200"/>
            <a:ext cx="2047875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B14393-71A5-4AE7-9CB9-6441C25ACC23}"/>
              </a:ext>
            </a:extLst>
          </p:cNvPr>
          <p:cNvSpPr>
            <a:spLocks noGrp="1"/>
          </p:cNvSpPr>
          <p:nvPr/>
        </p:nvSpPr>
        <p:spPr>
          <a:xfrm>
            <a:off x="3200400" y="1733550"/>
            <a:ext cx="17049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F6F9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F6F9F"/>
                </a:solidFill>
                <a:latin typeface="PingFang SC"/>
                <a:ea typeface="PingFang SC"/>
                <a:cs typeface="PingFang SC"/>
              </a:rPr>
              <a:t>207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BDC65B-EDB5-4C2E-885D-3D1BA6B6505C}"/>
              </a:ext>
            </a:extLst>
          </p:cNvPr>
          <p:cNvSpPr>
            <a:spLocks noGrp="1"/>
          </p:cNvSpPr>
          <p:nvPr/>
        </p:nvSpPr>
        <p:spPr>
          <a:xfrm>
            <a:off x="3200400" y="2105025"/>
            <a:ext cx="17049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ACI-Bench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9886F2-6D08-48E8-8A7A-3A39AD4FF5CF}"/>
              </a:ext>
            </a:extLst>
          </p:cNvPr>
          <p:cNvSpPr>
            <a:spLocks noGrp="1"/>
          </p:cNvSpPr>
          <p:nvPr/>
        </p:nvSpPr>
        <p:spPr>
          <a:xfrm>
            <a:off x="5314950" y="1600200"/>
            <a:ext cx="2047875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F104FB-709F-4D0B-B37A-B677EE55AA35}"/>
              </a:ext>
            </a:extLst>
          </p:cNvPr>
          <p:cNvSpPr>
            <a:spLocks noGrp="1"/>
          </p:cNvSpPr>
          <p:nvPr/>
        </p:nvSpPr>
        <p:spPr>
          <a:xfrm>
            <a:off x="5486400" y="1733550"/>
            <a:ext cx="17049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F7D62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F7D62"/>
                </a:solidFill>
                <a:latin typeface="PingFang SC"/>
                <a:ea typeface="PingFang SC"/>
                <a:cs typeface="PingFang SC"/>
              </a:rPr>
              <a:t>142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AA416-5E7E-4544-9A26-62D30AF091B6}"/>
              </a:ext>
            </a:extLst>
          </p:cNvPr>
          <p:cNvSpPr>
            <a:spLocks noGrp="1"/>
          </p:cNvSpPr>
          <p:nvPr/>
        </p:nvSpPr>
        <p:spPr>
          <a:xfrm>
            <a:off x="5486400" y="2105025"/>
            <a:ext cx="17049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MTS-Dialog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FEA74F-6C3C-4318-AC51-B59017FD349B}"/>
              </a:ext>
            </a:extLst>
          </p:cNvPr>
          <p:cNvSpPr>
            <a:spLocks noGrp="1"/>
          </p:cNvSpPr>
          <p:nvPr/>
        </p:nvSpPr>
        <p:spPr>
          <a:xfrm>
            <a:off x="7600950" y="1600200"/>
            <a:ext cx="2047875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92C421-33B9-4260-B45C-9AFE11DAE99B}"/>
              </a:ext>
            </a:extLst>
          </p:cNvPr>
          <p:cNvSpPr>
            <a:spLocks noGrp="1"/>
          </p:cNvSpPr>
          <p:nvPr/>
        </p:nvSpPr>
        <p:spPr>
          <a:xfrm>
            <a:off x="7772400" y="1733550"/>
            <a:ext cx="17049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9942E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C9942E"/>
                </a:solidFill>
                <a:latin typeface="PingFang SC"/>
                <a:ea typeface="PingFang SC"/>
                <a:cs typeface="PingFang SC"/>
              </a:rPr>
              <a:t>48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13AC628-19D1-48A1-95A5-EAD7F1FB8D0A}"/>
              </a:ext>
            </a:extLst>
          </p:cNvPr>
          <p:cNvSpPr>
            <a:spLocks noGrp="1"/>
          </p:cNvSpPr>
          <p:nvPr/>
        </p:nvSpPr>
        <p:spPr>
          <a:xfrm>
            <a:off x="7772400" y="2105025"/>
            <a:ext cx="17049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PriMock57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2F0849E-D64E-433D-ABEC-AE9A1ABE150B}"/>
              </a:ext>
            </a:extLst>
          </p:cNvPr>
          <p:cNvSpPr>
            <a:spLocks noGrp="1"/>
          </p:cNvSpPr>
          <p:nvPr/>
        </p:nvSpPr>
        <p:spPr>
          <a:xfrm>
            <a:off x="838200" y="2905125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Source mix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29972BA-55BE-4BA1-8874-18953C53C9FF}"/>
              </a:ext>
            </a:extLst>
          </p:cNvPr>
          <p:cNvSpPr>
            <a:spLocks noGrp="1"/>
          </p:cNvSpPr>
          <p:nvPr/>
        </p:nvSpPr>
        <p:spPr>
          <a:xfrm>
            <a:off x="857250" y="3324225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ACI-Bench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BA73719-E234-490E-8D6F-C240E129B775}"/>
              </a:ext>
            </a:extLst>
          </p:cNvPr>
          <p:cNvSpPr>
            <a:spLocks noGrp="1"/>
          </p:cNvSpPr>
          <p:nvPr/>
        </p:nvSpPr>
        <p:spPr>
          <a:xfrm>
            <a:off x="2552700" y="3362325"/>
            <a:ext cx="4095750" cy="123825"/>
          </a:xfrm>
          <a:prstGeom prst="rect">
            <a:avLst/>
          </a:prstGeom>
          <a:solidFill>
            <a:srgbClr val="E9E2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2B4E260-AFB2-49EA-9C24-114B66EB601F}"/>
              </a:ext>
            </a:extLst>
          </p:cNvPr>
          <p:cNvSpPr>
            <a:spLocks noGrp="1"/>
          </p:cNvSpPr>
          <p:nvPr/>
        </p:nvSpPr>
        <p:spPr>
          <a:xfrm>
            <a:off x="2552700" y="3362325"/>
            <a:ext cx="4095750" cy="123825"/>
          </a:xfrm>
          <a:prstGeom prst="rect">
            <a:avLst/>
          </a:prstGeom>
          <a:solidFill>
            <a:srgbClr val="2F6F9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2A9D4DE-A6B2-48B0-BEDF-CF39955BC178}"/>
              </a:ext>
            </a:extLst>
          </p:cNvPr>
          <p:cNvSpPr>
            <a:spLocks noGrp="1"/>
          </p:cNvSpPr>
          <p:nvPr/>
        </p:nvSpPr>
        <p:spPr>
          <a:xfrm>
            <a:off x="6743700" y="3324225"/>
            <a:ext cx="7143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2F6F9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2F6F9F"/>
                </a:solidFill>
                <a:latin typeface="PingFang SC"/>
                <a:ea typeface="PingFang SC"/>
                <a:cs typeface="PingFang SC"/>
              </a:rPr>
              <a:t>207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C20401-42D0-466C-95F8-55AA40AF2F49}"/>
              </a:ext>
            </a:extLst>
          </p:cNvPr>
          <p:cNvSpPr>
            <a:spLocks noGrp="1"/>
          </p:cNvSpPr>
          <p:nvPr/>
        </p:nvSpPr>
        <p:spPr>
          <a:xfrm>
            <a:off x="857250" y="3724275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MTS-Dialog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034C7B9-9F3A-4034-AAC8-00EB0C1D5CE9}"/>
              </a:ext>
            </a:extLst>
          </p:cNvPr>
          <p:cNvSpPr>
            <a:spLocks noGrp="1"/>
          </p:cNvSpPr>
          <p:nvPr/>
        </p:nvSpPr>
        <p:spPr>
          <a:xfrm>
            <a:off x="2552700" y="3762375"/>
            <a:ext cx="4095750" cy="123825"/>
          </a:xfrm>
          <a:prstGeom prst="rect">
            <a:avLst/>
          </a:prstGeom>
          <a:solidFill>
            <a:srgbClr val="E9E2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9D8F2CC-8351-4B46-BAA4-69B7D0919535}"/>
              </a:ext>
            </a:extLst>
          </p:cNvPr>
          <p:cNvSpPr>
            <a:spLocks noGrp="1"/>
          </p:cNvSpPr>
          <p:nvPr/>
        </p:nvSpPr>
        <p:spPr>
          <a:xfrm>
            <a:off x="2552700" y="3762375"/>
            <a:ext cx="2809645" cy="123825"/>
          </a:xfrm>
          <a:prstGeom prst="rect">
            <a:avLst/>
          </a:prstGeom>
          <a:solidFill>
            <a:srgbClr val="2F7D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08830B9-5829-4106-86CC-0030B3DBA4E7}"/>
              </a:ext>
            </a:extLst>
          </p:cNvPr>
          <p:cNvSpPr>
            <a:spLocks noGrp="1"/>
          </p:cNvSpPr>
          <p:nvPr/>
        </p:nvSpPr>
        <p:spPr>
          <a:xfrm>
            <a:off x="6743700" y="3724275"/>
            <a:ext cx="7143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2F7D62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2F7D62"/>
                </a:solidFill>
                <a:latin typeface="PingFang SC"/>
                <a:ea typeface="PingFang SC"/>
                <a:cs typeface="PingFang SC"/>
              </a:rPr>
              <a:t>142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BC8542E-CF8D-4103-84FC-2426CE584CF6}"/>
              </a:ext>
            </a:extLst>
          </p:cNvPr>
          <p:cNvSpPr>
            <a:spLocks noGrp="1"/>
          </p:cNvSpPr>
          <p:nvPr/>
        </p:nvSpPr>
        <p:spPr>
          <a:xfrm>
            <a:off x="857250" y="4124325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PriMock57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2742556-58E9-41AC-9E70-5AB39BDC90ED}"/>
              </a:ext>
            </a:extLst>
          </p:cNvPr>
          <p:cNvSpPr>
            <a:spLocks noGrp="1"/>
          </p:cNvSpPr>
          <p:nvPr/>
        </p:nvSpPr>
        <p:spPr>
          <a:xfrm>
            <a:off x="2552700" y="4162425"/>
            <a:ext cx="4095750" cy="123825"/>
          </a:xfrm>
          <a:prstGeom prst="rect">
            <a:avLst/>
          </a:prstGeom>
          <a:solidFill>
            <a:srgbClr val="E9E2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85B4B83-2C12-4F3D-AB1D-CDDD4D4BA4C0}"/>
              </a:ext>
            </a:extLst>
          </p:cNvPr>
          <p:cNvSpPr>
            <a:spLocks noGrp="1"/>
          </p:cNvSpPr>
          <p:nvPr/>
        </p:nvSpPr>
        <p:spPr>
          <a:xfrm>
            <a:off x="2552700" y="4162425"/>
            <a:ext cx="949739" cy="123825"/>
          </a:xfrm>
          <a:prstGeom prst="rect">
            <a:avLst/>
          </a:prstGeom>
          <a:solidFill>
            <a:srgbClr val="C994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C04FBE5-47EF-4640-B814-B42FC75C9372}"/>
              </a:ext>
            </a:extLst>
          </p:cNvPr>
          <p:cNvSpPr>
            <a:spLocks noGrp="1"/>
          </p:cNvSpPr>
          <p:nvPr/>
        </p:nvSpPr>
        <p:spPr>
          <a:xfrm>
            <a:off x="6743700" y="4124325"/>
            <a:ext cx="7143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C9942E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C9942E"/>
                </a:solidFill>
                <a:latin typeface="PingFang SC"/>
                <a:ea typeface="PingFang SC"/>
                <a:cs typeface="PingFang SC"/>
              </a:rPr>
              <a:t>48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D766ED7-F3A1-41FB-998D-BFCF53735067}"/>
              </a:ext>
            </a:extLst>
          </p:cNvPr>
          <p:cNvSpPr>
            <a:spLocks noGrp="1"/>
          </p:cNvSpPr>
          <p:nvPr/>
        </p:nvSpPr>
        <p:spPr>
          <a:xfrm>
            <a:off x="7477125" y="3000375"/>
            <a:ext cx="3286125" cy="14097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147F38-5869-40DF-9324-9E1EC2025D19}"/>
              </a:ext>
            </a:extLst>
          </p:cNvPr>
          <p:cNvSpPr>
            <a:spLocks noGrp="1"/>
          </p:cNvSpPr>
          <p:nvPr/>
        </p:nvSpPr>
        <p:spPr>
          <a:xfrm>
            <a:off x="7696200" y="3209925"/>
            <a:ext cx="2333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14E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14E7A"/>
                </a:solidFill>
                <a:latin typeface="PingFang SC"/>
                <a:ea typeface="PingFang SC"/>
                <a:cs typeface="PingFang SC"/>
              </a:rPr>
              <a:t>Frozen artifact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56F7917-A3DB-4DEE-A310-194128264E54}"/>
              </a:ext>
            </a:extLst>
          </p:cNvPr>
          <p:cNvSpPr>
            <a:spLocks noGrp="1"/>
          </p:cNvSpPr>
          <p:nvPr/>
        </p:nvSpPr>
        <p:spPr>
          <a:xfrm>
            <a:off x="7696200" y="3524250"/>
            <a:ext cx="25717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5D6472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5D6472"/>
                </a:solidFill>
                <a:latin typeface="Menlo"/>
                <a:ea typeface="Menlo"/>
                <a:cs typeface="Menlo"/>
              </a:rPr>
              <a:t>dataset_freezes/phase2_v1.json</a:t>
            </a:r>
          </a:p>
          <a:p>
            <a:pPr algn="l">
              <a:defRPr sz="915" b="0">
                <a:solidFill>
                  <a:srgbClr val="5D6472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5D6472"/>
                </a:solidFill>
                <a:latin typeface="Menlo"/>
                <a:ea typeface="Menlo"/>
                <a:cs typeface="Menlo"/>
              </a:rPr>
              <a:t>sha256 recorded</a:t>
            </a:r>
          </a:p>
          <a:p>
            <a:pPr algn="l">
              <a:defRPr sz="915" b="0">
                <a:solidFill>
                  <a:srgbClr val="5D6472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5D6472"/>
                </a:solidFill>
                <a:latin typeface="Menlo"/>
                <a:ea typeface="Menlo"/>
                <a:cs typeface="Menlo"/>
              </a:rPr>
              <a:t>raw data not committed</a:t>
            </a:r>
          </a:p>
          <a:p>
            <a:pPr algn="l">
              <a:defRPr sz="915" b="0">
                <a:solidFill>
                  <a:srgbClr val="5D6472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5D6472"/>
                </a:solidFill>
                <a:latin typeface="Menlo"/>
                <a:ea typeface="Menlo"/>
                <a:cs typeface="Menlo"/>
              </a:rPr>
              <a:t>repro command stored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F9FA5A1-1699-4085-AEC8-D064327D55A0}"/>
              </a:ext>
            </a:extLst>
          </p:cNvPr>
          <p:cNvSpPr>
            <a:spLocks noGrp="1"/>
          </p:cNvSpPr>
          <p:nvPr/>
        </p:nvSpPr>
        <p:spPr>
          <a:xfrm>
            <a:off x="857250" y="4953000"/>
            <a:ext cx="9429750" cy="476250"/>
          </a:xfrm>
          <a:prstGeom prst="rect">
            <a:avLst/>
          </a:prstGeom>
          <a:solidFill>
            <a:srgbClr val="F2FBF5"/>
          </a:solidFill>
          <a:ln w="9525">
            <a:solidFill>
              <a:srgbClr val="2F7D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F25CC11-8F23-4934-9D9C-A21D81CFFBCD}"/>
              </a:ext>
            </a:extLst>
          </p:cNvPr>
          <p:cNvSpPr>
            <a:spLocks noGrp="1"/>
          </p:cNvSpPr>
          <p:nvPr/>
        </p:nvSpPr>
        <p:spPr>
          <a:xfrm>
            <a:off x="1095375" y="5095875"/>
            <a:ext cx="885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F7D6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dirty="0">
                <a:solidFill>
                  <a:srgbClr val="2F7D62"/>
                </a:solidFill>
                <a:latin typeface="PingFang SC"/>
                <a:ea typeface="PingFang SC"/>
                <a:cs typeface="PingFang SC"/>
              </a:rPr>
              <a:t>Phase 2 </a:t>
            </a:r>
            <a:r>
              <a:rPr sz="1200" b="1" dirty="0" err="1">
                <a:solidFill>
                  <a:srgbClr val="2F7D62"/>
                </a:solidFill>
                <a:latin typeface="PingFang SC"/>
                <a:ea typeface="PingFang SC"/>
                <a:cs typeface="PingFang SC"/>
              </a:rPr>
              <a:t>是可复现的</a:t>
            </a:r>
            <a:r>
              <a:rPr sz="1200" b="1" dirty="0">
                <a:solidFill>
                  <a:srgbClr val="2F7D62"/>
                </a:solidFill>
                <a:latin typeface="PingFang SC"/>
                <a:ea typeface="PingFang SC"/>
                <a:cs typeface="PingFang SC"/>
              </a:rPr>
              <a:t> frozen </a:t>
            </a:r>
            <a:r>
              <a:rPr sz="1200" b="1" dirty="0" err="1">
                <a:solidFill>
                  <a:srgbClr val="2F7D62"/>
                </a:solidFill>
                <a:latin typeface="PingFang SC"/>
                <a:ea typeface="PingFang SC"/>
                <a:cs typeface="PingFang SC"/>
              </a:rPr>
              <a:t>dataset。后续</a:t>
            </a:r>
            <a:r>
              <a:rPr sz="1200" b="1" dirty="0">
                <a:solidFill>
                  <a:srgbClr val="2F7D62"/>
                </a:solidFill>
                <a:latin typeface="PingFang SC"/>
                <a:ea typeface="PingFang SC"/>
                <a:cs typeface="PingFang SC"/>
              </a:rPr>
              <a:t> Phase 3/4/5 </a:t>
            </a:r>
            <a:r>
              <a:rPr sz="1200" b="1" dirty="0" err="1">
                <a:solidFill>
                  <a:srgbClr val="2F7D62"/>
                </a:solidFill>
                <a:latin typeface="PingFang SC"/>
                <a:ea typeface="PingFang SC"/>
                <a:cs typeface="PingFang SC"/>
              </a:rPr>
              <a:t>都引用</a:t>
            </a:r>
            <a:r>
              <a:rPr sz="1200" b="1" dirty="0">
                <a:solidFill>
                  <a:srgbClr val="2F7D62"/>
                </a:solidFill>
                <a:latin typeface="PingFang SC"/>
                <a:ea typeface="PingFang SC"/>
                <a:cs typeface="PingFang SC"/>
              </a:rPr>
              <a:t> phase2_v1。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BC02B55-CD28-4FDC-BB8D-E60FE89A564B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04836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FC61E667-CFFE-46BB-BD9F-023E929F29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8FD1F9-F215-4FDA-B044-12C954BC703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14E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A83989-E829-421F-9342-1FF8E39A16FC}"/>
              </a:ext>
            </a:extLst>
          </p:cNvPr>
          <p:cNvSpPr>
            <a:spLocks noGrp="1"/>
          </p:cNvSpPr>
          <p:nvPr/>
        </p:nvSpPr>
        <p:spPr>
          <a:xfrm>
            <a:off x="552450" y="257175"/>
            <a:ext cx="95250" cy="95250"/>
          </a:xfrm>
          <a:prstGeom prst="rect">
            <a:avLst/>
          </a:prstGeom>
          <a:solidFill>
            <a:srgbClr val="B65D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ADBAC9-F1F3-4E77-9BC0-E603976F4A1D}"/>
              </a:ext>
            </a:extLst>
          </p:cNvPr>
          <p:cNvSpPr>
            <a:spLocks noGrp="1"/>
          </p:cNvSpPr>
          <p:nvPr/>
        </p:nvSpPr>
        <p:spPr>
          <a:xfrm>
            <a:off x="723900" y="228600"/>
            <a:ext cx="304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B65D3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B65D3B"/>
                </a:solidFill>
                <a:latin typeface="PingFang SC"/>
                <a:ea typeface="PingFang SC"/>
                <a:cs typeface="PingFang SC"/>
              </a:rPr>
              <a:t>PHASE 3 DESIGN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7F2D95-F055-48D2-94B7-4DF69A8AEF1B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03822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Ground truth 的核心是同一 rubric 评价 clinician 和 agent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BC8133-E2DE-4CFD-968E-0070D7BDD909}"/>
              </a:ext>
            </a:extLst>
          </p:cNvPr>
          <p:cNvSpPr>
            <a:spLocks noGrp="1"/>
          </p:cNvSpPr>
          <p:nvPr/>
        </p:nvSpPr>
        <p:spPr>
          <a:xfrm>
            <a:off x="571500" y="1057275"/>
            <a:ext cx="990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选择 continuous LLM-as-judge，是为了给 OPE estimator 一个标量 reward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EC3FB5-E800-4E0F-8356-1D760FB7DF72}"/>
              </a:ext>
            </a:extLst>
          </p:cNvPr>
          <p:cNvSpPr>
            <a:spLocks noGrp="1"/>
          </p:cNvSpPr>
          <p:nvPr/>
        </p:nvSpPr>
        <p:spPr>
          <a:xfrm>
            <a:off x="552450" y="1371600"/>
            <a:ext cx="11049000" cy="19050"/>
          </a:xfrm>
          <a:prstGeom prst="rect">
            <a:avLst/>
          </a:prstGeom>
          <a:solidFill>
            <a:srgbClr val="E7E1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3014FA-B5A4-417D-B6AD-A799BC8033B6}"/>
              </a:ext>
            </a:extLst>
          </p:cNvPr>
          <p:cNvSpPr>
            <a:spLocks noGrp="1"/>
          </p:cNvSpPr>
          <p:nvPr/>
        </p:nvSpPr>
        <p:spPr>
          <a:xfrm>
            <a:off x="800100" y="14859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14E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14E7A"/>
                </a:solidFill>
                <a:latin typeface="PingFang SC"/>
                <a:ea typeface="PingFang SC"/>
                <a:cs typeface="PingFang SC"/>
              </a:rPr>
              <a:t>Rubric dimensions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38BDEF-3C11-4AD7-9281-AE5F4269D050}"/>
              </a:ext>
            </a:extLst>
          </p:cNvPr>
          <p:cNvSpPr>
            <a:spLocks noGrp="1"/>
          </p:cNvSpPr>
          <p:nvPr/>
        </p:nvSpPr>
        <p:spPr>
          <a:xfrm>
            <a:off x="876300" y="194310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diagnostic quality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A2C05A-8FD3-48EB-B949-ADF1442BDDB7}"/>
              </a:ext>
            </a:extLst>
          </p:cNvPr>
          <p:cNvSpPr>
            <a:spLocks noGrp="1"/>
          </p:cNvSpPr>
          <p:nvPr/>
        </p:nvSpPr>
        <p:spPr>
          <a:xfrm>
            <a:off x="2571750" y="1981200"/>
            <a:ext cx="3429000" cy="123825"/>
          </a:xfrm>
          <a:prstGeom prst="rect">
            <a:avLst/>
          </a:prstGeom>
          <a:solidFill>
            <a:srgbClr val="E9E2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5AAA66-F853-4A5B-9FF2-F45D1F00882F}"/>
              </a:ext>
            </a:extLst>
          </p:cNvPr>
          <p:cNvSpPr>
            <a:spLocks noGrp="1"/>
          </p:cNvSpPr>
          <p:nvPr/>
        </p:nvSpPr>
        <p:spPr>
          <a:xfrm>
            <a:off x="2571750" y="1981200"/>
            <a:ext cx="3429000" cy="123825"/>
          </a:xfrm>
          <a:prstGeom prst="rect">
            <a:avLst/>
          </a:prstGeom>
          <a:solidFill>
            <a:srgbClr val="214E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8E1909-4912-421D-9241-5955001C2570}"/>
              </a:ext>
            </a:extLst>
          </p:cNvPr>
          <p:cNvSpPr>
            <a:spLocks noGrp="1"/>
          </p:cNvSpPr>
          <p:nvPr/>
        </p:nvSpPr>
        <p:spPr>
          <a:xfrm>
            <a:off x="6096000" y="1943100"/>
            <a:ext cx="7143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214E7A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214E7A"/>
                </a:solidFill>
                <a:latin typeface="PingFang SC"/>
                <a:ea typeface="PingFang SC"/>
                <a:cs typeface="PingFang SC"/>
              </a:rPr>
              <a:t>30%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748A52-4AA5-4357-8618-379F4A199CC7}"/>
              </a:ext>
            </a:extLst>
          </p:cNvPr>
          <p:cNvSpPr>
            <a:spLocks noGrp="1"/>
          </p:cNvSpPr>
          <p:nvPr/>
        </p:nvSpPr>
        <p:spPr>
          <a:xfrm>
            <a:off x="876300" y="23812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management quality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62BBF2-8C02-4544-81E8-FB39514AF6C4}"/>
              </a:ext>
            </a:extLst>
          </p:cNvPr>
          <p:cNvSpPr>
            <a:spLocks noGrp="1"/>
          </p:cNvSpPr>
          <p:nvPr/>
        </p:nvSpPr>
        <p:spPr>
          <a:xfrm>
            <a:off x="2571750" y="2419350"/>
            <a:ext cx="3429000" cy="123825"/>
          </a:xfrm>
          <a:prstGeom prst="rect">
            <a:avLst/>
          </a:prstGeom>
          <a:solidFill>
            <a:srgbClr val="E9E2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163CDC-86D3-47FF-AB91-57FFFA648D9E}"/>
              </a:ext>
            </a:extLst>
          </p:cNvPr>
          <p:cNvSpPr>
            <a:spLocks noGrp="1"/>
          </p:cNvSpPr>
          <p:nvPr/>
        </p:nvSpPr>
        <p:spPr>
          <a:xfrm>
            <a:off x="2571750" y="2419350"/>
            <a:ext cx="3429000" cy="123825"/>
          </a:xfrm>
          <a:prstGeom prst="rect">
            <a:avLst/>
          </a:prstGeom>
          <a:solidFill>
            <a:srgbClr val="2F7D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1933A7-1FA3-447D-95BA-2BA5BD5687B1}"/>
              </a:ext>
            </a:extLst>
          </p:cNvPr>
          <p:cNvSpPr>
            <a:spLocks noGrp="1"/>
          </p:cNvSpPr>
          <p:nvPr/>
        </p:nvSpPr>
        <p:spPr>
          <a:xfrm>
            <a:off x="6096000" y="2381250"/>
            <a:ext cx="7143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2F7D62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2F7D62"/>
                </a:solidFill>
                <a:latin typeface="PingFang SC"/>
                <a:ea typeface="PingFang SC"/>
                <a:cs typeface="PingFang SC"/>
              </a:rPr>
              <a:t>30%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C8D7C9C-A65D-4CC4-AD6C-5A9EED190470}"/>
              </a:ext>
            </a:extLst>
          </p:cNvPr>
          <p:cNvSpPr>
            <a:spLocks noGrp="1"/>
          </p:cNvSpPr>
          <p:nvPr/>
        </p:nvSpPr>
        <p:spPr>
          <a:xfrm>
            <a:off x="876300" y="281940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safety &amp; escalation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BAECC05-3D32-4CD6-9831-5E2F05B2B80B}"/>
              </a:ext>
            </a:extLst>
          </p:cNvPr>
          <p:cNvSpPr>
            <a:spLocks noGrp="1"/>
          </p:cNvSpPr>
          <p:nvPr/>
        </p:nvSpPr>
        <p:spPr>
          <a:xfrm>
            <a:off x="2571750" y="2857500"/>
            <a:ext cx="3429000" cy="123825"/>
          </a:xfrm>
          <a:prstGeom prst="rect">
            <a:avLst/>
          </a:prstGeom>
          <a:solidFill>
            <a:srgbClr val="E9E2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BFF5B1-25D2-4B58-95BF-1B9E4C7A6C5B}"/>
              </a:ext>
            </a:extLst>
          </p:cNvPr>
          <p:cNvSpPr>
            <a:spLocks noGrp="1"/>
          </p:cNvSpPr>
          <p:nvPr/>
        </p:nvSpPr>
        <p:spPr>
          <a:xfrm>
            <a:off x="2571750" y="2857500"/>
            <a:ext cx="2286000" cy="123825"/>
          </a:xfrm>
          <a:prstGeom prst="rect">
            <a:avLst/>
          </a:prstGeom>
          <a:solidFill>
            <a:srgbClr val="B65D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3780A78-5C40-42A8-A156-B518ADB05C90}"/>
              </a:ext>
            </a:extLst>
          </p:cNvPr>
          <p:cNvSpPr>
            <a:spLocks noGrp="1"/>
          </p:cNvSpPr>
          <p:nvPr/>
        </p:nvSpPr>
        <p:spPr>
          <a:xfrm>
            <a:off x="6096000" y="2819400"/>
            <a:ext cx="7143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B65D3B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B65D3B"/>
                </a:solidFill>
                <a:latin typeface="PingFang SC"/>
                <a:ea typeface="PingFang SC"/>
                <a:cs typeface="PingFang SC"/>
              </a:rPr>
              <a:t>20%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5496FFA-2930-460A-B4C3-1BEB48395976}"/>
              </a:ext>
            </a:extLst>
          </p:cNvPr>
          <p:cNvSpPr>
            <a:spLocks noGrp="1"/>
          </p:cNvSpPr>
          <p:nvPr/>
        </p:nvSpPr>
        <p:spPr>
          <a:xfrm>
            <a:off x="876300" y="32575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context use &amp; factuality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B448716-DF1A-483B-9A0F-AF895D36A7A2}"/>
              </a:ext>
            </a:extLst>
          </p:cNvPr>
          <p:cNvSpPr>
            <a:spLocks noGrp="1"/>
          </p:cNvSpPr>
          <p:nvPr/>
        </p:nvSpPr>
        <p:spPr>
          <a:xfrm>
            <a:off x="2571750" y="3295650"/>
            <a:ext cx="3429000" cy="123825"/>
          </a:xfrm>
          <a:prstGeom prst="rect">
            <a:avLst/>
          </a:prstGeom>
          <a:solidFill>
            <a:srgbClr val="E9E2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16FD4A-A273-4C29-8745-7F36482C6585}"/>
              </a:ext>
            </a:extLst>
          </p:cNvPr>
          <p:cNvSpPr>
            <a:spLocks noGrp="1"/>
          </p:cNvSpPr>
          <p:nvPr/>
        </p:nvSpPr>
        <p:spPr>
          <a:xfrm>
            <a:off x="2571750" y="3295650"/>
            <a:ext cx="1714500" cy="123825"/>
          </a:xfrm>
          <a:prstGeom prst="rect">
            <a:avLst/>
          </a:prstGeom>
          <a:solidFill>
            <a:srgbClr val="C994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C84435-269A-4DEC-B7EC-7EB08B9A810E}"/>
              </a:ext>
            </a:extLst>
          </p:cNvPr>
          <p:cNvSpPr>
            <a:spLocks noGrp="1"/>
          </p:cNvSpPr>
          <p:nvPr/>
        </p:nvSpPr>
        <p:spPr>
          <a:xfrm>
            <a:off x="6096000" y="3257550"/>
            <a:ext cx="7143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C9942E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C9942E"/>
                </a:solidFill>
                <a:latin typeface="PingFang SC"/>
                <a:ea typeface="PingFang SC"/>
                <a:cs typeface="PingFang SC"/>
              </a:rPr>
              <a:t>15%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D762F31-21A1-4778-929D-E6799BF3AB78}"/>
              </a:ext>
            </a:extLst>
          </p:cNvPr>
          <p:cNvSpPr>
            <a:spLocks noGrp="1"/>
          </p:cNvSpPr>
          <p:nvPr/>
        </p:nvSpPr>
        <p:spPr>
          <a:xfrm>
            <a:off x="876300" y="369570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communication &amp; uncertainty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5F726FB-261D-479D-A496-6BCDFF6A1AEF}"/>
              </a:ext>
            </a:extLst>
          </p:cNvPr>
          <p:cNvSpPr>
            <a:spLocks noGrp="1"/>
          </p:cNvSpPr>
          <p:nvPr/>
        </p:nvSpPr>
        <p:spPr>
          <a:xfrm>
            <a:off x="2571750" y="3733800"/>
            <a:ext cx="3429000" cy="123825"/>
          </a:xfrm>
          <a:prstGeom prst="rect">
            <a:avLst/>
          </a:prstGeom>
          <a:solidFill>
            <a:srgbClr val="E9E2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6969139-011D-482C-8384-28CF80239356}"/>
              </a:ext>
            </a:extLst>
          </p:cNvPr>
          <p:cNvSpPr>
            <a:spLocks noGrp="1"/>
          </p:cNvSpPr>
          <p:nvPr/>
        </p:nvSpPr>
        <p:spPr>
          <a:xfrm>
            <a:off x="2571750" y="3733800"/>
            <a:ext cx="571500" cy="123825"/>
          </a:xfrm>
          <a:prstGeom prst="rect">
            <a:avLst/>
          </a:prstGeom>
          <a:solidFill>
            <a:srgbClr val="2F6F9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120384F-DA92-4D8D-9849-2DA6946F139E}"/>
              </a:ext>
            </a:extLst>
          </p:cNvPr>
          <p:cNvSpPr>
            <a:spLocks noGrp="1"/>
          </p:cNvSpPr>
          <p:nvPr/>
        </p:nvSpPr>
        <p:spPr>
          <a:xfrm>
            <a:off x="6096000" y="3695700"/>
            <a:ext cx="7143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2F6F9F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2F6F9F"/>
                </a:solidFill>
                <a:latin typeface="PingFang SC"/>
                <a:ea typeface="PingFang SC"/>
                <a:cs typeface="PingFang SC"/>
              </a:rPr>
              <a:t>5%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812C015-6D52-4354-BA38-59042C637396}"/>
              </a:ext>
            </a:extLst>
          </p:cNvPr>
          <p:cNvSpPr>
            <a:spLocks noGrp="1"/>
          </p:cNvSpPr>
          <p:nvPr/>
        </p:nvSpPr>
        <p:spPr>
          <a:xfrm>
            <a:off x="6953250" y="1543050"/>
            <a:ext cx="3905250" cy="2571750"/>
          </a:xfrm>
          <a:prstGeom prst="rect">
            <a:avLst/>
          </a:prstGeom>
          <a:solidFill>
            <a:srgbClr val="FFFFFF"/>
          </a:solidFill>
          <a:ln w="9525">
            <a:solidFill>
              <a:srgbClr val="E7E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1F9B94F-9C06-4C19-951C-BB2129AB6DCA}"/>
              </a:ext>
            </a:extLst>
          </p:cNvPr>
          <p:cNvSpPr>
            <a:spLocks noGrp="1"/>
          </p:cNvSpPr>
          <p:nvPr/>
        </p:nvSpPr>
        <p:spPr>
          <a:xfrm>
            <a:off x="7239000" y="1809750"/>
            <a:ext cx="3143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B65D3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B65D3B"/>
                </a:solidFill>
                <a:latin typeface="PingFang SC"/>
                <a:ea typeface="PingFang SC"/>
                <a:cs typeface="PingFang SC"/>
              </a:rPr>
              <a:t>为什么不用 binary accuracy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D1EE9F9-62BC-4155-90FD-E12EBD88F74C}"/>
              </a:ext>
            </a:extLst>
          </p:cNvPr>
          <p:cNvSpPr>
            <a:spLocks noGrp="1"/>
          </p:cNvSpPr>
          <p:nvPr/>
        </p:nvSpPr>
        <p:spPr>
          <a:xfrm>
            <a:off x="7258050" y="2362200"/>
            <a:ext cx="57150" cy="57150"/>
          </a:xfrm>
          <a:prstGeom prst="rect">
            <a:avLst/>
          </a:prstGeom>
          <a:solidFill>
            <a:srgbClr val="B65D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68AEDB4-BC3A-4992-ABEE-8810F65F4752}"/>
              </a:ext>
            </a:extLst>
          </p:cNvPr>
          <p:cNvSpPr>
            <a:spLocks noGrp="1"/>
          </p:cNvSpPr>
          <p:nvPr/>
        </p:nvSpPr>
        <p:spPr>
          <a:xfrm>
            <a:off x="7391400" y="2286000"/>
            <a:ext cx="3105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final clinical output 不只是诊断对错，还包括 management、safety、follow-up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5A02F66-9475-4439-8533-C652D6BE8B8F}"/>
              </a:ext>
            </a:extLst>
          </p:cNvPr>
          <p:cNvSpPr>
            <a:spLocks noGrp="1"/>
          </p:cNvSpPr>
          <p:nvPr/>
        </p:nvSpPr>
        <p:spPr>
          <a:xfrm>
            <a:off x="7258050" y="2914650"/>
            <a:ext cx="57150" cy="57150"/>
          </a:xfrm>
          <a:prstGeom prst="rect">
            <a:avLst/>
          </a:prstGeom>
          <a:solidFill>
            <a:srgbClr val="B65D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4A5AB62-6A7E-40FF-9936-356D9C0A5068}"/>
              </a:ext>
            </a:extLst>
          </p:cNvPr>
          <p:cNvSpPr>
            <a:spLocks noGrp="1"/>
          </p:cNvSpPr>
          <p:nvPr/>
        </p:nvSpPr>
        <p:spPr>
          <a:xfrm>
            <a:off x="7391400" y="2838450"/>
            <a:ext cx="3105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Phase 4/5 estimator 需要连续 reward，而不是 sparse label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09180F4-97B5-4BB3-AA92-50CD954B30E9}"/>
              </a:ext>
            </a:extLst>
          </p:cNvPr>
          <p:cNvSpPr>
            <a:spLocks noGrp="1"/>
          </p:cNvSpPr>
          <p:nvPr/>
        </p:nvSpPr>
        <p:spPr>
          <a:xfrm>
            <a:off x="7258050" y="3467100"/>
            <a:ext cx="57150" cy="57150"/>
          </a:xfrm>
          <a:prstGeom prst="rect">
            <a:avLst/>
          </a:prstGeom>
          <a:solidFill>
            <a:srgbClr val="B65D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085F009-57D4-406F-B6B7-3E1B12797F19}"/>
              </a:ext>
            </a:extLst>
          </p:cNvPr>
          <p:cNvSpPr>
            <a:spLocks noGrp="1"/>
          </p:cNvSpPr>
          <p:nvPr/>
        </p:nvSpPr>
        <p:spPr>
          <a:xfrm>
            <a:off x="7391400" y="3390900"/>
            <a:ext cx="3105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dimension scores 保留在 y_rubric，后续可做 ablation / failure analysis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638E10A-6D53-41D8-81D0-C1C0EFCC5A9B}"/>
              </a:ext>
            </a:extLst>
          </p:cNvPr>
          <p:cNvSpPr>
            <a:spLocks noGrp="1"/>
          </p:cNvSpPr>
          <p:nvPr/>
        </p:nvSpPr>
        <p:spPr>
          <a:xfrm>
            <a:off x="895350" y="4762500"/>
            <a:ext cx="9858375" cy="571500"/>
          </a:xfrm>
          <a:prstGeom prst="rect">
            <a:avLst/>
          </a:prstGeom>
          <a:solidFill>
            <a:srgbClr val="FFF8EC"/>
          </a:solidFill>
          <a:ln w="9525">
            <a:solidFill>
              <a:srgbClr val="C99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8353A16-82FE-4706-9402-4E1A919BFB76}"/>
              </a:ext>
            </a:extLst>
          </p:cNvPr>
          <p:cNvSpPr>
            <a:spLocks noGrp="1"/>
          </p:cNvSpPr>
          <p:nvPr/>
        </p:nvSpPr>
        <p:spPr>
          <a:xfrm>
            <a:off x="1162050" y="49530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B65D3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65D3B"/>
                </a:solidFill>
                <a:latin typeface="PingFang SC"/>
                <a:ea typeface="PingFang SC"/>
                <a:cs typeface="PingFang SC"/>
              </a:rPr>
              <a:t>Safety override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F1704F2-0C54-43BA-BF02-3C9E0BAE3321}"/>
              </a:ext>
            </a:extLst>
          </p:cNvPr>
          <p:cNvSpPr>
            <a:spLocks noGrp="1"/>
          </p:cNvSpPr>
          <p:nvPr/>
        </p:nvSpPr>
        <p:spPr>
          <a:xfrm>
            <a:off x="2619375" y="4953000"/>
            <a:ext cx="7715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若输出包含危险建议、遗漏明显急症升级、或编造改变 management 的重大事实，final score 最多 0.40。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0E43086-F927-4DAF-8295-ABFEA35627DD}"/>
              </a:ext>
            </a:extLst>
          </p:cNvPr>
          <p:cNvSpPr>
            <a:spLocks noGrp="1"/>
          </p:cNvSpPr>
          <p:nvPr/>
        </p:nvSpPr>
        <p:spPr>
          <a:xfrm>
            <a:off x="552450" y="6315075"/>
            <a:ext cx="1000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0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References: HealthBench-style rubric evaluation; AMIE / conversational diagnostic AI; clinical summary LLM-as-judge validation literature.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2219951-F0D4-4777-90A5-2150C7006BB5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29262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B6E5319F-3AD1-4FF4-A3B1-2C00DBFEAD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F620F6-7FC3-4E43-BFDC-295FC3FCD9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14E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943D18-0995-41B1-9703-4CE9D1E56376}"/>
              </a:ext>
            </a:extLst>
          </p:cNvPr>
          <p:cNvSpPr>
            <a:spLocks noGrp="1"/>
          </p:cNvSpPr>
          <p:nvPr/>
        </p:nvSpPr>
        <p:spPr>
          <a:xfrm>
            <a:off x="552450" y="257175"/>
            <a:ext cx="95250" cy="95250"/>
          </a:xfrm>
          <a:prstGeom prst="rect">
            <a:avLst/>
          </a:prstGeom>
          <a:solidFill>
            <a:srgbClr val="B65D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7BA864-450A-4A10-AFE2-A2CB569D99F2}"/>
              </a:ext>
            </a:extLst>
          </p:cNvPr>
          <p:cNvSpPr>
            <a:spLocks noGrp="1"/>
          </p:cNvSpPr>
          <p:nvPr/>
        </p:nvSpPr>
        <p:spPr>
          <a:xfrm>
            <a:off x="723900" y="228600"/>
            <a:ext cx="304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B65D3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B65D3B"/>
                </a:solidFill>
                <a:latin typeface="PingFang SC"/>
                <a:ea typeface="PingFang SC"/>
                <a:cs typeface="PingFang SC"/>
              </a:rPr>
              <a:t>MODEL ROLES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6B8581-B0EC-44E3-B712-04774568D35C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03822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Phase 3 里模型分工必须分清：generator ≠ judge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D4CA0E-E91D-40E4-94C3-363F61564E65}"/>
              </a:ext>
            </a:extLst>
          </p:cNvPr>
          <p:cNvSpPr>
            <a:spLocks noGrp="1"/>
          </p:cNvSpPr>
          <p:nvPr/>
        </p:nvSpPr>
        <p:spPr>
          <a:xfrm>
            <a:off x="571500" y="1057275"/>
            <a:ext cx="990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同一模型既生成又打分会有 self-preference 风险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F01A59-654A-4AFD-ACF9-DCE61DF6024D}"/>
              </a:ext>
            </a:extLst>
          </p:cNvPr>
          <p:cNvSpPr>
            <a:spLocks noGrp="1"/>
          </p:cNvSpPr>
          <p:nvPr/>
        </p:nvSpPr>
        <p:spPr>
          <a:xfrm>
            <a:off x="552450" y="1371600"/>
            <a:ext cx="11049000" cy="19050"/>
          </a:xfrm>
          <a:prstGeom prst="rect">
            <a:avLst/>
          </a:prstGeom>
          <a:solidFill>
            <a:srgbClr val="E7E1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0A9F1A-DE93-4EDA-AB5B-EAA341A0E322}"/>
              </a:ext>
            </a:extLst>
          </p:cNvPr>
          <p:cNvSpPr>
            <a:spLocks noGrp="1"/>
          </p:cNvSpPr>
          <p:nvPr/>
        </p:nvSpPr>
        <p:spPr>
          <a:xfrm>
            <a:off x="762000" y="1638300"/>
            <a:ext cx="3048000" cy="2952750"/>
          </a:xfrm>
          <a:prstGeom prst="rect">
            <a:avLst/>
          </a:prstGeom>
          <a:solidFill>
            <a:srgbClr val="FFFFFF"/>
          </a:solidFill>
          <a:ln w="19050">
            <a:solidFill>
              <a:srgbClr val="214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DF3BE8-83ED-4B79-8191-B988D8D0595F}"/>
              </a:ext>
            </a:extLst>
          </p:cNvPr>
          <p:cNvSpPr>
            <a:spLocks noGrp="1"/>
          </p:cNvSpPr>
          <p:nvPr/>
        </p:nvSpPr>
        <p:spPr>
          <a:xfrm>
            <a:off x="971550" y="1885950"/>
            <a:ext cx="1219200" cy="247650"/>
          </a:xfrm>
          <a:prstGeom prst="rect">
            <a:avLst/>
          </a:prstGeom>
          <a:solidFill>
            <a:srgbClr val="214E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948F4E-1A79-4C2C-B03B-AA0F246055A1}"/>
              </a:ext>
            </a:extLst>
          </p:cNvPr>
          <p:cNvSpPr>
            <a:spLocks noGrp="1"/>
          </p:cNvSpPr>
          <p:nvPr/>
        </p:nvSpPr>
        <p:spPr>
          <a:xfrm>
            <a:off x="1047750" y="1933575"/>
            <a:ext cx="1066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6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Target agent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5F08A1-8872-4E76-A883-DF1F6078A022}"/>
              </a:ext>
            </a:extLst>
          </p:cNvPr>
          <p:cNvSpPr>
            <a:spLocks noGrp="1"/>
          </p:cNvSpPr>
          <p:nvPr/>
        </p:nvSpPr>
        <p:spPr>
          <a:xfrm>
            <a:off x="971550" y="2324100"/>
            <a:ext cx="2286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14E7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14E7A"/>
                </a:solidFill>
                <a:latin typeface="PingFang SC"/>
                <a:ea typeface="PingFang SC"/>
                <a:cs typeface="PingFang SC"/>
              </a:rPr>
              <a:t>gpt-4.1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1DF2B2-3839-4967-8EF7-B54060F3B4F2}"/>
              </a:ext>
            </a:extLst>
          </p:cNvPr>
          <p:cNvSpPr>
            <a:spLocks noGrp="1"/>
          </p:cNvSpPr>
          <p:nvPr/>
        </p:nvSpPr>
        <p:spPr>
          <a:xfrm>
            <a:off x="971550" y="2905125"/>
            <a:ext cx="2476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生成 a_i^agent：Assessment、Diagnosis / Differential、Management Plan、Safety and Follow-up。temperature = 0，policy 写在 configs/agent_policy.yaml。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323594-4DCF-4F4F-91C9-01DBD7FBEF8F}"/>
              </a:ext>
            </a:extLst>
          </p:cNvPr>
          <p:cNvSpPr>
            <a:spLocks noGrp="1"/>
          </p:cNvSpPr>
          <p:nvPr/>
        </p:nvSpPr>
        <p:spPr>
          <a:xfrm>
            <a:off x="4286250" y="1638300"/>
            <a:ext cx="3048000" cy="2952750"/>
          </a:xfrm>
          <a:prstGeom prst="rect">
            <a:avLst/>
          </a:prstGeom>
          <a:solidFill>
            <a:srgbClr val="FFFFFF"/>
          </a:solidFill>
          <a:ln w="19050">
            <a:solidFill>
              <a:srgbClr val="B65D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AD35AC-7694-4365-871F-4ED0444A2DB7}"/>
              </a:ext>
            </a:extLst>
          </p:cNvPr>
          <p:cNvSpPr>
            <a:spLocks noGrp="1"/>
          </p:cNvSpPr>
          <p:nvPr/>
        </p:nvSpPr>
        <p:spPr>
          <a:xfrm>
            <a:off x="4495800" y="1885950"/>
            <a:ext cx="1219200" cy="247650"/>
          </a:xfrm>
          <a:prstGeom prst="rect">
            <a:avLst/>
          </a:prstGeom>
          <a:solidFill>
            <a:srgbClr val="B65D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7B1C4D-AD54-4E40-B853-7042D531570B}"/>
              </a:ext>
            </a:extLst>
          </p:cNvPr>
          <p:cNvSpPr>
            <a:spLocks noGrp="1"/>
          </p:cNvSpPr>
          <p:nvPr/>
        </p:nvSpPr>
        <p:spPr>
          <a:xfrm>
            <a:off x="4572000" y="1933575"/>
            <a:ext cx="1066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6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Rubric judge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8AA1D5-5B7E-4278-8AEB-1B9568FC3FEF}"/>
              </a:ext>
            </a:extLst>
          </p:cNvPr>
          <p:cNvSpPr>
            <a:spLocks noGrp="1"/>
          </p:cNvSpPr>
          <p:nvPr/>
        </p:nvSpPr>
        <p:spPr>
          <a:xfrm>
            <a:off x="4495800" y="2324100"/>
            <a:ext cx="2286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B65D3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B65D3B"/>
                </a:solidFill>
                <a:latin typeface="PingFang SC"/>
                <a:ea typeface="PingFang SC"/>
                <a:cs typeface="PingFang SC"/>
              </a:rPr>
              <a:t>gpt-4.1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9A07854-6B48-4224-94C5-2F5B0D8E21AD}"/>
              </a:ext>
            </a:extLst>
          </p:cNvPr>
          <p:cNvSpPr>
            <a:spLocks noGrp="1"/>
          </p:cNvSpPr>
          <p:nvPr/>
        </p:nvSpPr>
        <p:spPr>
          <a:xfrm>
            <a:off x="4495800" y="2905125"/>
            <a:ext cx="2476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第一版 judge：用同一 rubric 给 clinician 和 agent output 评分。结果显著，但与 generator 同模型，存在偏好 agent 输出风格的风险。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E2EDBA-B728-4321-BD83-5A97C6D0C0CA}"/>
              </a:ext>
            </a:extLst>
          </p:cNvPr>
          <p:cNvSpPr>
            <a:spLocks noGrp="1"/>
          </p:cNvSpPr>
          <p:nvPr/>
        </p:nvSpPr>
        <p:spPr>
          <a:xfrm>
            <a:off x="7810500" y="1638300"/>
            <a:ext cx="3048000" cy="2952750"/>
          </a:xfrm>
          <a:prstGeom prst="rect">
            <a:avLst/>
          </a:prstGeom>
          <a:solidFill>
            <a:srgbClr val="FFFFFF"/>
          </a:solidFill>
          <a:ln w="19050">
            <a:solidFill>
              <a:srgbClr val="2F7D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8424D3-C2C8-4468-A573-1ADA8FF383BD}"/>
              </a:ext>
            </a:extLst>
          </p:cNvPr>
          <p:cNvSpPr>
            <a:spLocks noGrp="1"/>
          </p:cNvSpPr>
          <p:nvPr/>
        </p:nvSpPr>
        <p:spPr>
          <a:xfrm>
            <a:off x="8020050" y="1885950"/>
            <a:ext cx="1219200" cy="247650"/>
          </a:xfrm>
          <a:prstGeom prst="rect">
            <a:avLst/>
          </a:prstGeom>
          <a:solidFill>
            <a:srgbClr val="2F7D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0D7D00-1A7F-4CF6-A23A-C9FF656D772E}"/>
              </a:ext>
            </a:extLst>
          </p:cNvPr>
          <p:cNvSpPr>
            <a:spLocks noGrp="1"/>
          </p:cNvSpPr>
          <p:nvPr/>
        </p:nvSpPr>
        <p:spPr>
          <a:xfrm>
            <a:off x="8096250" y="1933575"/>
            <a:ext cx="1066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6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Sensitivity judge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92CF3CD-6EEE-4BFC-912B-BBD859B5ADD1}"/>
              </a:ext>
            </a:extLst>
          </p:cNvPr>
          <p:cNvSpPr>
            <a:spLocks noGrp="1"/>
          </p:cNvSpPr>
          <p:nvPr/>
        </p:nvSpPr>
        <p:spPr>
          <a:xfrm>
            <a:off x="8020050" y="2324100"/>
            <a:ext cx="2286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F7D62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F7D62"/>
                </a:solidFill>
                <a:latin typeface="PingFang SC"/>
                <a:ea typeface="PingFang SC"/>
                <a:cs typeface="PingFang SC"/>
              </a:rPr>
              <a:t>gpt-4o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4EABD3-96A2-4A0B-B288-185652C8ABA5}"/>
              </a:ext>
            </a:extLst>
          </p:cNvPr>
          <p:cNvSpPr>
            <a:spLocks noGrp="1"/>
          </p:cNvSpPr>
          <p:nvPr/>
        </p:nvSpPr>
        <p:spPr>
          <a:xfrm>
            <a:off x="8020050" y="2905125"/>
            <a:ext cx="2476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后续敏感性 judge：同样给 397 paired examples 打分。gap 从 +0.263 缩到 +0.189，用作 Phase 5 主 ground truth。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9BDFA45-B01B-4068-9799-9674974448AC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02955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5C869CF2-A518-48A5-9101-ECB8CA4811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6A98B5-5FA6-4F39-8552-737A0EDDE6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14E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F45510-9A77-409C-A91C-A1691A62DD65}"/>
              </a:ext>
            </a:extLst>
          </p:cNvPr>
          <p:cNvSpPr>
            <a:spLocks noGrp="1"/>
          </p:cNvSpPr>
          <p:nvPr/>
        </p:nvSpPr>
        <p:spPr>
          <a:xfrm>
            <a:off x="552450" y="257175"/>
            <a:ext cx="95250" cy="95250"/>
          </a:xfrm>
          <a:prstGeom prst="rect">
            <a:avLst/>
          </a:prstGeom>
          <a:solidFill>
            <a:srgbClr val="B65D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FEB20A-437F-46C1-80D4-EB0B946A8019}"/>
              </a:ext>
            </a:extLst>
          </p:cNvPr>
          <p:cNvSpPr>
            <a:spLocks noGrp="1"/>
          </p:cNvSpPr>
          <p:nvPr/>
        </p:nvSpPr>
        <p:spPr>
          <a:xfrm>
            <a:off x="723900" y="228600"/>
            <a:ext cx="304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B65D3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B65D3B"/>
                </a:solidFill>
                <a:latin typeface="PingFang SC"/>
                <a:ea typeface="PingFang SC"/>
                <a:cs typeface="PingFang SC"/>
              </a:rPr>
              <a:t>PHASE 3 RESULT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196547-5F0A-4A0C-BDAA-DD2C43FF8568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03822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Ground truth 已构造：agent effect 为正，但 judge choice 会改变幅度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AEEED1-E013-49EA-9B5B-8FF49D30CFC8}"/>
              </a:ext>
            </a:extLst>
          </p:cNvPr>
          <p:cNvSpPr>
            <a:spLocks noGrp="1"/>
          </p:cNvSpPr>
          <p:nvPr/>
        </p:nvSpPr>
        <p:spPr>
          <a:xfrm>
            <a:off x="571500" y="1057275"/>
            <a:ext cx="990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这就是为什么 Phase 3 把 model role 和 sensitivity 写清楚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CABD26-0085-4FFC-8480-0EC79D86B61B}"/>
              </a:ext>
            </a:extLst>
          </p:cNvPr>
          <p:cNvSpPr>
            <a:spLocks noGrp="1"/>
          </p:cNvSpPr>
          <p:nvPr/>
        </p:nvSpPr>
        <p:spPr>
          <a:xfrm>
            <a:off x="552450" y="1371600"/>
            <a:ext cx="11049000" cy="19050"/>
          </a:xfrm>
          <a:prstGeom prst="rect">
            <a:avLst/>
          </a:prstGeom>
          <a:solidFill>
            <a:srgbClr val="E7E1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5F5B50-A21F-4474-9BE7-66846156B665}"/>
              </a:ext>
            </a:extLst>
          </p:cNvPr>
          <p:cNvSpPr>
            <a:spLocks noGrp="1"/>
          </p:cNvSpPr>
          <p:nvPr/>
        </p:nvSpPr>
        <p:spPr>
          <a:xfrm>
            <a:off x="952500" y="1428750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V_true comparison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89C4FF-9536-47DE-A7F6-0EF03F55640F}"/>
              </a:ext>
            </a:extLst>
          </p:cNvPr>
          <p:cNvSpPr>
            <a:spLocks noGrp="1"/>
          </p:cNvSpPr>
          <p:nvPr/>
        </p:nvSpPr>
        <p:spPr>
          <a:xfrm>
            <a:off x="2000250" y="2605811"/>
            <a:ext cx="533400" cy="1775689"/>
          </a:xfrm>
          <a:prstGeom prst="rect">
            <a:avLst/>
          </a:prstGeom>
          <a:solidFill>
            <a:srgbClr val="2F6F9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4F59CB-D5DF-4FE9-BFDA-DCFA54F4AD8A}"/>
              </a:ext>
            </a:extLst>
          </p:cNvPr>
          <p:cNvSpPr>
            <a:spLocks noGrp="1"/>
          </p:cNvSpPr>
          <p:nvPr/>
        </p:nvSpPr>
        <p:spPr>
          <a:xfrm>
            <a:off x="2667000" y="1904124"/>
            <a:ext cx="533400" cy="2477376"/>
          </a:xfrm>
          <a:prstGeom prst="rect">
            <a:avLst/>
          </a:prstGeom>
          <a:solidFill>
            <a:srgbClr val="2F7D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9743D1-B5D8-4B1B-B0A5-4F9DDCE064BD}"/>
              </a:ext>
            </a:extLst>
          </p:cNvPr>
          <p:cNvSpPr>
            <a:spLocks noGrp="1"/>
          </p:cNvSpPr>
          <p:nvPr/>
        </p:nvSpPr>
        <p:spPr>
          <a:xfrm>
            <a:off x="1943100" y="2377211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2F6F9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F6F9F"/>
                </a:solidFill>
                <a:latin typeface="PingFang SC"/>
                <a:ea typeface="PingFang SC"/>
                <a:cs typeface="PingFang SC"/>
              </a:rPr>
              <a:t>0.666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9DB28E-1831-4650-B6AA-C4D23C7AB49E}"/>
              </a:ext>
            </a:extLst>
          </p:cNvPr>
          <p:cNvSpPr>
            <a:spLocks noGrp="1"/>
          </p:cNvSpPr>
          <p:nvPr/>
        </p:nvSpPr>
        <p:spPr>
          <a:xfrm>
            <a:off x="2590800" y="1675524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2F7D62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F7D62"/>
                </a:solidFill>
                <a:latin typeface="PingFang SC"/>
                <a:ea typeface="PingFang SC"/>
                <a:cs typeface="PingFang SC"/>
              </a:rPr>
              <a:t>0.929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826B44-08CD-4966-A6F0-EAB45D282A50}"/>
              </a:ext>
            </a:extLst>
          </p:cNvPr>
          <p:cNvSpPr>
            <a:spLocks noGrp="1"/>
          </p:cNvSpPr>
          <p:nvPr/>
        </p:nvSpPr>
        <p:spPr>
          <a:xfrm>
            <a:off x="1676400" y="45529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gpt-4.1 judge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C959B5-F9D8-476D-BB4C-15000EB02284}"/>
              </a:ext>
            </a:extLst>
          </p:cNvPr>
          <p:cNvSpPr>
            <a:spLocks noGrp="1"/>
          </p:cNvSpPr>
          <p:nvPr/>
        </p:nvSpPr>
        <p:spPr>
          <a:xfrm>
            <a:off x="1828800" y="4819650"/>
            <a:ext cx="1333500" cy="228600"/>
          </a:xfrm>
          <a:prstGeom prst="rect">
            <a:avLst/>
          </a:prstGeom>
          <a:solidFill>
            <a:srgbClr val="B65D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C4D532-0D05-4116-BDA8-7B84A3D9302A}"/>
              </a:ext>
            </a:extLst>
          </p:cNvPr>
          <p:cNvSpPr>
            <a:spLocks noGrp="1"/>
          </p:cNvSpPr>
          <p:nvPr/>
        </p:nvSpPr>
        <p:spPr>
          <a:xfrm>
            <a:off x="1905000" y="4867275"/>
            <a:ext cx="11811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effect +0.2631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BE510D-6E96-4975-99A7-17E01909A6C9}"/>
              </a:ext>
            </a:extLst>
          </p:cNvPr>
          <p:cNvSpPr>
            <a:spLocks noGrp="1"/>
          </p:cNvSpPr>
          <p:nvPr/>
        </p:nvSpPr>
        <p:spPr>
          <a:xfrm>
            <a:off x="4191000" y="2597277"/>
            <a:ext cx="533400" cy="1784223"/>
          </a:xfrm>
          <a:prstGeom prst="rect">
            <a:avLst/>
          </a:prstGeom>
          <a:solidFill>
            <a:srgbClr val="2F6F9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A1BEB68-62FC-4496-886B-2CDE984294EE}"/>
              </a:ext>
            </a:extLst>
          </p:cNvPr>
          <p:cNvSpPr>
            <a:spLocks noGrp="1"/>
          </p:cNvSpPr>
          <p:nvPr/>
        </p:nvSpPr>
        <p:spPr>
          <a:xfrm>
            <a:off x="4857750" y="2091880"/>
            <a:ext cx="533400" cy="2289620"/>
          </a:xfrm>
          <a:prstGeom prst="rect">
            <a:avLst/>
          </a:prstGeom>
          <a:solidFill>
            <a:srgbClr val="2F7D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C34F82-13B0-4F9E-8CAD-BA2541DA6625}"/>
              </a:ext>
            </a:extLst>
          </p:cNvPr>
          <p:cNvSpPr>
            <a:spLocks noGrp="1"/>
          </p:cNvSpPr>
          <p:nvPr/>
        </p:nvSpPr>
        <p:spPr>
          <a:xfrm>
            <a:off x="4133850" y="2368677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2F6F9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F6F9F"/>
                </a:solidFill>
                <a:latin typeface="PingFang SC"/>
                <a:ea typeface="PingFang SC"/>
                <a:cs typeface="PingFang SC"/>
              </a:rPr>
              <a:t>0.669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5AA6350-3899-472D-8516-567C4C09EBF3}"/>
              </a:ext>
            </a:extLst>
          </p:cNvPr>
          <p:cNvSpPr>
            <a:spLocks noGrp="1"/>
          </p:cNvSpPr>
          <p:nvPr/>
        </p:nvSpPr>
        <p:spPr>
          <a:xfrm>
            <a:off x="4781550" y="186328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2F7D62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F7D62"/>
                </a:solidFill>
                <a:latin typeface="PingFang SC"/>
                <a:ea typeface="PingFang SC"/>
                <a:cs typeface="PingFang SC"/>
              </a:rPr>
              <a:t>0.859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CE157DC-A35F-40A3-9BB3-0BACC5D1A8D4}"/>
              </a:ext>
            </a:extLst>
          </p:cNvPr>
          <p:cNvSpPr>
            <a:spLocks noGrp="1"/>
          </p:cNvSpPr>
          <p:nvPr/>
        </p:nvSpPr>
        <p:spPr>
          <a:xfrm>
            <a:off x="3867150" y="45529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gpt-4o judge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17474C9-C120-439A-9833-30767B56C2CB}"/>
              </a:ext>
            </a:extLst>
          </p:cNvPr>
          <p:cNvSpPr>
            <a:spLocks noGrp="1"/>
          </p:cNvSpPr>
          <p:nvPr/>
        </p:nvSpPr>
        <p:spPr>
          <a:xfrm>
            <a:off x="4019550" y="4819650"/>
            <a:ext cx="1333500" cy="228600"/>
          </a:xfrm>
          <a:prstGeom prst="rect">
            <a:avLst/>
          </a:prstGeom>
          <a:solidFill>
            <a:srgbClr val="2F7D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71BA00E-E3BE-429F-8A73-9EE0960DC369}"/>
              </a:ext>
            </a:extLst>
          </p:cNvPr>
          <p:cNvSpPr>
            <a:spLocks noGrp="1"/>
          </p:cNvSpPr>
          <p:nvPr/>
        </p:nvSpPr>
        <p:spPr>
          <a:xfrm>
            <a:off x="4095750" y="4867275"/>
            <a:ext cx="11811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effect +0.1895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5E15540-2D3D-42CC-901F-B9B700488EEC}"/>
              </a:ext>
            </a:extLst>
          </p:cNvPr>
          <p:cNvSpPr>
            <a:spLocks noGrp="1"/>
          </p:cNvSpPr>
          <p:nvPr/>
        </p:nvSpPr>
        <p:spPr>
          <a:xfrm>
            <a:off x="1714500" y="4381500"/>
            <a:ext cx="5048250" cy="19050"/>
          </a:xfrm>
          <a:prstGeom prst="rect">
            <a:avLst/>
          </a:prstGeom>
          <a:solidFill>
            <a:srgbClr val="D8D0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1F4F5F3-296C-4427-8EAF-9328E38D2492}"/>
              </a:ext>
            </a:extLst>
          </p:cNvPr>
          <p:cNvSpPr>
            <a:spLocks noGrp="1"/>
          </p:cNvSpPr>
          <p:nvPr/>
        </p:nvSpPr>
        <p:spPr>
          <a:xfrm>
            <a:off x="1790700" y="5219700"/>
            <a:ext cx="76200" cy="76200"/>
          </a:xfrm>
          <a:prstGeom prst="rect">
            <a:avLst/>
          </a:prstGeom>
          <a:solidFill>
            <a:srgbClr val="2F6F9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433CE64-C3D5-4B5B-8FA4-3EB957984DDE}"/>
              </a:ext>
            </a:extLst>
          </p:cNvPr>
          <p:cNvSpPr>
            <a:spLocks noGrp="1"/>
          </p:cNvSpPr>
          <p:nvPr/>
        </p:nvSpPr>
        <p:spPr>
          <a:xfrm>
            <a:off x="1924050" y="5200650"/>
            <a:ext cx="1428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clinician V(pi_b)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7403DE4-1943-4965-8BB8-A5DA583D5B33}"/>
              </a:ext>
            </a:extLst>
          </p:cNvPr>
          <p:cNvSpPr>
            <a:spLocks noGrp="1"/>
          </p:cNvSpPr>
          <p:nvPr/>
        </p:nvSpPr>
        <p:spPr>
          <a:xfrm>
            <a:off x="3810000" y="5219700"/>
            <a:ext cx="76200" cy="76200"/>
          </a:xfrm>
          <a:prstGeom prst="rect">
            <a:avLst/>
          </a:prstGeom>
          <a:solidFill>
            <a:srgbClr val="2F7D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E9A3EC2-4BCD-4850-B9DE-1B3377D43ED3}"/>
              </a:ext>
            </a:extLst>
          </p:cNvPr>
          <p:cNvSpPr>
            <a:spLocks noGrp="1"/>
          </p:cNvSpPr>
          <p:nvPr/>
        </p:nvSpPr>
        <p:spPr>
          <a:xfrm>
            <a:off x="3943350" y="5200650"/>
            <a:ext cx="1428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agent V(pi_agent)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D563EB9-88B0-44C2-AFCA-D07DB4864ECD}"/>
              </a:ext>
            </a:extLst>
          </p:cNvPr>
          <p:cNvSpPr>
            <a:spLocks noGrp="1"/>
          </p:cNvSpPr>
          <p:nvPr/>
        </p:nvSpPr>
        <p:spPr>
          <a:xfrm>
            <a:off x="7048500" y="1581150"/>
            <a:ext cx="400050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E7E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16D3294-46BD-4E79-B377-1A5053ADB755}"/>
              </a:ext>
            </a:extLst>
          </p:cNvPr>
          <p:cNvSpPr>
            <a:spLocks noGrp="1"/>
          </p:cNvSpPr>
          <p:nvPr/>
        </p:nvSpPr>
        <p:spPr>
          <a:xfrm>
            <a:off x="7334250" y="18288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B65D3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B65D3B"/>
                </a:solidFill>
                <a:latin typeface="PingFang SC"/>
                <a:ea typeface="PingFang SC"/>
                <a:cs typeface="PingFang SC"/>
              </a:rPr>
              <a:t>Interpretation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3329434-185D-40B4-9C31-5C7CAA9A7860}"/>
              </a:ext>
            </a:extLst>
          </p:cNvPr>
          <p:cNvSpPr>
            <a:spLocks noGrp="1"/>
          </p:cNvSpPr>
          <p:nvPr/>
        </p:nvSpPr>
        <p:spPr>
          <a:xfrm>
            <a:off x="7353300" y="2381250"/>
            <a:ext cx="57150" cy="57150"/>
          </a:xfrm>
          <a:prstGeom prst="rect">
            <a:avLst/>
          </a:prstGeom>
          <a:solidFill>
            <a:srgbClr val="B65D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B221C8D-FCB2-47D6-B591-A596A6F16087}"/>
              </a:ext>
            </a:extLst>
          </p:cNvPr>
          <p:cNvSpPr>
            <a:spLocks noGrp="1"/>
          </p:cNvSpPr>
          <p:nvPr/>
        </p:nvSpPr>
        <p:spPr>
          <a:xfrm>
            <a:off x="7486650" y="2305050"/>
            <a:ext cx="3105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两个 judge 都给出正向且统计显著的 agent effect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8B66803-8004-45DD-AA32-2D8E057CD341}"/>
              </a:ext>
            </a:extLst>
          </p:cNvPr>
          <p:cNvSpPr>
            <a:spLocks noGrp="1"/>
          </p:cNvSpPr>
          <p:nvPr/>
        </p:nvSpPr>
        <p:spPr>
          <a:xfrm>
            <a:off x="7353300" y="2914650"/>
            <a:ext cx="57150" cy="57150"/>
          </a:xfrm>
          <a:prstGeom prst="rect">
            <a:avLst/>
          </a:prstGeom>
          <a:solidFill>
            <a:srgbClr val="B65D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96E1FFF-50DF-4CA7-80DA-80A99A167824}"/>
              </a:ext>
            </a:extLst>
          </p:cNvPr>
          <p:cNvSpPr>
            <a:spLocks noGrp="1"/>
          </p:cNvSpPr>
          <p:nvPr/>
        </p:nvSpPr>
        <p:spPr>
          <a:xfrm>
            <a:off x="7486650" y="2838450"/>
            <a:ext cx="3105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gpt-4o 下 effect 缩小 28%，direction rate 从 96.2% 降到 81.9%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E423D87-E416-47A1-A7E9-7D2F6E211C3E}"/>
              </a:ext>
            </a:extLst>
          </p:cNvPr>
          <p:cNvSpPr>
            <a:spLocks noGrp="1"/>
          </p:cNvSpPr>
          <p:nvPr/>
        </p:nvSpPr>
        <p:spPr>
          <a:xfrm>
            <a:off x="7353300" y="3581400"/>
            <a:ext cx="57150" cy="57150"/>
          </a:xfrm>
          <a:prstGeom prst="rect">
            <a:avLst/>
          </a:prstGeom>
          <a:solidFill>
            <a:srgbClr val="B65D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5EEDFC9-A519-4D33-ADA5-42A4E1C9816E}"/>
              </a:ext>
            </a:extLst>
          </p:cNvPr>
          <p:cNvSpPr>
            <a:spLocks noGrp="1"/>
          </p:cNvSpPr>
          <p:nvPr/>
        </p:nvSpPr>
        <p:spPr>
          <a:xfrm>
            <a:off x="7486650" y="3505200"/>
            <a:ext cx="3105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这提示 gpt-4.1 judge 可能偏好 gpt-4.1 agent 的输出风格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9FD1582-E634-411B-89B5-2EC4048AF5B0}"/>
              </a:ext>
            </a:extLst>
          </p:cNvPr>
          <p:cNvSpPr>
            <a:spLocks noGrp="1"/>
          </p:cNvSpPr>
          <p:nvPr/>
        </p:nvSpPr>
        <p:spPr>
          <a:xfrm>
            <a:off x="7353300" y="4191000"/>
            <a:ext cx="57150" cy="57150"/>
          </a:xfrm>
          <a:prstGeom prst="rect">
            <a:avLst/>
          </a:prstGeom>
          <a:solidFill>
            <a:srgbClr val="C994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6D3100A-70AB-4FF1-8CFF-D365D14718B3}"/>
              </a:ext>
            </a:extLst>
          </p:cNvPr>
          <p:cNvSpPr>
            <a:spLocks noGrp="1"/>
          </p:cNvSpPr>
          <p:nvPr/>
        </p:nvSpPr>
        <p:spPr>
          <a:xfrm>
            <a:off x="7486650" y="4114800"/>
            <a:ext cx="3105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因此 Phase 3 v1 是 rubric-judge ground truth，而非 validated clinical outcome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D47BAF0-8B27-4EBC-B5AC-14F9DEE3CA43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7905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Source: origin/main:docs/phase3_ground_truth_results.md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BC5903B-4AA7-44FC-9117-75C267E86E1F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81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6A8C5764-07E5-4A03-935F-93216EA647A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DEBE8B-39A7-451D-9913-AE7481490F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14E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512321-3167-487D-87DD-5702D2E0FEAB}"/>
              </a:ext>
            </a:extLst>
          </p:cNvPr>
          <p:cNvSpPr>
            <a:spLocks noGrp="1"/>
          </p:cNvSpPr>
          <p:nvPr/>
        </p:nvSpPr>
        <p:spPr>
          <a:xfrm>
            <a:off x="552450" y="257175"/>
            <a:ext cx="95250" cy="95250"/>
          </a:xfrm>
          <a:prstGeom prst="rect">
            <a:avLst/>
          </a:prstGeom>
          <a:solidFill>
            <a:srgbClr val="B65D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65EB9B-BC3D-4EAB-B0CE-683586F3D80E}"/>
              </a:ext>
            </a:extLst>
          </p:cNvPr>
          <p:cNvSpPr>
            <a:spLocks noGrp="1"/>
          </p:cNvSpPr>
          <p:nvPr/>
        </p:nvSpPr>
        <p:spPr>
          <a:xfrm>
            <a:off x="723900" y="228600"/>
            <a:ext cx="304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B65D3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B65D3B"/>
                </a:solidFill>
                <a:latin typeface="PingFang SC"/>
                <a:ea typeface="PingFang SC"/>
                <a:cs typeface="PingFang SC"/>
              </a:rPr>
              <a:t>HANDOFF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0661A1-DF27-4397-84CE-A24F2BA249AB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03822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Phase 1-3 交付物足以支撑 Phase 4/5；还需补临床校准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6F4707-1460-4806-8FC9-F6657F864E45}"/>
              </a:ext>
            </a:extLst>
          </p:cNvPr>
          <p:cNvSpPr>
            <a:spLocks noGrp="1"/>
          </p:cNvSpPr>
          <p:nvPr/>
        </p:nvSpPr>
        <p:spPr>
          <a:xfrm>
            <a:off x="571500" y="1057275"/>
            <a:ext cx="990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后续 estimator 实验已经有 target，但 ground truth validity 仍要诚实标注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06E326-15F9-4300-8224-C1AD5089B244}"/>
              </a:ext>
            </a:extLst>
          </p:cNvPr>
          <p:cNvSpPr>
            <a:spLocks noGrp="1"/>
          </p:cNvSpPr>
          <p:nvPr/>
        </p:nvSpPr>
        <p:spPr>
          <a:xfrm>
            <a:off x="552450" y="1371600"/>
            <a:ext cx="11049000" cy="19050"/>
          </a:xfrm>
          <a:prstGeom prst="rect">
            <a:avLst/>
          </a:prstGeom>
          <a:solidFill>
            <a:srgbClr val="E7E1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1AB6F5-BE10-4909-BF59-56580928E211}"/>
              </a:ext>
            </a:extLst>
          </p:cNvPr>
          <p:cNvSpPr>
            <a:spLocks noGrp="1"/>
          </p:cNvSpPr>
          <p:nvPr/>
        </p:nvSpPr>
        <p:spPr>
          <a:xfrm>
            <a:off x="781050" y="1600200"/>
            <a:ext cx="4762500" cy="3048000"/>
          </a:xfrm>
          <a:prstGeom prst="rect">
            <a:avLst/>
          </a:prstGeom>
          <a:solidFill>
            <a:srgbClr val="F2FBF5"/>
          </a:solidFill>
          <a:ln w="9525">
            <a:solidFill>
              <a:srgbClr val="2F7D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8E5964-185C-40C3-BF6E-668D1F365437}"/>
              </a:ext>
            </a:extLst>
          </p:cNvPr>
          <p:cNvSpPr>
            <a:spLocks noGrp="1"/>
          </p:cNvSpPr>
          <p:nvPr/>
        </p:nvSpPr>
        <p:spPr>
          <a:xfrm>
            <a:off x="1066800" y="186690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F7D62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F7D62"/>
                </a:solidFill>
                <a:latin typeface="PingFang SC"/>
                <a:ea typeface="PingFang SC"/>
                <a:cs typeface="PingFang SC"/>
              </a:rPr>
              <a:t>已完成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40B89F-C41B-47E9-89AD-00E7E2EA8C23}"/>
              </a:ext>
            </a:extLst>
          </p:cNvPr>
          <p:cNvSpPr>
            <a:spLocks noGrp="1"/>
          </p:cNvSpPr>
          <p:nvPr/>
        </p:nvSpPr>
        <p:spPr>
          <a:xfrm>
            <a:off x="1095375" y="2457450"/>
            <a:ext cx="57150" cy="57150"/>
          </a:xfrm>
          <a:prstGeom prst="rect">
            <a:avLst/>
          </a:prstGeom>
          <a:solidFill>
            <a:srgbClr val="2F7D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86268A-4E6E-4D73-9FCE-32A406E3779C}"/>
              </a:ext>
            </a:extLst>
          </p:cNvPr>
          <p:cNvSpPr>
            <a:spLocks noGrp="1"/>
          </p:cNvSpPr>
          <p:nvPr/>
        </p:nvSpPr>
        <p:spPr>
          <a:xfrm>
            <a:off x="1228725" y="2381250"/>
            <a:ext cx="3771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Phase 1: causal estimand、notation、assumptions、scope decision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03F9F2-1EC1-4105-8257-11835D00183C}"/>
              </a:ext>
            </a:extLst>
          </p:cNvPr>
          <p:cNvSpPr>
            <a:spLocks noGrp="1"/>
          </p:cNvSpPr>
          <p:nvPr/>
        </p:nvSpPr>
        <p:spPr>
          <a:xfrm>
            <a:off x="1095375" y="2971800"/>
            <a:ext cx="57150" cy="57150"/>
          </a:xfrm>
          <a:prstGeom prst="rect">
            <a:avLst/>
          </a:prstGeom>
          <a:solidFill>
            <a:srgbClr val="2F7D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1C527A-9737-45F6-B968-5180E1E1D36B}"/>
              </a:ext>
            </a:extLst>
          </p:cNvPr>
          <p:cNvSpPr>
            <a:spLocks noGrp="1"/>
          </p:cNvSpPr>
          <p:nvPr/>
        </p:nvSpPr>
        <p:spPr>
          <a:xfrm>
            <a:off x="1228725" y="2895600"/>
            <a:ext cx="3771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Phase 2: canonical dataset + freeze manifest，397 included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EF78F8-B97A-4140-B970-C7316C33C90D}"/>
              </a:ext>
            </a:extLst>
          </p:cNvPr>
          <p:cNvSpPr>
            <a:spLocks noGrp="1"/>
          </p:cNvSpPr>
          <p:nvPr/>
        </p:nvSpPr>
        <p:spPr>
          <a:xfrm>
            <a:off x="1095375" y="3486150"/>
            <a:ext cx="57150" cy="57150"/>
          </a:xfrm>
          <a:prstGeom prst="rect">
            <a:avLst/>
          </a:prstGeom>
          <a:solidFill>
            <a:srgbClr val="2F7D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C51E46-B801-42CF-B509-707845DB8608}"/>
              </a:ext>
            </a:extLst>
          </p:cNvPr>
          <p:cNvSpPr>
            <a:spLocks noGrp="1"/>
          </p:cNvSpPr>
          <p:nvPr/>
        </p:nvSpPr>
        <p:spPr>
          <a:xfrm>
            <a:off x="1228725" y="3409950"/>
            <a:ext cx="3771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Phase 3: fixed agent generation + rubric scoring + true effect + CI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6EC371-F3D8-4E61-B756-F4579FAF6C67}"/>
              </a:ext>
            </a:extLst>
          </p:cNvPr>
          <p:cNvSpPr>
            <a:spLocks noGrp="1"/>
          </p:cNvSpPr>
          <p:nvPr/>
        </p:nvSpPr>
        <p:spPr>
          <a:xfrm>
            <a:off x="1095375" y="4076700"/>
            <a:ext cx="57150" cy="57150"/>
          </a:xfrm>
          <a:prstGeom prst="rect">
            <a:avLst/>
          </a:prstGeom>
          <a:solidFill>
            <a:srgbClr val="2F7D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8DBEF3D-0138-45B7-B368-3A3B62DB1DAD}"/>
              </a:ext>
            </a:extLst>
          </p:cNvPr>
          <p:cNvSpPr>
            <a:spLocks noGrp="1"/>
          </p:cNvSpPr>
          <p:nvPr/>
        </p:nvSpPr>
        <p:spPr>
          <a:xfrm>
            <a:off x="1228725" y="4000500"/>
            <a:ext cx="3771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Judge sensitivity: gpt-4.1 vs gpt-4o 已揭示 self-preference 风险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9E6809-1839-494C-8700-452D870CC937}"/>
              </a:ext>
            </a:extLst>
          </p:cNvPr>
          <p:cNvSpPr>
            <a:spLocks noGrp="1"/>
          </p:cNvSpPr>
          <p:nvPr/>
        </p:nvSpPr>
        <p:spPr>
          <a:xfrm>
            <a:off x="6381750" y="1600200"/>
            <a:ext cx="4286250" cy="3238500"/>
          </a:xfrm>
          <a:prstGeom prst="rect">
            <a:avLst/>
          </a:prstGeom>
          <a:solidFill>
            <a:srgbClr val="FFF8EC"/>
          </a:solidFill>
          <a:ln w="9525">
            <a:solidFill>
              <a:srgbClr val="C994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24927-D37B-492E-8AA5-0568523661D7}"/>
              </a:ext>
            </a:extLst>
          </p:cNvPr>
          <p:cNvSpPr>
            <a:spLocks noGrp="1"/>
          </p:cNvSpPr>
          <p:nvPr/>
        </p:nvSpPr>
        <p:spPr>
          <a:xfrm>
            <a:off x="6667500" y="18669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B65D3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B65D3B"/>
                </a:solidFill>
                <a:latin typeface="PingFang SC"/>
                <a:ea typeface="PingFang SC"/>
                <a:cs typeface="PingFang SC"/>
              </a:rPr>
              <a:t>仍需补证据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2CC91C9-F434-4C9D-98EE-501E08E4307A}"/>
              </a:ext>
            </a:extLst>
          </p:cNvPr>
          <p:cNvSpPr>
            <a:spLocks noGrp="1"/>
          </p:cNvSpPr>
          <p:nvPr/>
        </p:nvSpPr>
        <p:spPr>
          <a:xfrm>
            <a:off x="6686550" y="2457450"/>
            <a:ext cx="57150" cy="57150"/>
          </a:xfrm>
          <a:prstGeom prst="rect">
            <a:avLst/>
          </a:prstGeom>
          <a:solidFill>
            <a:srgbClr val="C994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643FC95-7833-4671-8F01-A598DF77E66E}"/>
              </a:ext>
            </a:extLst>
          </p:cNvPr>
          <p:cNvSpPr>
            <a:spLocks noGrp="1"/>
          </p:cNvSpPr>
          <p:nvPr/>
        </p:nvSpPr>
        <p:spPr>
          <a:xfrm>
            <a:off x="6819900" y="2381250"/>
            <a:ext cx="334327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100-case human clinical calibration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1713872-A0FA-4E7A-920D-8FC44289EC90}"/>
              </a:ext>
            </a:extLst>
          </p:cNvPr>
          <p:cNvSpPr>
            <a:spLocks noGrp="1"/>
          </p:cNvSpPr>
          <p:nvPr/>
        </p:nvSpPr>
        <p:spPr>
          <a:xfrm>
            <a:off x="6686550" y="2990850"/>
            <a:ext cx="57150" cy="57150"/>
          </a:xfrm>
          <a:prstGeom prst="rect">
            <a:avLst/>
          </a:prstGeom>
          <a:solidFill>
            <a:srgbClr val="C994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68C430E-5F94-4F00-B50A-DFF6EE4EBCCB}"/>
              </a:ext>
            </a:extLst>
          </p:cNvPr>
          <p:cNvSpPr>
            <a:spLocks noGrp="1"/>
          </p:cNvSpPr>
          <p:nvPr/>
        </p:nvSpPr>
        <p:spPr>
          <a:xfrm>
            <a:off x="6819900" y="2914650"/>
            <a:ext cx="334327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Spearman correlation with LLM judge；阈值 &lt; 0.70 则改 rubric / judge / task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037B611-E064-45E8-B03A-5ACD44A6DDC3}"/>
              </a:ext>
            </a:extLst>
          </p:cNvPr>
          <p:cNvSpPr>
            <a:spLocks noGrp="1"/>
          </p:cNvSpPr>
          <p:nvPr/>
        </p:nvSpPr>
        <p:spPr>
          <a:xfrm>
            <a:off x="6686550" y="3695700"/>
            <a:ext cx="57150" cy="57150"/>
          </a:xfrm>
          <a:prstGeom prst="rect">
            <a:avLst/>
          </a:prstGeom>
          <a:solidFill>
            <a:srgbClr val="C994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16ECC3D-680B-4F53-AA2A-61FB06A37B2F}"/>
              </a:ext>
            </a:extLst>
          </p:cNvPr>
          <p:cNvSpPr>
            <a:spLocks noGrp="1"/>
          </p:cNvSpPr>
          <p:nvPr/>
        </p:nvSpPr>
        <p:spPr>
          <a:xfrm>
            <a:off x="6819900" y="3619500"/>
            <a:ext cx="334327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把 main 上 Phase 3 result report 同步进当前 feature 分支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421020A-3B12-410A-9844-C5A28FD14C1A}"/>
              </a:ext>
            </a:extLst>
          </p:cNvPr>
          <p:cNvSpPr>
            <a:spLocks noGrp="1"/>
          </p:cNvSpPr>
          <p:nvPr/>
        </p:nvSpPr>
        <p:spPr>
          <a:xfrm>
            <a:off x="6686550" y="4267200"/>
            <a:ext cx="57150" cy="57150"/>
          </a:xfrm>
          <a:prstGeom prst="rect">
            <a:avLst/>
          </a:prstGeom>
          <a:solidFill>
            <a:srgbClr val="C994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ED3190-163B-4200-A7BE-BF4BD3FE22B9}"/>
              </a:ext>
            </a:extLst>
          </p:cNvPr>
          <p:cNvSpPr>
            <a:spLocks noGrp="1"/>
          </p:cNvSpPr>
          <p:nvPr/>
        </p:nvSpPr>
        <p:spPr>
          <a:xfrm>
            <a:off x="6819900" y="4191000"/>
            <a:ext cx="334327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README 更新为 Phase 1-5 状态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EB08925-B438-4876-A410-E715643DEDA1}"/>
              </a:ext>
            </a:extLst>
          </p:cNvPr>
          <p:cNvSpPr>
            <a:spLocks noGrp="1"/>
          </p:cNvSpPr>
          <p:nvPr/>
        </p:nvSpPr>
        <p:spPr>
          <a:xfrm>
            <a:off x="1085850" y="5105400"/>
            <a:ext cx="93345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7E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D3F31A6-2E64-4422-9118-FC43D4872C16}"/>
              </a:ext>
            </a:extLst>
          </p:cNvPr>
          <p:cNvSpPr>
            <a:spLocks noGrp="1"/>
          </p:cNvSpPr>
          <p:nvPr/>
        </p:nvSpPr>
        <p:spPr>
          <a:xfrm>
            <a:off x="1333500" y="5267325"/>
            <a:ext cx="8667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10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110" b="1" dirty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Phase 1-3 </a:t>
            </a:r>
            <a:r>
              <a:rPr sz="1110" b="1" dirty="0" err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已完成</a:t>
            </a:r>
            <a:r>
              <a:rPr sz="1110" b="1" dirty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 automated benchmark </a:t>
            </a:r>
            <a:r>
              <a:rPr sz="1110" b="1" dirty="0" err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construction；当前结论应称为</a:t>
            </a:r>
            <a:r>
              <a:rPr sz="1110" b="1" dirty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 rubric-judge ground </a:t>
            </a:r>
            <a:r>
              <a:rPr sz="1110" b="1" dirty="0" err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truth，临床</a:t>
            </a:r>
            <a:r>
              <a:rPr sz="1110" b="1" dirty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 validated ground truth </a:t>
            </a:r>
            <a:r>
              <a:rPr sz="1110" b="1" dirty="0" err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需要专业人工校准后才能声称</a:t>
            </a:r>
            <a:r>
              <a:rPr sz="1110" b="1" dirty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0E5DB97-3207-4BA2-AE77-BB4DC4AD1925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D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D6472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3826432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1054</Words>
  <Application>Microsoft Macintosh PowerPoint</Application>
  <DocSecurity>0</DocSecurity>
  <PresentationFormat>Widescreen</PresentationFormat>
  <Paragraphs>178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PingFang SC</vt:lpstr>
      <vt:lpstr>Calibri</vt:lpstr>
      <vt:lpstr>Menlo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Xin Wei</cp:lastModifiedBy>
  <cp:revision>3</cp:revision>
  <dcterms:created xsi:type="dcterms:W3CDTF">2026-05-19T06:41:27Z</dcterms:created>
  <dcterms:modified xsi:type="dcterms:W3CDTF">2026-05-19T06:52:11Z</dcterms:modified>
</cp:coreProperties>
</file>