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09F66-E947-4763-9DF2-36DE0C599A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3ADF1-F97E-41B4-804D-73C46A83D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4607C-9984-4779-A6DF-5E51EE881542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828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Counterfactual Conversation Emulation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5FAB50-78D2-4C71-A93E-0B61BD464199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DE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D9DEE8"/>
                </a:solidFill>
                <a:latin typeface="PingFang SC"/>
                <a:ea typeface="PingFang SC"/>
                <a:cs typeface="PingFang SC"/>
              </a:rPr>
              <a:t>Phase 1-3：问题形式化、数据构建、Ground Truth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CEAF0-758A-4FF1-B47D-8F735C8E9146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A6B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6B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001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E381B10-C1DC-41DC-B247-DD39457865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B61089-8514-4E46-8208-56AEA4FD02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36E13-D6B6-4ADC-9D28-23F0841F797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EXECUTIVE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0EA4C0-3FFB-4C5B-8F01-03324A493F2F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7E4F0F-8D4E-4202-865A-593CCE584EBC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1-3 </a:t>
            </a:r>
            <a:r>
              <a:rPr sz="2025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完整</a:t>
            </a:r>
            <a:r>
              <a:rPr sz="2025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benchmark </a:t>
            </a:r>
            <a:r>
              <a:rPr sz="2025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骨架</a:t>
            </a:r>
            <a:endParaRPr sz="2025" b="1" dirty="0">
              <a:solidFill>
                <a:srgbClr val="1320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67664-0B5B-4F3B-A110-27847BC04846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formalize → freeze →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A1C6C-DAA7-4779-8834-A673CAA185D6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CC96DA-6826-4062-8D9C-381D745A7F1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3048000" cy="1952625"/>
          </a:xfrm>
          <a:prstGeom prst="rect">
            <a:avLst/>
          </a:prstGeom>
          <a:solidFill>
            <a:srgbClr val="FFFFFF"/>
          </a:solidFill>
          <a:ln w="17145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C21B1-5653-4AF0-935F-84EF7C2789B7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819150" cy="2286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0447BF-2544-475B-B996-7A770E4A2480}"/>
              </a:ext>
            </a:extLst>
          </p:cNvPr>
          <p:cNvSpPr>
            <a:spLocks noGrp="1"/>
          </p:cNvSpPr>
          <p:nvPr/>
        </p:nvSpPr>
        <p:spPr>
          <a:xfrm>
            <a:off x="1000125" y="1933575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69DC3D-2F5D-470C-A4A3-CA83A0825827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问题形式化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2513D7-4120-4AE4-8C9E-54B685B54087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238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single-step contextual bandit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final output replacement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estimand / assumptions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C32DDB-8ACF-44F4-8C01-D7EE97F03293}"/>
              </a:ext>
            </a:extLst>
          </p:cNvPr>
          <p:cNvSpPr>
            <a:spLocks noGrp="1"/>
          </p:cNvSpPr>
          <p:nvPr/>
        </p:nvSpPr>
        <p:spPr>
          <a:xfrm>
            <a:off x="3833035" y="2581275"/>
            <a:ext cx="3619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810EC2-560E-4671-BB58-5D1B906F8E43}"/>
              </a:ext>
            </a:extLst>
          </p:cNvPr>
          <p:cNvSpPr>
            <a:spLocks noGrp="1"/>
          </p:cNvSpPr>
          <p:nvPr/>
        </p:nvSpPr>
        <p:spPr>
          <a:xfrm>
            <a:off x="4086511" y="24882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1A81E-83E2-47E4-A934-87DFB33BCB1A}"/>
              </a:ext>
            </a:extLst>
          </p:cNvPr>
          <p:cNvSpPr>
            <a:spLocks noGrp="1"/>
          </p:cNvSpPr>
          <p:nvPr/>
        </p:nvSpPr>
        <p:spPr>
          <a:xfrm>
            <a:off x="4267200" y="1676400"/>
            <a:ext cx="3048000" cy="1952625"/>
          </a:xfrm>
          <a:prstGeom prst="rect">
            <a:avLst/>
          </a:prstGeom>
          <a:solidFill>
            <a:srgbClr val="FFFFFF"/>
          </a:solidFill>
          <a:ln w="17145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BF7C1-2D07-470A-8196-20DEF8DB6AA0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819150" cy="22860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5B69E7-7209-4F78-A594-193C61A1A5F5}"/>
              </a:ext>
            </a:extLst>
          </p:cNvPr>
          <p:cNvSpPr>
            <a:spLocks noGrp="1"/>
          </p:cNvSpPr>
          <p:nvPr/>
        </p:nvSpPr>
        <p:spPr>
          <a:xfrm>
            <a:off x="4524375" y="1933575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F0A34D-1011-472A-80CD-5884B0E82BD9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数据构建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37C9B-E10C-4018-BFBB-0302D2BDE76A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238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public dialogue + notes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canonical D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phase2_v1 freeze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FCA3BC-D522-438A-8894-1B8598192C81}"/>
              </a:ext>
            </a:extLst>
          </p:cNvPr>
          <p:cNvSpPr>
            <a:spLocks noGrp="1"/>
          </p:cNvSpPr>
          <p:nvPr/>
        </p:nvSpPr>
        <p:spPr>
          <a:xfrm>
            <a:off x="7357285" y="2581275"/>
            <a:ext cx="3619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551F8C-C906-4490-8291-5DFB54312788}"/>
              </a:ext>
            </a:extLst>
          </p:cNvPr>
          <p:cNvSpPr>
            <a:spLocks noGrp="1"/>
          </p:cNvSpPr>
          <p:nvPr/>
        </p:nvSpPr>
        <p:spPr>
          <a:xfrm>
            <a:off x="7621769" y="24882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A5F4D6-1B73-49E7-A432-D21AD9549670}"/>
              </a:ext>
            </a:extLst>
          </p:cNvPr>
          <p:cNvSpPr>
            <a:spLocks noGrp="1"/>
          </p:cNvSpPr>
          <p:nvPr/>
        </p:nvSpPr>
        <p:spPr>
          <a:xfrm>
            <a:off x="7791450" y="1676400"/>
            <a:ext cx="3048000" cy="1952625"/>
          </a:xfrm>
          <a:prstGeom prst="rect">
            <a:avLst/>
          </a:prstGeom>
          <a:solidFill>
            <a:srgbClr val="FFFFFF"/>
          </a:solidFill>
          <a:ln w="17145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E47AE5-6E45-4C49-B070-6B96F5EE5C48}"/>
              </a:ext>
            </a:extLst>
          </p:cNvPr>
          <p:cNvSpPr>
            <a:spLocks noGrp="1"/>
          </p:cNvSpPr>
          <p:nvPr/>
        </p:nvSpPr>
        <p:spPr>
          <a:xfrm>
            <a:off x="7981950" y="1885950"/>
            <a:ext cx="819150" cy="2286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99D6E2-BBED-4CC0-984A-82A156859BDB}"/>
              </a:ext>
            </a:extLst>
          </p:cNvPr>
          <p:cNvSpPr>
            <a:spLocks noGrp="1"/>
          </p:cNvSpPr>
          <p:nvPr/>
        </p:nvSpPr>
        <p:spPr>
          <a:xfrm>
            <a:off x="8048625" y="1933575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D904F9-3272-4B81-9594-FF4FFEA7F0B5}"/>
              </a:ext>
            </a:extLst>
          </p:cNvPr>
          <p:cNvSpPr>
            <a:spLocks noGrp="1"/>
          </p:cNvSpPr>
          <p:nvPr/>
        </p:nvSpPr>
        <p:spPr>
          <a:xfrm>
            <a:off x="7981950" y="2266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Ground truth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4DC8A1-063D-42B0-A23B-2854B16B1EC9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238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fixed agent generation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rubric scoring</a:t>
            </a:r>
          </a:p>
          <a:p>
            <a:pPr algn="l">
              <a:def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true effect + CI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9B664B-56AA-46E2-B060-841773B5197B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198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2D5FFBB-5510-42CE-9430-2114EF608B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29D4E5-DB0B-4D28-8524-61EBA725C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454195-49E1-43EC-957F-9894F5F6729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PHASE 1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02E4-4BE9-4E43-A13D-150377C57947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61260-9060-4CD4-BC5D-0EBC7853F586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把医疗</a:t>
            </a:r>
            <a:r>
              <a:rPr sz="2025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sz="2025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部署问题写成</a:t>
            </a:r>
            <a:r>
              <a:rPr sz="2025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causal policy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6EDCB-EFD3-42BF-A364-4282F711BBAB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不评估整场对话，而评估最终临床输出替换</a:t>
            </a:r>
            <a:endParaRPr sz="938" b="0" dirty="0">
              <a:solidFill>
                <a:srgbClr val="5D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F7A07-1E5E-4118-9C3C-7F0F8CA836E0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47B355-7169-4059-B8B7-519CCF0B3769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2714625" cy="1009650"/>
          </a:xfrm>
          <a:prstGeom prst="rect">
            <a:avLst/>
          </a:prstGeom>
          <a:solidFill>
            <a:srgbClr val="EEF5FA"/>
          </a:solidFill>
          <a:ln w="14288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40F5E5-BA0E-471D-A94C-474B1EE29E44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Time zero: 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C3648-3BB9-45F2-A3FA-F0297D8882F2}"/>
              </a:ext>
            </a:extLst>
          </p:cNvPr>
          <p:cNvSpPr>
            <a:spLocks noGrp="1"/>
          </p:cNvSpPr>
          <p:nvPr/>
        </p:nvSpPr>
        <p:spPr>
          <a:xfrm>
            <a:off x="876301" y="2038350"/>
            <a:ext cx="1981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患者主诉、病史、对话中决策前可得信息；不含</a:t>
            </a:r>
            <a:r>
              <a:rPr sz="810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 final assessment /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3FD68-45F2-4436-B7B1-97D28F2AA87E}"/>
              </a:ext>
            </a:extLst>
          </p:cNvPr>
          <p:cNvSpPr>
            <a:spLocks noGrp="1"/>
          </p:cNvSpPr>
          <p:nvPr/>
        </p:nvSpPr>
        <p:spPr>
          <a:xfrm>
            <a:off x="3638550" y="2143125"/>
            <a:ext cx="5905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D3815-8889-4A0A-9A45-16A42470460A}"/>
              </a:ext>
            </a:extLst>
          </p:cNvPr>
          <p:cNvSpPr>
            <a:spLocks noGrp="1"/>
          </p:cNvSpPr>
          <p:nvPr/>
        </p:nvSpPr>
        <p:spPr>
          <a:xfrm>
            <a:off x="4152900" y="20503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25A18-C59A-4E02-8500-090CC6DE0EAD}"/>
              </a:ext>
            </a:extLst>
          </p:cNvPr>
          <p:cNvSpPr>
            <a:spLocks noGrp="1"/>
          </p:cNvSpPr>
          <p:nvPr/>
        </p:nvSpPr>
        <p:spPr>
          <a:xfrm>
            <a:off x="4400550" y="1666875"/>
            <a:ext cx="2714625" cy="1009650"/>
          </a:xfrm>
          <a:prstGeom prst="rect">
            <a:avLst/>
          </a:prstGeom>
          <a:solidFill>
            <a:srgbClr val="FFF2EC"/>
          </a:solidFill>
          <a:ln w="14288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CCA89-89C2-4D2A-A62A-E66D7582C75F}"/>
              </a:ext>
            </a:extLst>
          </p:cNvPr>
          <p:cNvSpPr>
            <a:spLocks noGrp="1"/>
          </p:cNvSpPr>
          <p:nvPr/>
        </p:nvSpPr>
        <p:spPr>
          <a:xfrm>
            <a:off x="4533900" y="1781175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Action: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B1DA9-71BF-4A72-A8DD-5D6E44C4EAE4}"/>
              </a:ext>
            </a:extLst>
          </p:cNvPr>
          <p:cNvSpPr>
            <a:spLocks noGrp="1"/>
          </p:cNvSpPr>
          <p:nvPr/>
        </p:nvSpPr>
        <p:spPr>
          <a:xfrm>
            <a:off x="4533900" y="2038350"/>
            <a:ext cx="24479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自由文本 diagnosis / differential + management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7D0FE2-468A-45CD-906F-1A447F51B70C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5905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93F113-CC41-4EFC-A9E7-0346167030EC}"/>
              </a:ext>
            </a:extLst>
          </p:cNvPr>
          <p:cNvSpPr>
            <a:spLocks noGrp="1"/>
          </p:cNvSpPr>
          <p:nvPr/>
        </p:nvSpPr>
        <p:spPr>
          <a:xfrm>
            <a:off x="7810500" y="20503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27C72-3599-4A91-BE08-4603ED6E765E}"/>
              </a:ext>
            </a:extLst>
          </p:cNvPr>
          <p:cNvSpPr>
            <a:spLocks noGrp="1"/>
          </p:cNvSpPr>
          <p:nvPr/>
        </p:nvSpPr>
        <p:spPr>
          <a:xfrm>
            <a:off x="8058150" y="1666875"/>
            <a:ext cx="2714625" cy="1009650"/>
          </a:xfrm>
          <a:prstGeom prst="rect">
            <a:avLst/>
          </a:prstGeom>
          <a:solidFill>
            <a:srgbClr val="EEF8F1"/>
          </a:solidFill>
          <a:ln w="14288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4E642C-DAF8-4DB3-86E1-5B33FF5B6F43}"/>
              </a:ext>
            </a:extLst>
          </p:cNvPr>
          <p:cNvSpPr>
            <a:spLocks noGrp="1"/>
          </p:cNvSpPr>
          <p:nvPr/>
        </p:nvSpPr>
        <p:spPr>
          <a:xfrm>
            <a:off x="8191500" y="1781175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Reward: 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D4FEF4-292C-498E-A19B-BD77AE601F77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24479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同一 rubric judge 输出 [0,1] clinical quality 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4561A0-E207-432A-B196-C2156C042BC3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96202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5A08DD-C412-4E92-952F-D93B00C20564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Primary estimand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ACBDD-7022-4B60-BA01-89C774D9273F}"/>
              </a:ext>
            </a:extLst>
          </p:cNvPr>
          <p:cNvSpPr>
            <a:spLocks noGrp="1"/>
          </p:cNvSpPr>
          <p:nvPr/>
        </p:nvSpPr>
        <p:spPr>
          <a:xfrm>
            <a:off x="3190875" y="3429000"/>
            <a:ext cx="638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3203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32033"/>
                </a:solidFill>
                <a:latin typeface="Menlo"/>
                <a:ea typeface="Menlo"/>
                <a:cs typeface="Menlo"/>
              </a:rPr>
              <a:t>V(pi_agent) = E_X [ E_{A ~ pi_agent(.|X)} [ q(X, A) ] 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2C44FE-04B9-4DF8-B866-F46D6BA3509C}"/>
              </a:ext>
            </a:extLst>
          </p:cNvPr>
          <p:cNvSpPr>
            <a:spLocks noGrp="1"/>
          </p:cNvSpPr>
          <p:nvPr/>
        </p:nvSpPr>
        <p:spPr>
          <a:xfrm>
            <a:off x="3190875" y="3724275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5C38"/>
                </a:solidFill>
                <a:latin typeface="Menlo"/>
                <a:ea typeface="Menlo"/>
                <a:cs typeface="Menlo"/>
              </a:defRPr>
            </a:pPr>
            <a:r>
              <a:rPr sz="1200" b="0" dirty="0">
                <a:solidFill>
                  <a:srgbClr val="B85C38"/>
                </a:solidFill>
                <a:latin typeface="Menlo"/>
                <a:ea typeface="Menlo"/>
                <a:cs typeface="Menlo"/>
              </a:rPr>
              <a:t>Delta = V(</a:t>
            </a:r>
            <a:r>
              <a:rPr sz="1200" b="0" dirty="0" err="1">
                <a:solidFill>
                  <a:srgbClr val="B85C38"/>
                </a:solidFill>
                <a:latin typeface="Menlo"/>
                <a:ea typeface="Menlo"/>
                <a:cs typeface="Menlo"/>
              </a:rPr>
              <a:t>pi_agent</a:t>
            </a:r>
            <a:r>
              <a:rPr sz="1200" b="0" dirty="0">
                <a:solidFill>
                  <a:srgbClr val="B85C38"/>
                </a:solidFill>
                <a:latin typeface="Menlo"/>
                <a:ea typeface="Menlo"/>
                <a:cs typeface="Menlo"/>
              </a:rPr>
              <a:t>) - V(</a:t>
            </a:r>
            <a:r>
              <a:rPr sz="1200" b="0" dirty="0" err="1">
                <a:solidFill>
                  <a:srgbClr val="B85C38"/>
                </a:solidFill>
                <a:latin typeface="Menlo"/>
                <a:ea typeface="Menlo"/>
                <a:cs typeface="Menlo"/>
              </a:rPr>
              <a:t>pi_b</a:t>
            </a:r>
            <a:r>
              <a:rPr sz="1200" b="0" dirty="0">
                <a:solidFill>
                  <a:srgbClr val="B85C38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6D3251-EC15-4227-AEC4-B08DA4EC1C9C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9620250" cy="762000"/>
          </a:xfrm>
          <a:prstGeom prst="rect">
            <a:avLst/>
          </a:prstGeom>
          <a:solidFill>
            <a:srgbClr val="EEF8F1"/>
          </a:solidFill>
          <a:ln w="9525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C21E8-47CA-4A5E-9262-5E867096172B}"/>
              </a:ext>
            </a:extLst>
          </p:cNvPr>
          <p:cNvSpPr>
            <a:spLocks noGrp="1"/>
          </p:cNvSpPr>
          <p:nvPr/>
        </p:nvSpPr>
        <p:spPr>
          <a:xfrm>
            <a:off x="1162050" y="46863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 err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设计</a:t>
            </a:r>
            <a:r>
              <a:rPr lang="en-US" sz="1200" b="1" dirty="0" err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原因</a:t>
            </a:r>
            <a:endParaRPr sz="1200" b="1" dirty="0">
              <a:solidFill>
                <a:srgbClr val="2C7A5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23A09-42C9-411E-88DB-3BDA73AFEC63}"/>
              </a:ext>
            </a:extLst>
          </p:cNvPr>
          <p:cNvSpPr>
            <a:spLocks noGrp="1"/>
          </p:cNvSpPr>
          <p:nvPr/>
        </p:nvSpPr>
        <p:spPr>
          <a:xfrm>
            <a:off x="2857500" y="4686300"/>
            <a:ext cx="6060589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保留</a:t>
            </a:r>
            <a:r>
              <a:rPr sz="1125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natural-language action </a:t>
            </a:r>
            <a:r>
              <a:rPr sz="1125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的方法难点，同时避开</a:t>
            </a:r>
            <a:r>
              <a:rPr sz="1125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full dialogue OPE </a:t>
            </a:r>
            <a:r>
              <a:rPr sz="1125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125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trajectory coverage </a:t>
            </a:r>
            <a:r>
              <a:rPr sz="1125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崩溃；因此</a:t>
            </a:r>
            <a:r>
              <a:rPr sz="1125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Phase 2/3 </a:t>
            </a:r>
            <a:r>
              <a:rPr sz="1125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才能落地</a:t>
            </a:r>
            <a:r>
              <a:rPr sz="1125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7C5085-DFDE-466B-99B0-D34233721662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References: Hernán &amp; Robins 2016; </a:t>
            </a:r>
            <a:r>
              <a:rPr sz="623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Dudík</a:t>
            </a:r>
            <a:r>
              <a:rPr sz="623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 et al. 2011; Jiang et al. 2021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586355-4043-42EA-A236-55A8BC7A816D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537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6A7C69B-EF6B-475B-99A2-003D3CD1B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137149-5EA3-431D-B641-012B7A582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6984A7-D804-48ED-98F6-F8D2AFE2080A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SCOPE DECISION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B696E-D132-454A-92BF-06D3FC753167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3C51F-4CF7-4C7E-9101-9CD4E09D3643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为什么 v1 不做 full multi-turn dialogue policy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53177A-5D09-430E-BC39-FF7C168E86C0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不是多轮不重要，而是 retrospective data 的 support 不够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3CC376-6443-4D63-AD75-34ADD55457F7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4AFC2-B0DF-4717-8206-4CE2CA6C6CA3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476250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D722D-471E-401D-BB27-4E0A7EEDA72D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Full dialogue MDP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C7624-4D71-4750-82FE-27C92E1A13BF}"/>
              </a:ext>
            </a:extLst>
          </p:cNvPr>
          <p:cNvSpPr>
            <a:spLocks noGrp="1"/>
          </p:cNvSpPr>
          <p:nvPr/>
        </p:nvSpPr>
        <p:spPr>
          <a:xfrm>
            <a:off x="1095375" y="257175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77F2B5-25FB-4AA4-B4D8-093B3B91BFC2}"/>
              </a:ext>
            </a:extLst>
          </p:cNvPr>
          <p:cNvSpPr>
            <a:spLocks noGrp="1"/>
          </p:cNvSpPr>
          <p:nvPr/>
        </p:nvSpPr>
        <p:spPr>
          <a:xfrm>
            <a:off x="1219200" y="2505075"/>
            <a:ext cx="373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需要覆盖 agent 诱导出的整条 dialogue trajectory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94597D-28B9-49FF-B32F-40B1CCDDA087}"/>
              </a:ext>
            </a:extLst>
          </p:cNvPr>
          <p:cNvSpPr>
            <a:spLocks noGrp="1"/>
          </p:cNvSpPr>
          <p:nvPr/>
        </p:nvSpPr>
        <p:spPr>
          <a:xfrm>
            <a:off x="1095375" y="304800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C9548-2C9D-4907-86B0-D0DEDEAEFC66}"/>
              </a:ext>
            </a:extLst>
          </p:cNvPr>
          <p:cNvSpPr>
            <a:spLocks noGrp="1"/>
          </p:cNvSpPr>
          <p:nvPr/>
        </p:nvSpPr>
        <p:spPr>
          <a:xfrm>
            <a:off x="1219200" y="2981325"/>
            <a:ext cx="373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历史数据只覆盖 human clinician trajectory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26C1B1-F317-4CE2-AA59-C96BA6FE13DA}"/>
              </a:ext>
            </a:extLst>
          </p:cNvPr>
          <p:cNvSpPr>
            <a:spLocks noGrp="1"/>
          </p:cNvSpPr>
          <p:nvPr/>
        </p:nvSpPr>
        <p:spPr>
          <a:xfrm>
            <a:off x="1095375" y="352425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FBDB5-0EE4-4BEB-AFBC-01AA9D166E82}"/>
              </a:ext>
            </a:extLst>
          </p:cNvPr>
          <p:cNvSpPr>
            <a:spLocks noGrp="1"/>
          </p:cNvSpPr>
          <p:nvPr/>
        </p:nvSpPr>
        <p:spPr>
          <a:xfrm>
            <a:off x="1219200" y="3457575"/>
            <a:ext cx="373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state-action support 很快变稀疏，OPE 方差/偏差失控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B190D6-0C02-481C-BC27-C821D6CDB3C9}"/>
              </a:ext>
            </a:extLst>
          </p:cNvPr>
          <p:cNvSpPr>
            <a:spLocks noGrp="1"/>
          </p:cNvSpPr>
          <p:nvPr/>
        </p:nvSpPr>
        <p:spPr>
          <a:xfrm>
            <a:off x="1095375" y="400050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4D4D46-B365-421A-A7F5-7AC12CE37B4E}"/>
              </a:ext>
            </a:extLst>
          </p:cNvPr>
          <p:cNvSpPr>
            <a:spLocks noGrp="1"/>
          </p:cNvSpPr>
          <p:nvPr/>
        </p:nvSpPr>
        <p:spPr>
          <a:xfrm>
            <a:off x="1219200" y="3933825"/>
            <a:ext cx="373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time zero 和 outcome 更难落地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AA6B1B-BABD-4CE1-AAE5-6D83EBFB73C8}"/>
              </a:ext>
            </a:extLst>
          </p:cNvPr>
          <p:cNvSpPr>
            <a:spLocks noGrp="1"/>
          </p:cNvSpPr>
          <p:nvPr/>
        </p:nvSpPr>
        <p:spPr>
          <a:xfrm>
            <a:off x="6334125" y="1657350"/>
            <a:ext cx="4286250" cy="3000375"/>
          </a:xfrm>
          <a:prstGeom prst="rect">
            <a:avLst/>
          </a:prstGeom>
          <a:solidFill>
            <a:srgbClr val="EEF8F1"/>
          </a:solidFill>
          <a:ln w="9525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8CED82-F5A0-4BF8-BC6E-1937EB589221}"/>
              </a:ext>
            </a:extLst>
          </p:cNvPr>
          <p:cNvSpPr>
            <a:spLocks noGrp="1"/>
          </p:cNvSpPr>
          <p:nvPr/>
        </p:nvSpPr>
        <p:spPr>
          <a:xfrm>
            <a:off x="6619875" y="1952625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Final-output replacement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9AFC58-C3A4-4370-9A93-BF4768A0DB33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5B2514-0274-469C-9C06-9E91D574223C}"/>
              </a:ext>
            </a:extLst>
          </p:cNvPr>
          <p:cNvSpPr>
            <a:spLocks noGrp="1"/>
          </p:cNvSpPr>
          <p:nvPr/>
        </p:nvSpPr>
        <p:spPr>
          <a:xfrm>
            <a:off x="6791325" y="2505075"/>
            <a:ext cx="3114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同一个 X 池子上比较 clinician vs agent final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3A5684-8217-45BC-AD9E-17239726C347}"/>
              </a:ext>
            </a:extLst>
          </p:cNvPr>
          <p:cNvSpPr>
            <a:spLocks noGrp="1"/>
          </p:cNvSpPr>
          <p:nvPr/>
        </p:nvSpPr>
        <p:spPr>
          <a:xfrm>
            <a:off x="6667500" y="3048000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464BFB-4AF4-43AE-9D11-5A701E35003E}"/>
              </a:ext>
            </a:extLst>
          </p:cNvPr>
          <p:cNvSpPr>
            <a:spLocks noGrp="1"/>
          </p:cNvSpPr>
          <p:nvPr/>
        </p:nvSpPr>
        <p:spPr>
          <a:xfrm>
            <a:off x="6791325" y="2981325"/>
            <a:ext cx="3114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action 仍然是 free-form clinical language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F43FEB-9A8A-4C3B-97DD-24B5F251ACDB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6B660-0797-4936-8E7F-38E815582FB1}"/>
              </a:ext>
            </a:extLst>
          </p:cNvPr>
          <p:cNvSpPr>
            <a:spLocks noGrp="1"/>
          </p:cNvSpPr>
          <p:nvPr/>
        </p:nvSpPr>
        <p:spPr>
          <a:xfrm>
            <a:off x="6791325" y="3457575"/>
            <a:ext cx="3114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outcome 可以用统一 rubric 连续评分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34826-B083-412E-99A2-4F53436DAB83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41F950-DBFE-4403-A2CE-4090B489C208}"/>
              </a:ext>
            </a:extLst>
          </p:cNvPr>
          <p:cNvSpPr>
            <a:spLocks noGrp="1"/>
          </p:cNvSpPr>
          <p:nvPr/>
        </p:nvSpPr>
        <p:spPr>
          <a:xfrm>
            <a:off x="6791325" y="3933825"/>
            <a:ext cx="3114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自然连接到 MIPS / OffCEM 的 embedding-space 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F6BA68-E665-4057-A11A-CD840AC0BCAF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Tradeoff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6D9B71-95FA-41D9-A14A-377E8D5624D5}"/>
              </a:ext>
            </a:extLst>
          </p:cNvPr>
          <p:cNvSpPr>
            <a:spLocks noGrp="1"/>
          </p:cNvSpPr>
          <p:nvPr/>
        </p:nvSpPr>
        <p:spPr>
          <a:xfrm>
            <a:off x="2190750" y="523875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牺牲“完整对话策略”的范围，换来可识别的 target trial、可构造的数据集、可运行的 Phase 3 ground truth。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31BC26-5B79-4462-AE50-17528A6BDD12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11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7C70E9D-445F-44CA-A74D-5A9834549B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63F0A2-1741-458C-84DF-8A7935500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0B35F-12ED-4AC7-AAFC-9895F66C9B4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PHASE 2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E087D3-C29A-4AD9-BDF9-3F8D7E85A373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F53CC-6FFE-43E5-BD5F-9CD58AC349BA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数据构建：把公开医患对话转成 canonical logged-bandit 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2F8F05-03ED-4004-8CC7-3E5444FE45C1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Phase 2 的核心是可审计的 time-zero extraction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56DD7-8C3B-439D-BA6C-A5CC32610BAA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36D90-217F-4FC1-9152-33E8D46BCCDE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2095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DFE637-D3A7-4275-A0D7-19D1B84FB4AA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Raw public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F6ED70-0BA1-4145-B682-DA1D2EAEF4FE}"/>
              </a:ext>
            </a:extLst>
          </p:cNvPr>
          <p:cNvSpPr>
            <a:spLocks noGrp="1"/>
          </p:cNvSpPr>
          <p:nvPr/>
        </p:nvSpPr>
        <p:spPr>
          <a:xfrm>
            <a:off x="819150" y="2028825"/>
            <a:ext cx="1828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ACI-Bench / MTS-Dialog /</a:t>
            </a:r>
          </a:p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PriMock57；MedDialog auxiliary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7D13A4-8662-43C3-91F5-C1E3332ED6F3}"/>
              </a:ext>
            </a:extLst>
          </p:cNvPr>
          <p:cNvSpPr>
            <a:spLocks noGrp="1"/>
          </p:cNvSpPr>
          <p:nvPr/>
        </p:nvSpPr>
        <p:spPr>
          <a:xfrm>
            <a:off x="2876550" y="2162175"/>
            <a:ext cx="4000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4DBC2-F79C-4163-AB21-4B554EF871E5}"/>
              </a:ext>
            </a:extLst>
          </p:cNvPr>
          <p:cNvSpPr>
            <a:spLocks noGrp="1"/>
          </p:cNvSpPr>
          <p:nvPr/>
        </p:nvSpPr>
        <p:spPr>
          <a:xfrm>
            <a:off x="3200400" y="20691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155911-C58C-4680-8DE2-489582780135}"/>
              </a:ext>
            </a:extLst>
          </p:cNvPr>
          <p:cNvSpPr>
            <a:spLocks noGrp="1"/>
          </p:cNvSpPr>
          <p:nvPr/>
        </p:nvSpPr>
        <p:spPr>
          <a:xfrm>
            <a:off x="3400425" y="1657350"/>
            <a:ext cx="2095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3322A4-BD61-4A21-8A05-EE5C30C6473D}"/>
              </a:ext>
            </a:extLst>
          </p:cNvPr>
          <p:cNvSpPr>
            <a:spLocks noGrp="1"/>
          </p:cNvSpPr>
          <p:nvPr/>
        </p:nvSpPr>
        <p:spPr>
          <a:xfrm>
            <a:off x="3533775" y="1771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Adapter parsing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FCC95D-6416-4249-925E-F83A21144F44}"/>
              </a:ext>
            </a:extLst>
          </p:cNvPr>
          <p:cNvSpPr>
            <a:spLocks noGrp="1"/>
          </p:cNvSpPr>
          <p:nvPr/>
        </p:nvSpPr>
        <p:spPr>
          <a:xfrm>
            <a:off x="3533775" y="2028825"/>
            <a:ext cx="1828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按 source 规则解析</a:t>
            </a:r>
          </a:p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dialogue、note、section header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23CFE-1323-4644-A7C2-4F56C648AF00}"/>
              </a:ext>
            </a:extLst>
          </p:cNvPr>
          <p:cNvSpPr>
            <a:spLocks noGrp="1"/>
          </p:cNvSpPr>
          <p:nvPr/>
        </p:nvSpPr>
        <p:spPr>
          <a:xfrm>
            <a:off x="5591175" y="2162175"/>
            <a:ext cx="4000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07E68-8A8D-4692-BE54-60CE3D259DC1}"/>
              </a:ext>
            </a:extLst>
          </p:cNvPr>
          <p:cNvSpPr>
            <a:spLocks noGrp="1"/>
          </p:cNvSpPr>
          <p:nvPr/>
        </p:nvSpPr>
        <p:spPr>
          <a:xfrm>
            <a:off x="5915025" y="20691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FDD403-EEF6-4955-A9AC-61E39F067C09}"/>
              </a:ext>
            </a:extLst>
          </p:cNvPr>
          <p:cNvSpPr>
            <a:spLocks noGrp="1"/>
          </p:cNvSpPr>
          <p:nvPr/>
        </p:nvSpPr>
        <p:spPr>
          <a:xfrm>
            <a:off x="6115050" y="1657350"/>
            <a:ext cx="2095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792713-8964-49B9-806E-763C844460C0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Leakage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55561A-6D3E-47E3-84A4-D8D463A06309}"/>
              </a:ext>
            </a:extLst>
          </p:cNvPr>
          <p:cNvSpPr>
            <a:spLocks noGrp="1"/>
          </p:cNvSpPr>
          <p:nvPr/>
        </p:nvSpPr>
        <p:spPr>
          <a:xfrm>
            <a:off x="6248400" y="2028825"/>
            <a:ext cx="1828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X 只保留 decision 前信息；</a:t>
            </a:r>
          </a:p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 从 assessment / plan 抽取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20BD6D-5AA1-407A-BDAE-93AA3BFD7819}"/>
              </a:ext>
            </a:extLst>
          </p:cNvPr>
          <p:cNvSpPr>
            <a:spLocks noGrp="1"/>
          </p:cNvSpPr>
          <p:nvPr/>
        </p:nvSpPr>
        <p:spPr>
          <a:xfrm>
            <a:off x="8305800" y="2162175"/>
            <a:ext cx="400050" cy="23813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570967-C74F-40B9-A574-59D59C5BB867}"/>
              </a:ext>
            </a:extLst>
          </p:cNvPr>
          <p:cNvSpPr>
            <a:spLocks noGrp="1"/>
          </p:cNvSpPr>
          <p:nvPr/>
        </p:nvSpPr>
        <p:spPr>
          <a:xfrm>
            <a:off x="8629650" y="2069141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D0C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D9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B4D95B-A216-427C-B7FF-0E89B2E7FE70}"/>
              </a:ext>
            </a:extLst>
          </p:cNvPr>
          <p:cNvSpPr>
            <a:spLocks noGrp="1"/>
          </p:cNvSpPr>
          <p:nvPr/>
        </p:nvSpPr>
        <p:spPr>
          <a:xfrm>
            <a:off x="8829675" y="1657350"/>
            <a:ext cx="2095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89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90E83F-0A7C-4B0F-B8A2-193B51F7AFA3}"/>
              </a:ext>
            </a:extLst>
          </p:cNvPr>
          <p:cNvSpPr>
            <a:spLocks noGrp="1"/>
          </p:cNvSpPr>
          <p:nvPr/>
        </p:nvSpPr>
        <p:spPr>
          <a:xfrm>
            <a:off x="8963025" y="1771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C8952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C8952D"/>
                </a:solidFill>
                <a:latin typeface="PingFang SC"/>
                <a:ea typeface="PingFang SC"/>
                <a:cs typeface="PingFang SC"/>
              </a:rPr>
              <a:t>Canonical 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9FFD23-07AF-4C9E-9497-F4D16F012AAE}"/>
              </a:ext>
            </a:extLst>
          </p:cNvPr>
          <p:cNvSpPr>
            <a:spLocks noGrp="1"/>
          </p:cNvSpPr>
          <p:nvPr/>
        </p:nvSpPr>
        <p:spPr>
          <a:xfrm>
            <a:off x="8963025" y="2028825"/>
            <a:ext cx="1828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example_id, X, A_clinician,</a:t>
            </a:r>
          </a:p>
          <a:p>
            <a:pPr algn="l">
              <a:def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y_score, metadata, inclusion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2B621B-0437-4120-86FF-F6C31FCBE1D3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477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C441E5-5F2C-48C6-8464-34E7489B4A7A}"/>
              </a:ext>
            </a:extLst>
          </p:cNvPr>
          <p:cNvSpPr>
            <a:spLocks noGrp="1"/>
          </p:cNvSpPr>
          <p:nvPr/>
        </p:nvSpPr>
        <p:spPr>
          <a:xfrm>
            <a:off x="1190625" y="3600450"/>
            <a:ext cx="447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14E7A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214E7A"/>
                </a:solidFill>
                <a:latin typeface="Menlo"/>
                <a:ea typeface="Menlo"/>
                <a:cs typeface="Menlo"/>
              </a:rPr>
              <a:t>D = {(X_i, A_i^b, E_i, Y_i)}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1850A0-0938-4156-8AC2-AB7B82E84778}"/>
              </a:ext>
            </a:extLst>
          </p:cNvPr>
          <p:cNvSpPr>
            <a:spLocks noGrp="1"/>
          </p:cNvSpPr>
          <p:nvPr/>
        </p:nvSpPr>
        <p:spPr>
          <a:xfrm>
            <a:off x="5905500" y="3552825"/>
            <a:ext cx="4095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E_i 先保留为空位，等 Phase 4/5 再用 embedding / cluster 填充；Y_i 在 Phase 3 由 rubric judge 统一赋值。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368562-7821-4CD8-9620-CDFAD5892EDC}"/>
              </a:ext>
            </a:extLst>
          </p:cNvPr>
          <p:cNvSpPr>
            <a:spLocks noGrp="1"/>
          </p:cNvSpPr>
          <p:nvPr/>
        </p:nvSpPr>
        <p:spPr>
          <a:xfrm>
            <a:off x="914400" y="4733925"/>
            <a:ext cx="9477375" cy="628650"/>
          </a:xfrm>
          <a:prstGeom prst="rect">
            <a:avLst/>
          </a:prstGeom>
          <a:solidFill>
            <a:srgbClr val="FFF7E8"/>
          </a:solidFill>
          <a:ln w="9525">
            <a:solidFill>
              <a:srgbClr val="C89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BF57F5-75BE-4931-8CAF-8FCE4B927EBD}"/>
              </a:ext>
            </a:extLst>
          </p:cNvPr>
          <p:cNvSpPr>
            <a:spLocks noGrp="1"/>
          </p:cNvSpPr>
          <p:nvPr/>
        </p:nvSpPr>
        <p:spPr>
          <a:xfrm>
            <a:off x="1190625" y="49530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设计原因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8C933-0241-4F43-9C0B-FA94B50F4CB8}"/>
              </a:ext>
            </a:extLst>
          </p:cNvPr>
          <p:cNvSpPr>
            <a:spLocks noGrp="1"/>
          </p:cNvSpPr>
          <p:nvPr/>
        </p:nvSpPr>
        <p:spPr>
          <a:xfrm>
            <a:off x="2476500" y="4933949"/>
            <a:ext cx="75247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公开数据集本来不是</a:t>
            </a:r>
            <a:r>
              <a:rPr sz="105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causal OPE </a:t>
            </a:r>
            <a:r>
              <a:rPr sz="105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数据；必须记录</a:t>
            </a:r>
            <a:r>
              <a:rPr sz="105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extraction_method、inclusion_status</a:t>
            </a:r>
            <a:r>
              <a:rPr sz="105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05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exclusion_reasons，保证每一行可回溯</a:t>
            </a:r>
            <a:r>
              <a:rPr sz="105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D8DFEC-2284-4A93-A84D-00A030F98C3B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049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154826D-B173-4862-BFAC-11899E5462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AEBECC-9B88-4D1E-882E-A8F28CD224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B49210-9DDE-4E7B-B948-44DDE366B19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DATA SOURCE CHOICES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83631-9B14-4CC4-B1E7-DA3E76BC0CFE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A66FF6-0C52-4CAD-86C0-2CE9E619EE13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数据源选择围绕一个原则：能否定义 X 和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F99CC-3C26-4A83-9EBA-69545F4FAD5B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3FF2A-87D1-4ED4-8D59-7A0CDDFF067E}"/>
              </a:ext>
            </a:extLst>
          </p:cNvPr>
          <p:cNvSpPr>
            <a:spLocks noGrp="1"/>
          </p:cNvSpPr>
          <p:nvPr/>
        </p:nvSpPr>
        <p:spPr>
          <a:xfrm>
            <a:off x="819150" y="1600200"/>
            <a:ext cx="9667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F7AE5-16A1-4130-89E2-F52851403E4B}"/>
              </a:ext>
            </a:extLst>
          </p:cNvPr>
          <p:cNvSpPr>
            <a:spLocks noGrp="1"/>
          </p:cNvSpPr>
          <p:nvPr/>
        </p:nvSpPr>
        <p:spPr>
          <a:xfrm>
            <a:off x="1066800" y="17335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02356-5170-4D18-B8FC-0EE880263CA9}"/>
              </a:ext>
            </a:extLst>
          </p:cNvPr>
          <p:cNvSpPr>
            <a:spLocks noGrp="1"/>
          </p:cNvSpPr>
          <p:nvPr/>
        </p:nvSpPr>
        <p:spPr>
          <a:xfrm>
            <a:off x="2952750" y="1743075"/>
            <a:ext cx="1428750" cy="20955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D56419-F4C2-4D4E-883A-91CA1F6932EA}"/>
              </a:ext>
            </a:extLst>
          </p:cNvPr>
          <p:cNvSpPr>
            <a:spLocks noGrp="1"/>
          </p:cNvSpPr>
          <p:nvPr/>
        </p:nvSpPr>
        <p:spPr>
          <a:xfrm>
            <a:off x="3019425" y="1790700"/>
            <a:ext cx="1295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Primary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D975D-1E21-4F6F-A5DD-6545505EF7CA}"/>
              </a:ext>
            </a:extLst>
          </p:cNvPr>
          <p:cNvSpPr>
            <a:spLocks noGrp="1"/>
          </p:cNvSpPr>
          <p:nvPr/>
        </p:nvSpPr>
        <p:spPr>
          <a:xfrm>
            <a:off x="4667250" y="17335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完整 encounter + clinical note；最贴近 final-output replacement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E50D4-C9C6-493F-B318-D582CF5A6704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9667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01372-5DFF-450C-85E8-F68310090C7B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E2CCA7-E1D3-4CCE-9FF0-FEEF425F07A1}"/>
              </a:ext>
            </a:extLst>
          </p:cNvPr>
          <p:cNvSpPr>
            <a:spLocks noGrp="1"/>
          </p:cNvSpPr>
          <p:nvPr/>
        </p:nvSpPr>
        <p:spPr>
          <a:xfrm>
            <a:off x="2952750" y="2428875"/>
            <a:ext cx="1428750" cy="20955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FD738D-FDF7-4CA8-B4B8-DFABAED8C691}"/>
              </a:ext>
            </a:extLst>
          </p:cNvPr>
          <p:cNvSpPr>
            <a:spLocks noGrp="1"/>
          </p:cNvSpPr>
          <p:nvPr/>
        </p:nvSpPr>
        <p:spPr>
          <a:xfrm>
            <a:off x="3019425" y="2476500"/>
            <a:ext cx="1295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Primary / scale-up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CBEB1-1445-4C3E-BBC9-4ED3BF14C9DE}"/>
              </a:ext>
            </a:extLst>
          </p:cNvPr>
          <p:cNvSpPr>
            <a:spLocks noGrp="1"/>
          </p:cNvSpPr>
          <p:nvPr/>
        </p:nvSpPr>
        <p:spPr>
          <a:xfrm>
            <a:off x="4667250" y="24193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dialogue-note snippet；section header 适合 action-section filtering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BEED5D-2A00-4921-B81D-1BE71FBE602E}"/>
              </a:ext>
            </a:extLst>
          </p:cNvPr>
          <p:cNvSpPr>
            <a:spLocks noGrp="1"/>
          </p:cNvSpPr>
          <p:nvPr/>
        </p:nvSpPr>
        <p:spPr>
          <a:xfrm>
            <a:off x="819150" y="2971800"/>
            <a:ext cx="9667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95E2F-85E9-4486-B642-3D6D801CBB5C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C8952D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C8952D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FC0988-EC6F-4961-89B7-75DE87CBC1C8}"/>
              </a:ext>
            </a:extLst>
          </p:cNvPr>
          <p:cNvSpPr>
            <a:spLocks noGrp="1"/>
          </p:cNvSpPr>
          <p:nvPr/>
        </p:nvSpPr>
        <p:spPr>
          <a:xfrm>
            <a:off x="2952750" y="3114675"/>
            <a:ext cx="1428750" cy="209550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22918E-6171-4C4E-A0CA-D9A242C7E060}"/>
              </a:ext>
            </a:extLst>
          </p:cNvPr>
          <p:cNvSpPr>
            <a:spLocks noGrp="1"/>
          </p:cNvSpPr>
          <p:nvPr/>
        </p:nvSpPr>
        <p:spPr>
          <a:xfrm>
            <a:off x="3019425" y="3162300"/>
            <a:ext cx="1295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Smoke 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7AB3AE-1604-49FA-8EFF-43188E09B341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小而干净，有 transcripts + notes；适合 parser sanity check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A94868-B492-40A3-8059-B3D0236890DC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9667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079068-2D4E-4A5E-BFD4-69B002FDC8F8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MedDialog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A3362C-1BA1-47BE-B966-1794BC17366C}"/>
              </a:ext>
            </a:extLst>
          </p:cNvPr>
          <p:cNvSpPr>
            <a:spLocks noGrp="1"/>
          </p:cNvSpPr>
          <p:nvPr/>
        </p:nvSpPr>
        <p:spPr>
          <a:xfrm>
            <a:off x="2952750" y="3800475"/>
            <a:ext cx="1428750" cy="20955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F37434-7F93-4B59-AE3B-1F5478B13A08}"/>
              </a:ext>
            </a:extLst>
          </p:cNvPr>
          <p:cNvSpPr>
            <a:spLocks noGrp="1"/>
          </p:cNvSpPr>
          <p:nvPr/>
        </p:nvSpPr>
        <p:spPr>
          <a:xfrm>
            <a:off x="3019425" y="3848100"/>
            <a:ext cx="1295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Auxiliary only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A9E08-9644-40AE-923D-8342B83CB600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规模大但缺 clinician note；无法直接得到 assessment + plan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94FDF-89E0-48F1-9C5C-130F2AE438B4}"/>
              </a:ext>
            </a:extLst>
          </p:cNvPr>
          <p:cNvSpPr>
            <a:spLocks noGrp="1"/>
          </p:cNvSpPr>
          <p:nvPr/>
        </p:nvSpPr>
        <p:spPr>
          <a:xfrm>
            <a:off x="904875" y="4619625"/>
            <a:ext cx="9429750" cy="685800"/>
          </a:xfrm>
          <a:prstGeom prst="rect">
            <a:avLst/>
          </a:prstGeom>
          <a:solidFill>
            <a:srgbClr val="FFF7E8"/>
          </a:solidFill>
          <a:ln w="9525">
            <a:solidFill>
              <a:srgbClr val="C89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82A5C1-245A-437C-85DB-3F98DB292045}"/>
              </a:ext>
            </a:extLst>
          </p:cNvPr>
          <p:cNvSpPr>
            <a:spLocks noGrp="1"/>
          </p:cNvSpPr>
          <p:nvPr/>
        </p:nvSpPr>
        <p:spPr>
          <a:xfrm>
            <a:off x="1162050" y="485775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Leakage rule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D32551-C67C-405A-93D1-D37578D909D3}"/>
              </a:ext>
            </a:extLst>
          </p:cNvPr>
          <p:cNvSpPr>
            <a:spLocks noGrp="1"/>
          </p:cNvSpPr>
          <p:nvPr/>
        </p:nvSpPr>
        <p:spPr>
          <a:xfrm>
            <a:off x="2714625" y="4800600"/>
            <a:ext cx="709612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X_i 不能包含 clinician 决策后信息；final diagnosis / assessment / management plan 只能进入 A_i^b，不能泄漏到 X_i。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08DDBB-32CB-4B5E-BD55-2D8AD848F5C7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947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0A3D942B-2C80-475B-8F5F-AF2725E60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6636CE-ACA7-4711-BA1B-03F6000A6F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243DAC-8468-491B-B2EB-6BE7A0B483E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PHASE 2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10359-695E-4F7B-B58D-2214F7242BC4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F7B7D-6468-4424-9AEB-0A907D746E11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2 产物已冻结：397 included examples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C1717-A62E-448B-8B88-01A4F6712FD8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freeze manifest 记录 hash、source counts、split counts 和 reproduction command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33E9EF-B29D-433C-AD6A-C82BE6B6EA51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6B93A-0BF8-4CD4-A4F8-34BFD14862EB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04928A-0F2C-409A-AAB7-3CDD4F64D12B}"/>
              </a:ext>
            </a:extLst>
          </p:cNvPr>
          <p:cNvSpPr>
            <a:spLocks noGrp="1"/>
          </p:cNvSpPr>
          <p:nvPr/>
        </p:nvSpPr>
        <p:spPr>
          <a:xfrm>
            <a:off x="923925" y="16383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397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4F0F8-1609-4734-AF5F-D3F07150C2BF}"/>
              </a:ext>
            </a:extLst>
          </p:cNvPr>
          <p:cNvSpPr>
            <a:spLocks noGrp="1"/>
          </p:cNvSpPr>
          <p:nvPr/>
        </p:nvSpPr>
        <p:spPr>
          <a:xfrm>
            <a:off x="923925" y="1990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total included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367FA-F033-4470-849B-6E1700EDEF9A}"/>
              </a:ext>
            </a:extLst>
          </p:cNvPr>
          <p:cNvSpPr>
            <a:spLocks noGrp="1"/>
          </p:cNvSpPr>
          <p:nvPr/>
        </p:nvSpPr>
        <p:spPr>
          <a:xfrm>
            <a:off x="2781300" y="15430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D6ED64-A808-4267-923B-11C027AE0C3D}"/>
              </a:ext>
            </a:extLst>
          </p:cNvPr>
          <p:cNvSpPr>
            <a:spLocks noGrp="1"/>
          </p:cNvSpPr>
          <p:nvPr/>
        </p:nvSpPr>
        <p:spPr>
          <a:xfrm>
            <a:off x="2924175" y="16383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207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7079C2-7773-4B07-A60B-B78ABE505826}"/>
              </a:ext>
            </a:extLst>
          </p:cNvPr>
          <p:cNvSpPr>
            <a:spLocks noGrp="1"/>
          </p:cNvSpPr>
          <p:nvPr/>
        </p:nvSpPr>
        <p:spPr>
          <a:xfrm>
            <a:off x="2924175" y="1990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F82B70-212B-487F-8252-F7C065D281E4}"/>
              </a:ext>
            </a:extLst>
          </p:cNvPr>
          <p:cNvSpPr>
            <a:spLocks noGrp="1"/>
          </p:cNvSpPr>
          <p:nvPr/>
        </p:nvSpPr>
        <p:spPr>
          <a:xfrm>
            <a:off x="4781550" y="15430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251C3-B91A-4E81-8861-D8E21B3F043F}"/>
              </a:ext>
            </a:extLst>
          </p:cNvPr>
          <p:cNvSpPr>
            <a:spLocks noGrp="1"/>
          </p:cNvSpPr>
          <p:nvPr/>
        </p:nvSpPr>
        <p:spPr>
          <a:xfrm>
            <a:off x="4924425" y="16383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142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FF3AA-757C-4791-BBA9-04E51E810C84}"/>
              </a:ext>
            </a:extLst>
          </p:cNvPr>
          <p:cNvSpPr>
            <a:spLocks noGrp="1"/>
          </p:cNvSpPr>
          <p:nvPr/>
        </p:nvSpPr>
        <p:spPr>
          <a:xfrm>
            <a:off x="4924425" y="1990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DFF60C-5F56-4723-BF20-D581A2ABF175}"/>
              </a:ext>
            </a:extLst>
          </p:cNvPr>
          <p:cNvSpPr>
            <a:spLocks noGrp="1"/>
          </p:cNvSpPr>
          <p:nvPr/>
        </p:nvSpPr>
        <p:spPr>
          <a:xfrm>
            <a:off x="6781800" y="15430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611A56-DA37-492F-ADEB-9B46DF0713BB}"/>
              </a:ext>
            </a:extLst>
          </p:cNvPr>
          <p:cNvSpPr>
            <a:spLocks noGrp="1"/>
          </p:cNvSpPr>
          <p:nvPr/>
        </p:nvSpPr>
        <p:spPr>
          <a:xfrm>
            <a:off x="6924675" y="16383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8952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8952D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C8CC7A-F8AA-450D-B78C-F51758281B2F}"/>
              </a:ext>
            </a:extLst>
          </p:cNvPr>
          <p:cNvSpPr>
            <a:spLocks noGrp="1"/>
          </p:cNvSpPr>
          <p:nvPr/>
        </p:nvSpPr>
        <p:spPr>
          <a:xfrm>
            <a:off x="6924675" y="1990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55391-CA6F-4641-858E-1DC7F06AECF1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Source mix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6B31F9-59A7-472E-AAB9-5F1CF0831545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C48446-C827-487B-8BE5-364A0DCE16ED}"/>
              </a:ext>
            </a:extLst>
          </p:cNvPr>
          <p:cNvSpPr>
            <a:spLocks noGrp="1"/>
          </p:cNvSpPr>
          <p:nvPr/>
        </p:nvSpPr>
        <p:spPr>
          <a:xfrm>
            <a:off x="2857500" y="3076575"/>
            <a:ext cx="371475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84675A-4332-47BA-A29A-3E355E6BD0B9}"/>
              </a:ext>
            </a:extLst>
          </p:cNvPr>
          <p:cNvSpPr>
            <a:spLocks noGrp="1"/>
          </p:cNvSpPr>
          <p:nvPr/>
        </p:nvSpPr>
        <p:spPr>
          <a:xfrm>
            <a:off x="2857500" y="3076575"/>
            <a:ext cx="3714750" cy="114300"/>
          </a:xfrm>
          <a:prstGeom prst="rect">
            <a:avLst/>
          </a:prstGeom>
          <a:solidFill>
            <a:srgbClr val="3278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9C8FFE-B1F8-4908-B1F1-608ABCFF5D2C}"/>
              </a:ext>
            </a:extLst>
          </p:cNvPr>
          <p:cNvSpPr>
            <a:spLocks noGrp="1"/>
          </p:cNvSpPr>
          <p:nvPr/>
        </p:nvSpPr>
        <p:spPr>
          <a:xfrm>
            <a:off x="6648450" y="302895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207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6D351-2A85-48C2-B5BC-A0B07AE83002}"/>
              </a:ext>
            </a:extLst>
          </p:cNvPr>
          <p:cNvSpPr>
            <a:spLocks noGrp="1"/>
          </p:cNvSpPr>
          <p:nvPr/>
        </p:nvSpPr>
        <p:spPr>
          <a:xfrm>
            <a:off x="904875" y="344805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E8D0D2-BF36-4712-B7D9-FBDC430A4125}"/>
              </a:ext>
            </a:extLst>
          </p:cNvPr>
          <p:cNvSpPr>
            <a:spLocks noGrp="1"/>
          </p:cNvSpPr>
          <p:nvPr/>
        </p:nvSpPr>
        <p:spPr>
          <a:xfrm>
            <a:off x="2857500" y="3495675"/>
            <a:ext cx="371475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757CB4-AE97-4F91-9868-412CCE291CB2}"/>
              </a:ext>
            </a:extLst>
          </p:cNvPr>
          <p:cNvSpPr>
            <a:spLocks noGrp="1"/>
          </p:cNvSpPr>
          <p:nvPr/>
        </p:nvSpPr>
        <p:spPr>
          <a:xfrm>
            <a:off x="2857500" y="3495675"/>
            <a:ext cx="2548283" cy="11430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F21C67-CFE0-4AE8-9238-90BA843AB659}"/>
              </a:ext>
            </a:extLst>
          </p:cNvPr>
          <p:cNvSpPr>
            <a:spLocks noGrp="1"/>
          </p:cNvSpPr>
          <p:nvPr/>
        </p:nvSpPr>
        <p:spPr>
          <a:xfrm>
            <a:off x="6648450" y="344805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142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BE8B58-EDDD-4EB4-970E-A07A21282485}"/>
              </a:ext>
            </a:extLst>
          </p:cNvPr>
          <p:cNvSpPr>
            <a:spLocks noGrp="1"/>
          </p:cNvSpPr>
          <p:nvPr/>
        </p:nvSpPr>
        <p:spPr>
          <a:xfrm>
            <a:off x="904875" y="386715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93EF98-1D4C-4A4D-8B92-153C20F7FCF5}"/>
              </a:ext>
            </a:extLst>
          </p:cNvPr>
          <p:cNvSpPr>
            <a:spLocks noGrp="1"/>
          </p:cNvSpPr>
          <p:nvPr/>
        </p:nvSpPr>
        <p:spPr>
          <a:xfrm>
            <a:off x="2857500" y="3914775"/>
            <a:ext cx="371475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C75134-BD9B-43B5-B900-93501F772F68}"/>
              </a:ext>
            </a:extLst>
          </p:cNvPr>
          <p:cNvSpPr>
            <a:spLocks noGrp="1"/>
          </p:cNvSpPr>
          <p:nvPr/>
        </p:nvSpPr>
        <p:spPr>
          <a:xfrm>
            <a:off x="2857500" y="3914775"/>
            <a:ext cx="861391" cy="114300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5A89C8-D7E2-402F-B7CD-EF80CCCF5CF1}"/>
              </a:ext>
            </a:extLst>
          </p:cNvPr>
          <p:cNvSpPr>
            <a:spLocks noGrp="1"/>
          </p:cNvSpPr>
          <p:nvPr/>
        </p:nvSpPr>
        <p:spPr>
          <a:xfrm>
            <a:off x="6648450" y="386715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C8952D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C8952D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FC04C8-95CF-4AC0-989F-42943CDD22CC}"/>
              </a:ext>
            </a:extLst>
          </p:cNvPr>
          <p:cNvSpPr>
            <a:spLocks noGrp="1"/>
          </p:cNvSpPr>
          <p:nvPr/>
        </p:nvSpPr>
        <p:spPr>
          <a:xfrm>
            <a:off x="7572375" y="2781300"/>
            <a:ext cx="2952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AFADA0-6580-4DF1-9BAA-1EC1D3B3CA60}"/>
              </a:ext>
            </a:extLst>
          </p:cNvPr>
          <p:cNvSpPr>
            <a:spLocks noGrp="1"/>
          </p:cNvSpPr>
          <p:nvPr/>
        </p:nvSpPr>
        <p:spPr>
          <a:xfrm>
            <a:off x="7810500" y="3028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Frozen artifact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B5BD7D-F28F-419D-97C2-29D2A8427067}"/>
              </a:ext>
            </a:extLst>
          </p:cNvPr>
          <p:cNvSpPr>
            <a:spLocks noGrp="1"/>
          </p:cNvSpPr>
          <p:nvPr/>
        </p:nvSpPr>
        <p:spPr>
          <a:xfrm>
            <a:off x="7810500" y="3352800"/>
            <a:ext cx="2333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dataset_freezes/phase2_v1.json</a:t>
            </a:r>
          </a:p>
          <a:p>
            <a:pPr algn="l">
              <a:defRPr sz="863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sha256 recorded</a:t>
            </a:r>
          </a:p>
          <a:p>
            <a:pPr algn="l">
              <a:defRPr sz="863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raw data not committed</a:t>
            </a:r>
          </a:p>
          <a:p>
            <a:pPr algn="l">
              <a:defRPr sz="863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repro command stored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D1998A-BDA5-4DC6-BDEF-3742A5CBF43A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9239250" cy="514350"/>
          </a:xfrm>
          <a:prstGeom prst="rect">
            <a:avLst/>
          </a:prstGeom>
          <a:solidFill>
            <a:srgbClr val="EEF8F1"/>
          </a:solidFill>
          <a:ln w="9525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AF7CA0-A72B-42FB-BD84-0DC5A304C07F}"/>
              </a:ext>
            </a:extLst>
          </p:cNvPr>
          <p:cNvSpPr>
            <a:spLocks noGrp="1"/>
          </p:cNvSpPr>
          <p:nvPr/>
        </p:nvSpPr>
        <p:spPr>
          <a:xfrm>
            <a:off x="1200150" y="5038725"/>
            <a:ext cx="809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Phase 2 是可复现的 frozen dataset。后续 Phase 3/4/5 都引用 phase2_v1。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C3C4C3-563A-4B3E-98D1-A7A459BC66D4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57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D6AF568-588C-451B-8A21-9D1707A44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BDAED-47DC-4D1F-85B2-29AA588258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7C96C-56EC-4E88-BB96-55F2992ED56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PHASE 3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9B4ED-DEE6-44EE-9B51-3B162FE5E407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7E2A8D-6F36-467C-87B5-035525316FBA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Ground truth 的核心是同一 rubric 评价 clinician 和 agent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3DF3A-6BEC-44CF-B1E1-31B826CCADDC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continuous LLM-as-judge 给 OPE estimator 一个标量 reward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A9D55-329D-4306-A423-38DBD29AA6FB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15D725-5208-4EA5-9392-5D4FB3ACF913}"/>
              </a:ext>
            </a:extLst>
          </p:cNvPr>
          <p:cNvSpPr>
            <a:spLocks noGrp="1"/>
          </p:cNvSpPr>
          <p:nvPr/>
        </p:nvSpPr>
        <p:spPr>
          <a:xfrm>
            <a:off x="895350" y="150495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Rubric dimensions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4C09D-F346-4C2B-A6F3-E5CB0AF64FA6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diagnostic 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680B2D-A7A7-4EFA-9293-F65DE0CEF98C}"/>
              </a:ext>
            </a:extLst>
          </p:cNvPr>
          <p:cNvSpPr>
            <a:spLocks noGrp="1"/>
          </p:cNvSpPr>
          <p:nvPr/>
        </p:nvSpPr>
        <p:spPr>
          <a:xfrm>
            <a:off x="2857500" y="1952625"/>
            <a:ext cx="285750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94DEBB-E5CE-4B4A-8418-2670B3EC0F4B}"/>
              </a:ext>
            </a:extLst>
          </p:cNvPr>
          <p:cNvSpPr>
            <a:spLocks noGrp="1"/>
          </p:cNvSpPr>
          <p:nvPr/>
        </p:nvSpPr>
        <p:spPr>
          <a:xfrm>
            <a:off x="2857500" y="1952625"/>
            <a:ext cx="2857500" cy="1143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4E29F1-2724-419F-9530-78DA27C7B176}"/>
              </a:ext>
            </a:extLst>
          </p:cNvPr>
          <p:cNvSpPr>
            <a:spLocks noGrp="1"/>
          </p:cNvSpPr>
          <p:nvPr/>
        </p:nvSpPr>
        <p:spPr>
          <a:xfrm>
            <a:off x="5791200" y="190500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52B727-25B5-49D0-8E86-B67A2EE2D49B}"/>
              </a:ext>
            </a:extLst>
          </p:cNvPr>
          <p:cNvSpPr>
            <a:spLocks noGrp="1"/>
          </p:cNvSpPr>
          <p:nvPr/>
        </p:nvSpPr>
        <p:spPr>
          <a:xfrm>
            <a:off x="904875" y="2314575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management quality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FC655-E902-489D-819C-35B798C8C96A}"/>
              </a:ext>
            </a:extLst>
          </p:cNvPr>
          <p:cNvSpPr>
            <a:spLocks noGrp="1"/>
          </p:cNvSpPr>
          <p:nvPr/>
        </p:nvSpPr>
        <p:spPr>
          <a:xfrm>
            <a:off x="2857500" y="2362200"/>
            <a:ext cx="285750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996CBB-5109-48B8-9B6B-C570A5E64B47}"/>
              </a:ext>
            </a:extLst>
          </p:cNvPr>
          <p:cNvSpPr>
            <a:spLocks noGrp="1"/>
          </p:cNvSpPr>
          <p:nvPr/>
        </p:nvSpPr>
        <p:spPr>
          <a:xfrm>
            <a:off x="2857500" y="2362200"/>
            <a:ext cx="2857500" cy="11430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DFDC72-0B15-4D77-8049-37B2B9BB1DA9}"/>
              </a:ext>
            </a:extLst>
          </p:cNvPr>
          <p:cNvSpPr>
            <a:spLocks noGrp="1"/>
          </p:cNvSpPr>
          <p:nvPr/>
        </p:nvSpPr>
        <p:spPr>
          <a:xfrm>
            <a:off x="5791200" y="2314575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8114E3-7D3A-425B-8862-B1279CA5782A}"/>
              </a:ext>
            </a:extLst>
          </p:cNvPr>
          <p:cNvSpPr>
            <a:spLocks noGrp="1"/>
          </p:cNvSpPr>
          <p:nvPr/>
        </p:nvSpPr>
        <p:spPr>
          <a:xfrm>
            <a:off x="904875" y="272415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safety &amp; escalation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9E5458-32F5-4C6A-97C3-4F273CAE9A72}"/>
              </a:ext>
            </a:extLst>
          </p:cNvPr>
          <p:cNvSpPr>
            <a:spLocks noGrp="1"/>
          </p:cNvSpPr>
          <p:nvPr/>
        </p:nvSpPr>
        <p:spPr>
          <a:xfrm>
            <a:off x="2857500" y="2771775"/>
            <a:ext cx="285750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32237-B7C4-4994-AD61-08E1219BCEF0}"/>
              </a:ext>
            </a:extLst>
          </p:cNvPr>
          <p:cNvSpPr>
            <a:spLocks noGrp="1"/>
          </p:cNvSpPr>
          <p:nvPr/>
        </p:nvSpPr>
        <p:spPr>
          <a:xfrm>
            <a:off x="2857500" y="2771775"/>
            <a:ext cx="1905000" cy="1143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4F8285-A890-43CB-9BBC-BE9D987C1E9E}"/>
              </a:ext>
            </a:extLst>
          </p:cNvPr>
          <p:cNvSpPr>
            <a:spLocks noGrp="1"/>
          </p:cNvSpPr>
          <p:nvPr/>
        </p:nvSpPr>
        <p:spPr>
          <a:xfrm>
            <a:off x="5791200" y="272415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6B4F8A-40B5-44C7-9412-037AFAB5396A}"/>
              </a:ext>
            </a:extLst>
          </p:cNvPr>
          <p:cNvSpPr>
            <a:spLocks noGrp="1"/>
          </p:cNvSpPr>
          <p:nvPr/>
        </p:nvSpPr>
        <p:spPr>
          <a:xfrm>
            <a:off x="904875" y="3133725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context use &amp; factuality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E03A7F-65C5-46B8-BDA0-27D14C3EAD47}"/>
              </a:ext>
            </a:extLst>
          </p:cNvPr>
          <p:cNvSpPr>
            <a:spLocks noGrp="1"/>
          </p:cNvSpPr>
          <p:nvPr/>
        </p:nvSpPr>
        <p:spPr>
          <a:xfrm>
            <a:off x="2857500" y="3181350"/>
            <a:ext cx="285750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D46BC2-04FC-4A85-AB6D-CE950E02DB3C}"/>
              </a:ext>
            </a:extLst>
          </p:cNvPr>
          <p:cNvSpPr>
            <a:spLocks noGrp="1"/>
          </p:cNvSpPr>
          <p:nvPr/>
        </p:nvSpPr>
        <p:spPr>
          <a:xfrm>
            <a:off x="2857500" y="3181350"/>
            <a:ext cx="1428750" cy="114300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92231A-07E1-4233-A71B-3410E3C3F372}"/>
              </a:ext>
            </a:extLst>
          </p:cNvPr>
          <p:cNvSpPr>
            <a:spLocks noGrp="1"/>
          </p:cNvSpPr>
          <p:nvPr/>
        </p:nvSpPr>
        <p:spPr>
          <a:xfrm>
            <a:off x="5791200" y="3133725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C8952D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C8952D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6E5A64-42D5-485B-B94E-4A4A88FB3132}"/>
              </a:ext>
            </a:extLst>
          </p:cNvPr>
          <p:cNvSpPr>
            <a:spLocks noGrp="1"/>
          </p:cNvSpPr>
          <p:nvPr/>
        </p:nvSpPr>
        <p:spPr>
          <a:xfrm>
            <a:off x="904875" y="3543300"/>
            <a:ext cx="1809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communication &amp; uncertainty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5ABDBD-75E4-44F7-978A-869FF0EE6000}"/>
              </a:ext>
            </a:extLst>
          </p:cNvPr>
          <p:cNvSpPr>
            <a:spLocks noGrp="1"/>
          </p:cNvSpPr>
          <p:nvPr/>
        </p:nvSpPr>
        <p:spPr>
          <a:xfrm>
            <a:off x="2857500" y="3590925"/>
            <a:ext cx="2857500" cy="114300"/>
          </a:xfrm>
          <a:prstGeom prst="rect">
            <a:avLst/>
          </a:prstGeom>
          <a:solidFill>
            <a:srgbClr val="E8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02FB38-F268-4AC9-96DF-3A1D6D86B3B4}"/>
              </a:ext>
            </a:extLst>
          </p:cNvPr>
          <p:cNvSpPr>
            <a:spLocks noGrp="1"/>
          </p:cNvSpPr>
          <p:nvPr/>
        </p:nvSpPr>
        <p:spPr>
          <a:xfrm>
            <a:off x="2857500" y="3590925"/>
            <a:ext cx="476250" cy="114300"/>
          </a:xfrm>
          <a:prstGeom prst="rect">
            <a:avLst/>
          </a:prstGeom>
          <a:solidFill>
            <a:srgbClr val="3278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21276C-EAF7-4279-BB8F-D58397E030DB}"/>
              </a:ext>
            </a:extLst>
          </p:cNvPr>
          <p:cNvSpPr>
            <a:spLocks noGrp="1"/>
          </p:cNvSpPr>
          <p:nvPr/>
        </p:nvSpPr>
        <p:spPr>
          <a:xfrm>
            <a:off x="5791200" y="3543300"/>
            <a:ext cx="666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AC421E-D968-4771-BD09-3CF69BE27E5C}"/>
              </a:ext>
            </a:extLst>
          </p:cNvPr>
          <p:cNvSpPr>
            <a:spLocks noGrp="1"/>
          </p:cNvSpPr>
          <p:nvPr/>
        </p:nvSpPr>
        <p:spPr>
          <a:xfrm>
            <a:off x="6715125" y="1600200"/>
            <a:ext cx="37147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580493-B85F-4D56-8525-F13A3846031E}"/>
              </a:ext>
            </a:extLst>
          </p:cNvPr>
          <p:cNvSpPr>
            <a:spLocks noGrp="1"/>
          </p:cNvSpPr>
          <p:nvPr/>
        </p:nvSpPr>
        <p:spPr>
          <a:xfrm>
            <a:off x="7000875" y="1866900"/>
            <a:ext cx="2905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为什么不用 binary accuracy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91562F-41FE-4AF0-AE9C-3E811C269280}"/>
              </a:ext>
            </a:extLst>
          </p:cNvPr>
          <p:cNvSpPr>
            <a:spLocks noGrp="1"/>
          </p:cNvSpPr>
          <p:nvPr/>
        </p:nvSpPr>
        <p:spPr>
          <a:xfrm>
            <a:off x="7029450" y="2428875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E75023-6F35-416A-BA3D-BB60B90735CC}"/>
              </a:ext>
            </a:extLst>
          </p:cNvPr>
          <p:cNvSpPr>
            <a:spLocks noGrp="1"/>
          </p:cNvSpPr>
          <p:nvPr/>
        </p:nvSpPr>
        <p:spPr>
          <a:xfrm>
            <a:off x="7153275" y="2362200"/>
            <a:ext cx="2828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final clinical output 不只是诊断对错，还包括 management、safety、follow-up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47B501-ECA9-409D-A6C8-11F6C64F8760}"/>
              </a:ext>
            </a:extLst>
          </p:cNvPr>
          <p:cNvSpPr>
            <a:spLocks noGrp="1"/>
          </p:cNvSpPr>
          <p:nvPr/>
        </p:nvSpPr>
        <p:spPr>
          <a:xfrm>
            <a:off x="7029450" y="295275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41A51A-7E4C-4850-88AD-9F62ABDE7E05}"/>
              </a:ext>
            </a:extLst>
          </p:cNvPr>
          <p:cNvSpPr>
            <a:spLocks noGrp="1"/>
          </p:cNvSpPr>
          <p:nvPr/>
        </p:nvSpPr>
        <p:spPr>
          <a:xfrm>
            <a:off x="7153275" y="2886075"/>
            <a:ext cx="2828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4/5 estimator 需要连续 reward，而不是 sparse label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1EFFE-09A7-4417-A7BB-D1608C3026B2}"/>
              </a:ext>
            </a:extLst>
          </p:cNvPr>
          <p:cNvSpPr>
            <a:spLocks noGrp="1"/>
          </p:cNvSpPr>
          <p:nvPr/>
        </p:nvSpPr>
        <p:spPr>
          <a:xfrm>
            <a:off x="7029450" y="3476625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4BC900-AC7B-403E-BACB-0C82CA94EE7A}"/>
              </a:ext>
            </a:extLst>
          </p:cNvPr>
          <p:cNvSpPr>
            <a:spLocks noGrp="1"/>
          </p:cNvSpPr>
          <p:nvPr/>
        </p:nvSpPr>
        <p:spPr>
          <a:xfrm>
            <a:off x="7153275" y="3409950"/>
            <a:ext cx="2828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dimension scores 保留在 y_rubric，后续可做 ablation / failure analysis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020B98-7C10-4E9D-88CF-B93747A0441E}"/>
              </a:ext>
            </a:extLst>
          </p:cNvPr>
          <p:cNvSpPr>
            <a:spLocks noGrp="1"/>
          </p:cNvSpPr>
          <p:nvPr/>
        </p:nvSpPr>
        <p:spPr>
          <a:xfrm>
            <a:off x="952500" y="4695825"/>
            <a:ext cx="9239250" cy="571500"/>
          </a:xfrm>
          <a:prstGeom prst="rect">
            <a:avLst/>
          </a:prstGeom>
          <a:solidFill>
            <a:srgbClr val="FFF7E8"/>
          </a:solidFill>
          <a:ln w="9525">
            <a:solidFill>
              <a:srgbClr val="C89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055A03-5F05-4B92-9335-C29F75C05293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Safety override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756F44-DF47-4C8C-8843-3BBBAC7D63B0}"/>
              </a:ext>
            </a:extLst>
          </p:cNvPr>
          <p:cNvSpPr>
            <a:spLocks noGrp="1"/>
          </p:cNvSpPr>
          <p:nvPr/>
        </p:nvSpPr>
        <p:spPr>
          <a:xfrm>
            <a:off x="2762250" y="4886325"/>
            <a:ext cx="6905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若输出包含危险建议、遗漏明显急症升级、或编造改变 management 的重大事实，final score 最多 0.40。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B2A0DC-3AEC-418B-ADAF-40BDA14C0F89}"/>
              </a:ext>
            </a:extLst>
          </p:cNvPr>
          <p:cNvSpPr>
            <a:spLocks noGrp="1"/>
          </p:cNvSpPr>
          <p:nvPr/>
        </p:nvSpPr>
        <p:spPr>
          <a:xfrm>
            <a:off x="590550" y="655320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623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References: </a:t>
            </a:r>
            <a:r>
              <a:rPr sz="623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HealthBench</a:t>
            </a:r>
            <a:r>
              <a:rPr sz="623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-style rubric evaluation; AMIE; clinical summary LLM-as-judge validation literature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B925D0-9474-43A8-964C-0D284007627B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5382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CC41B89-49A5-412F-A8D2-E5EEB556D3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54D2D-4FEA-4854-AA5B-4447C4B3C6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E8B60B-A6C6-40E0-B3D9-382475488E6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MODEL ROLES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662F8D-7893-4AAC-AC65-2975007B5DEE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61EFC-7744-4A45-B925-FEC2CE0B0492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3 里模型分工必须分清：generator ≠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4EFF2-4CCC-4DCD-A194-A9327504BC5B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同一模型既生成又打分会有 self-preference 风险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0E3D2E-069B-4F5C-A30E-286640859512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12D9E-7BA2-4135-93A8-2674F7B8AB20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000375" cy="3000375"/>
          </a:xfrm>
          <a:prstGeom prst="rect">
            <a:avLst/>
          </a:prstGeom>
          <a:solidFill>
            <a:srgbClr val="FFFFFF"/>
          </a:solidFill>
          <a:ln w="15240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FE2EA-787D-4CC2-B243-23197C9DC2C4}"/>
              </a:ext>
            </a:extLst>
          </p:cNvPr>
          <p:cNvSpPr>
            <a:spLocks noGrp="1"/>
          </p:cNvSpPr>
          <p:nvPr/>
        </p:nvSpPr>
        <p:spPr>
          <a:xfrm>
            <a:off x="1009650" y="1952625"/>
            <a:ext cx="1238250" cy="2286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D3EFEE-4D17-4443-90A9-91C05A16743C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1104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Target 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68378-B82D-4152-BBC1-A046DF9B71CA}"/>
              </a:ext>
            </a:extLst>
          </p:cNvPr>
          <p:cNvSpPr>
            <a:spLocks noGrp="1"/>
          </p:cNvSpPr>
          <p:nvPr/>
        </p:nvSpPr>
        <p:spPr>
          <a:xfrm>
            <a:off x="1009650" y="2457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gpt-4.1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A2223-CEFD-4BE4-9E62-C9ECF8140CEA}"/>
              </a:ext>
            </a:extLst>
          </p:cNvPr>
          <p:cNvSpPr>
            <a:spLocks noGrp="1"/>
          </p:cNvSpPr>
          <p:nvPr/>
        </p:nvSpPr>
        <p:spPr>
          <a:xfrm>
            <a:off x="1009650" y="3162300"/>
            <a:ext cx="2428875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生成 a_i^agent：Assessment、Diagnosis / Differential、Management Plan、Safety and Follow-up。</a:t>
            </a:r>
          </a:p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temperature = 0</a:t>
            </a:r>
          </a:p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configs/agent_policy.yaml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4BDEF5-EB0F-49AF-AEE6-76A0E2E9758D}"/>
              </a:ext>
            </a:extLst>
          </p:cNvPr>
          <p:cNvSpPr>
            <a:spLocks noGrp="1"/>
          </p:cNvSpPr>
          <p:nvPr/>
        </p:nvSpPr>
        <p:spPr>
          <a:xfrm>
            <a:off x="4305300" y="1666875"/>
            <a:ext cx="3000375" cy="3000375"/>
          </a:xfrm>
          <a:prstGeom prst="rect">
            <a:avLst/>
          </a:prstGeom>
          <a:solidFill>
            <a:srgbClr val="FFFFFF"/>
          </a:solidFill>
          <a:ln w="1524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80932-A71C-46B5-A724-D98FBCCBA0F6}"/>
              </a:ext>
            </a:extLst>
          </p:cNvPr>
          <p:cNvSpPr>
            <a:spLocks noGrp="1"/>
          </p:cNvSpPr>
          <p:nvPr/>
        </p:nvSpPr>
        <p:spPr>
          <a:xfrm>
            <a:off x="4533900" y="1952625"/>
            <a:ext cx="1238250" cy="2286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3BE303-116E-4F36-8EC1-9B880C682442}"/>
              </a:ext>
            </a:extLst>
          </p:cNvPr>
          <p:cNvSpPr>
            <a:spLocks noGrp="1"/>
          </p:cNvSpPr>
          <p:nvPr/>
        </p:nvSpPr>
        <p:spPr>
          <a:xfrm>
            <a:off x="4600575" y="2000250"/>
            <a:ext cx="1104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Rubric judge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DA0B0-4091-4982-8BD3-C0603F827888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gpt-4.1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4DC7A6-965C-431B-94B8-6AF4F0B93676}"/>
              </a:ext>
            </a:extLst>
          </p:cNvPr>
          <p:cNvSpPr>
            <a:spLocks noGrp="1"/>
          </p:cNvSpPr>
          <p:nvPr/>
        </p:nvSpPr>
        <p:spPr>
          <a:xfrm>
            <a:off x="4533900" y="3162300"/>
            <a:ext cx="2428875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第一版 judge：同一 rubric 给 clinician 和 agent output 评分。结果显著，但与 generator 同模型，存在偏好 agent 输出风格的风险。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B68C6-C477-429C-8A0A-49D7D52E7C7B}"/>
              </a:ext>
            </a:extLst>
          </p:cNvPr>
          <p:cNvSpPr>
            <a:spLocks noGrp="1"/>
          </p:cNvSpPr>
          <p:nvPr/>
        </p:nvSpPr>
        <p:spPr>
          <a:xfrm>
            <a:off x="7829550" y="1666875"/>
            <a:ext cx="3000375" cy="3000375"/>
          </a:xfrm>
          <a:prstGeom prst="rect">
            <a:avLst/>
          </a:prstGeom>
          <a:solidFill>
            <a:srgbClr val="FFFFFF"/>
          </a:solidFill>
          <a:ln w="15240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A6F961-DCA2-4A4E-ABBD-C7486BFD1569}"/>
              </a:ext>
            </a:extLst>
          </p:cNvPr>
          <p:cNvSpPr>
            <a:spLocks noGrp="1"/>
          </p:cNvSpPr>
          <p:nvPr/>
        </p:nvSpPr>
        <p:spPr>
          <a:xfrm>
            <a:off x="8058150" y="1952625"/>
            <a:ext cx="1238250" cy="22860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493A7B-5804-4D34-A925-B91B6C9D37A6}"/>
              </a:ext>
            </a:extLst>
          </p:cNvPr>
          <p:cNvSpPr>
            <a:spLocks noGrp="1"/>
          </p:cNvSpPr>
          <p:nvPr/>
        </p:nvSpPr>
        <p:spPr>
          <a:xfrm>
            <a:off x="8124825" y="2000250"/>
            <a:ext cx="1104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Sensitivity judge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F5FCB8-DD73-437D-9CD0-95DBCB1286BE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gpt-4o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74195D-0015-4AC2-B7BA-E688FD6F560D}"/>
              </a:ext>
            </a:extLst>
          </p:cNvPr>
          <p:cNvSpPr>
            <a:spLocks noGrp="1"/>
          </p:cNvSpPr>
          <p:nvPr/>
        </p:nvSpPr>
        <p:spPr>
          <a:xfrm>
            <a:off x="8058150" y="3162300"/>
            <a:ext cx="2428875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后续敏感性 judge：同样给 397 paired examples 打分。gap 从 +0.263 缩到 +0.189，用作 Phase 5 主 ground truth。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7CF8F9-381E-431E-8F5C-E3CB83A449D3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424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5033F29-6778-4AB5-B186-46D592E88A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CCEBE-783A-4FD9-9D6A-F50764D3C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AAAB1-4E24-4471-BC82-753E4C8B651A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PHASE 3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12A2F6-35B7-44C5-A6EC-103692477705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3DAEC-43E7-480C-BB38-B38160195CB2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Ground truth 已构造：agent effect 为正，但 judge choice 会改变幅度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40BEB-C112-4C23-BA7F-2F12D14D483D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971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这就是为什么 Phase 3 把 model role 和 sensitivity 写清楚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A8A00-04E7-4BF7-B382-02D18058AF60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D48076-307E-4A36-AD64-788894834A33}"/>
              </a:ext>
            </a:extLst>
          </p:cNvPr>
          <p:cNvSpPr>
            <a:spLocks noGrp="1"/>
          </p:cNvSpPr>
          <p:nvPr/>
        </p:nvSpPr>
        <p:spPr>
          <a:xfrm>
            <a:off x="1000125" y="15049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V_true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9EDF94-87E2-4062-AB2C-C92B5EC38FB0}"/>
              </a:ext>
            </a:extLst>
          </p:cNvPr>
          <p:cNvSpPr>
            <a:spLocks noGrp="1"/>
          </p:cNvSpPr>
          <p:nvPr/>
        </p:nvSpPr>
        <p:spPr>
          <a:xfrm>
            <a:off x="2143125" y="2697928"/>
            <a:ext cx="514350" cy="1807397"/>
          </a:xfrm>
          <a:prstGeom prst="rect">
            <a:avLst/>
          </a:prstGeom>
          <a:solidFill>
            <a:srgbClr val="3278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AF8F5-4893-4DEE-BE0E-7C5D61D920D6}"/>
              </a:ext>
            </a:extLst>
          </p:cNvPr>
          <p:cNvSpPr>
            <a:spLocks noGrp="1"/>
          </p:cNvSpPr>
          <p:nvPr/>
        </p:nvSpPr>
        <p:spPr>
          <a:xfrm>
            <a:off x="2809875" y="1983710"/>
            <a:ext cx="514350" cy="252161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2058D-E918-42CC-BBE4-46CF33E51F4B}"/>
              </a:ext>
            </a:extLst>
          </p:cNvPr>
          <p:cNvSpPr>
            <a:spLocks noGrp="1"/>
          </p:cNvSpPr>
          <p:nvPr/>
        </p:nvSpPr>
        <p:spPr>
          <a:xfrm>
            <a:off x="2066925" y="2478853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0.666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EC022-C23F-435D-BBAA-4F4D07D8ADBA}"/>
              </a:ext>
            </a:extLst>
          </p:cNvPr>
          <p:cNvSpPr>
            <a:spLocks noGrp="1"/>
          </p:cNvSpPr>
          <p:nvPr/>
        </p:nvSpPr>
        <p:spPr>
          <a:xfrm>
            <a:off x="2733675" y="176463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0.929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1AFBF-2CB0-4BB2-9ADD-91F19FB2EDA2}"/>
              </a:ext>
            </a:extLst>
          </p:cNvPr>
          <p:cNvSpPr>
            <a:spLocks noGrp="1"/>
          </p:cNvSpPr>
          <p:nvPr/>
        </p:nvSpPr>
        <p:spPr>
          <a:xfrm>
            <a:off x="1857375" y="465772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gpt-4.1 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89F4FD-2F00-477C-AF2D-180741E7BB33}"/>
              </a:ext>
            </a:extLst>
          </p:cNvPr>
          <p:cNvSpPr>
            <a:spLocks noGrp="1"/>
          </p:cNvSpPr>
          <p:nvPr/>
        </p:nvSpPr>
        <p:spPr>
          <a:xfrm>
            <a:off x="1971675" y="4914900"/>
            <a:ext cx="1333500" cy="20955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51AA1D-9F94-440C-9987-DAF87521C511}"/>
              </a:ext>
            </a:extLst>
          </p:cNvPr>
          <p:cNvSpPr>
            <a:spLocks noGrp="1"/>
          </p:cNvSpPr>
          <p:nvPr/>
        </p:nvSpPr>
        <p:spPr>
          <a:xfrm>
            <a:off x="2038350" y="4962525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effect +0.2631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DF81FA-3A30-4EC6-8D31-4221D870BBA7}"/>
              </a:ext>
            </a:extLst>
          </p:cNvPr>
          <p:cNvSpPr>
            <a:spLocks noGrp="1"/>
          </p:cNvSpPr>
          <p:nvPr/>
        </p:nvSpPr>
        <p:spPr>
          <a:xfrm>
            <a:off x="4381500" y="2689241"/>
            <a:ext cx="514350" cy="1816084"/>
          </a:xfrm>
          <a:prstGeom prst="rect">
            <a:avLst/>
          </a:prstGeom>
          <a:solidFill>
            <a:srgbClr val="3278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F85299-44A2-4B75-80D3-4CE378B915CD}"/>
              </a:ext>
            </a:extLst>
          </p:cNvPr>
          <p:cNvSpPr>
            <a:spLocks noGrp="1"/>
          </p:cNvSpPr>
          <p:nvPr/>
        </p:nvSpPr>
        <p:spPr>
          <a:xfrm>
            <a:off x="5048250" y="2174819"/>
            <a:ext cx="514350" cy="2330506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7D8AD-3753-49B8-9161-D5ADC134BC59}"/>
              </a:ext>
            </a:extLst>
          </p:cNvPr>
          <p:cNvSpPr>
            <a:spLocks noGrp="1"/>
          </p:cNvSpPr>
          <p:nvPr/>
        </p:nvSpPr>
        <p:spPr>
          <a:xfrm>
            <a:off x="4305300" y="2470166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0.669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8AC80C-E3B1-49F7-B9C4-FE9F64E27EF5}"/>
              </a:ext>
            </a:extLst>
          </p:cNvPr>
          <p:cNvSpPr>
            <a:spLocks noGrp="1"/>
          </p:cNvSpPr>
          <p:nvPr/>
        </p:nvSpPr>
        <p:spPr>
          <a:xfrm>
            <a:off x="4972050" y="1955744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0.859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254B4C-85E0-454E-BB84-4EE8D85C7860}"/>
              </a:ext>
            </a:extLst>
          </p:cNvPr>
          <p:cNvSpPr>
            <a:spLocks noGrp="1"/>
          </p:cNvSpPr>
          <p:nvPr/>
        </p:nvSpPr>
        <p:spPr>
          <a:xfrm>
            <a:off x="4095750" y="465772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gpt-4o judge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C813B1-3BD0-4208-9F77-3E53B3569CB5}"/>
              </a:ext>
            </a:extLst>
          </p:cNvPr>
          <p:cNvSpPr>
            <a:spLocks noGrp="1"/>
          </p:cNvSpPr>
          <p:nvPr/>
        </p:nvSpPr>
        <p:spPr>
          <a:xfrm>
            <a:off x="4210050" y="4914900"/>
            <a:ext cx="1333500" cy="209550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1133B-1F22-42EE-AB46-A4BED2914B4F}"/>
              </a:ext>
            </a:extLst>
          </p:cNvPr>
          <p:cNvSpPr>
            <a:spLocks noGrp="1"/>
          </p:cNvSpPr>
          <p:nvPr/>
        </p:nvSpPr>
        <p:spPr>
          <a:xfrm>
            <a:off x="4276725" y="4962525"/>
            <a:ext cx="1200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effect +0.1895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C71F03-9573-41B1-BD74-BBC90AE4CBB2}"/>
              </a:ext>
            </a:extLst>
          </p:cNvPr>
          <p:cNvSpPr>
            <a:spLocks noGrp="1"/>
          </p:cNvSpPr>
          <p:nvPr/>
        </p:nvSpPr>
        <p:spPr>
          <a:xfrm>
            <a:off x="1809750" y="4505325"/>
            <a:ext cx="4857750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82077A-6180-4BA3-95BD-4EC279AFFBC0}"/>
              </a:ext>
            </a:extLst>
          </p:cNvPr>
          <p:cNvSpPr>
            <a:spLocks noGrp="1"/>
          </p:cNvSpPr>
          <p:nvPr/>
        </p:nvSpPr>
        <p:spPr>
          <a:xfrm>
            <a:off x="7048500" y="1695450"/>
            <a:ext cx="3714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667122-3BE2-47AB-BA12-6AD9F69DA3DC}"/>
              </a:ext>
            </a:extLst>
          </p:cNvPr>
          <p:cNvSpPr>
            <a:spLocks noGrp="1"/>
          </p:cNvSpPr>
          <p:nvPr/>
        </p:nvSpPr>
        <p:spPr>
          <a:xfrm>
            <a:off x="7334250" y="1962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Interpretation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1EFD6E-F2E4-4F24-9DA6-F443DC8CB246}"/>
              </a:ext>
            </a:extLst>
          </p:cNvPr>
          <p:cNvSpPr>
            <a:spLocks noGrp="1"/>
          </p:cNvSpPr>
          <p:nvPr/>
        </p:nvSpPr>
        <p:spPr>
          <a:xfrm>
            <a:off x="7353300" y="257175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1D67CC-9D91-4E46-940F-32EB83987283}"/>
              </a:ext>
            </a:extLst>
          </p:cNvPr>
          <p:cNvSpPr>
            <a:spLocks noGrp="1"/>
          </p:cNvSpPr>
          <p:nvPr/>
        </p:nvSpPr>
        <p:spPr>
          <a:xfrm>
            <a:off x="7477125" y="2505075"/>
            <a:ext cx="2924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两个 judge 都给出正向且统计显著的 agent effect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F04A75-3156-451C-ABA0-3F167A5B736F}"/>
              </a:ext>
            </a:extLst>
          </p:cNvPr>
          <p:cNvSpPr>
            <a:spLocks noGrp="1"/>
          </p:cNvSpPr>
          <p:nvPr/>
        </p:nvSpPr>
        <p:spPr>
          <a:xfrm>
            <a:off x="7353300" y="312420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E50467-ACD0-46C0-B637-22E7FB834AC6}"/>
              </a:ext>
            </a:extLst>
          </p:cNvPr>
          <p:cNvSpPr>
            <a:spLocks noGrp="1"/>
          </p:cNvSpPr>
          <p:nvPr/>
        </p:nvSpPr>
        <p:spPr>
          <a:xfrm>
            <a:off x="7477125" y="3057525"/>
            <a:ext cx="2924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gpt-4o 下 effect 缩小 28%，direction rate 从 96.2% 降到 81.9%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C1A7AF-4672-49EB-A692-7E25E94199BA}"/>
              </a:ext>
            </a:extLst>
          </p:cNvPr>
          <p:cNvSpPr>
            <a:spLocks noGrp="1"/>
          </p:cNvSpPr>
          <p:nvPr/>
        </p:nvSpPr>
        <p:spPr>
          <a:xfrm>
            <a:off x="7353300" y="3676650"/>
            <a:ext cx="47625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2DC369-DF1C-4280-8F78-F82D6E1C70DB}"/>
              </a:ext>
            </a:extLst>
          </p:cNvPr>
          <p:cNvSpPr>
            <a:spLocks noGrp="1"/>
          </p:cNvSpPr>
          <p:nvPr/>
        </p:nvSpPr>
        <p:spPr>
          <a:xfrm>
            <a:off x="7477125" y="3609975"/>
            <a:ext cx="2924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这提示 gpt-4.1 judge 可能偏好 gpt-4.1 agent 的输出风格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9F4E56-8757-4B48-AFD4-D880F8A7A7A1}"/>
              </a:ext>
            </a:extLst>
          </p:cNvPr>
          <p:cNvSpPr>
            <a:spLocks noGrp="1"/>
          </p:cNvSpPr>
          <p:nvPr/>
        </p:nvSpPr>
        <p:spPr>
          <a:xfrm>
            <a:off x="7353300" y="4229100"/>
            <a:ext cx="47625" cy="47625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618B2C-EC7D-4F18-A2F9-08BE6A405ADB}"/>
              </a:ext>
            </a:extLst>
          </p:cNvPr>
          <p:cNvSpPr>
            <a:spLocks noGrp="1"/>
          </p:cNvSpPr>
          <p:nvPr/>
        </p:nvSpPr>
        <p:spPr>
          <a:xfrm>
            <a:off x="7477125" y="4162425"/>
            <a:ext cx="2924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因此 Phase 3 v1 是 rubric-judge ground truth，而非 validated clinical outcome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5800A6-85FB-4977-BDD1-6F83671D2243}"/>
              </a:ext>
            </a:extLst>
          </p:cNvPr>
          <p:cNvSpPr>
            <a:spLocks noGrp="1"/>
          </p:cNvSpPr>
          <p:nvPr/>
        </p:nvSpPr>
        <p:spPr>
          <a:xfrm>
            <a:off x="2266950" y="55054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278A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3278A8"/>
                </a:solidFill>
                <a:latin typeface="PingFang SC"/>
                <a:ea typeface="PingFang SC"/>
                <a:cs typeface="PingFang SC"/>
              </a:rPr>
              <a:t>■ clinician V(pi_b)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2C2CE3-F276-4758-B7B2-F1653D9EE23A}"/>
              </a:ext>
            </a:extLst>
          </p:cNvPr>
          <p:cNvSpPr>
            <a:spLocks noGrp="1"/>
          </p:cNvSpPr>
          <p:nvPr/>
        </p:nvSpPr>
        <p:spPr>
          <a:xfrm>
            <a:off x="4095750" y="55054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■ agent V(pi_agent)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77839F-6C7B-47E6-B2FC-5BF2487C1ED0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204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B30100A-A921-4068-802B-94A8311AC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6D15D-70BB-45E1-8DE3-9FF60F8F03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F22572-F2D2-4848-AA9C-549091F2374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667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85964-200A-4DAE-97A0-FC5D7F4D3CF6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66675" cy="666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B1807-7D42-4F44-A781-4EBCFF71BBDF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10429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1-3 </a:t>
            </a:r>
            <a:r>
              <a:rPr lang="en-US" sz="2025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总结</a:t>
            </a:r>
            <a:endParaRPr sz="2025" b="1" dirty="0">
              <a:solidFill>
                <a:srgbClr val="1320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C1298-47AF-4E29-868B-22D5079D0149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810875" cy="14288"/>
          </a:xfrm>
          <a:prstGeom prst="rect">
            <a:avLst/>
          </a:prstGeom>
          <a:solidFill>
            <a:srgbClr val="D9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A8515C-759B-45E2-AB5D-D052954374AE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4762500" cy="3190875"/>
          </a:xfrm>
          <a:prstGeom prst="rect">
            <a:avLst/>
          </a:prstGeom>
          <a:solidFill>
            <a:srgbClr val="EEF8F1"/>
          </a:solidFill>
          <a:ln w="9525">
            <a:solidFill>
              <a:srgbClr val="2C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E10CD2-90EF-4F7A-AFA4-FE9D096500AE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C7A5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C7A5C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F4618D-E015-4870-9D1E-43B8E21F1361}"/>
              </a:ext>
            </a:extLst>
          </p:cNvPr>
          <p:cNvSpPr>
            <a:spLocks noGrp="1"/>
          </p:cNvSpPr>
          <p:nvPr/>
        </p:nvSpPr>
        <p:spPr>
          <a:xfrm>
            <a:off x="1162050" y="2543175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E0E49A-2BC6-49C7-8E73-258C1B879493}"/>
              </a:ext>
            </a:extLst>
          </p:cNvPr>
          <p:cNvSpPr>
            <a:spLocks noGrp="1"/>
          </p:cNvSpPr>
          <p:nvPr/>
        </p:nvSpPr>
        <p:spPr>
          <a:xfrm>
            <a:off x="1285875" y="24765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1: causal estimand、notation、assumptions、scope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7C6C0-0CC8-45D4-8AED-531596F5DAB1}"/>
              </a:ext>
            </a:extLst>
          </p:cNvPr>
          <p:cNvSpPr>
            <a:spLocks noGrp="1"/>
          </p:cNvSpPr>
          <p:nvPr/>
        </p:nvSpPr>
        <p:spPr>
          <a:xfrm>
            <a:off x="1162050" y="3057525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F17EF7-B09F-4565-B95E-8C6A573FD6A9}"/>
              </a:ext>
            </a:extLst>
          </p:cNvPr>
          <p:cNvSpPr>
            <a:spLocks noGrp="1"/>
          </p:cNvSpPr>
          <p:nvPr/>
        </p:nvSpPr>
        <p:spPr>
          <a:xfrm>
            <a:off x="1285875" y="29908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2: canonical dataset + freeze manifest，397 included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68B1E-7344-40A5-AD4A-1F43594792AD}"/>
              </a:ext>
            </a:extLst>
          </p:cNvPr>
          <p:cNvSpPr>
            <a:spLocks noGrp="1"/>
          </p:cNvSpPr>
          <p:nvPr/>
        </p:nvSpPr>
        <p:spPr>
          <a:xfrm>
            <a:off x="1162050" y="3571875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34D658-1BAD-4CC2-8243-4422AEE520BF}"/>
              </a:ext>
            </a:extLst>
          </p:cNvPr>
          <p:cNvSpPr>
            <a:spLocks noGrp="1"/>
          </p:cNvSpPr>
          <p:nvPr/>
        </p:nvSpPr>
        <p:spPr>
          <a:xfrm>
            <a:off x="1285875" y="35052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3: fixed agent generation + rubric scoring + true effect + CI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EAA84A-32F6-47EE-BF3E-7CA45EA3309E}"/>
              </a:ext>
            </a:extLst>
          </p:cNvPr>
          <p:cNvSpPr>
            <a:spLocks noGrp="1"/>
          </p:cNvSpPr>
          <p:nvPr/>
        </p:nvSpPr>
        <p:spPr>
          <a:xfrm>
            <a:off x="1162050" y="4086225"/>
            <a:ext cx="47625" cy="47625"/>
          </a:xfrm>
          <a:prstGeom prst="rect">
            <a:avLst/>
          </a:prstGeom>
          <a:solidFill>
            <a:srgbClr val="2C7A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A99B5A-5F7F-48C3-8D43-2DC843880B94}"/>
              </a:ext>
            </a:extLst>
          </p:cNvPr>
          <p:cNvSpPr>
            <a:spLocks noGrp="1"/>
          </p:cNvSpPr>
          <p:nvPr/>
        </p:nvSpPr>
        <p:spPr>
          <a:xfrm>
            <a:off x="1285875" y="40195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Judge sensitivity: gpt-4.1 vs gpt-4o 已揭示 self-preference 风险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96AA7-08AA-4410-B420-D3778E60F8D3}"/>
              </a:ext>
            </a:extLst>
          </p:cNvPr>
          <p:cNvSpPr>
            <a:spLocks noGrp="1"/>
          </p:cNvSpPr>
          <p:nvPr/>
        </p:nvSpPr>
        <p:spPr>
          <a:xfrm>
            <a:off x="6429375" y="1619250"/>
            <a:ext cx="4333875" cy="3190875"/>
          </a:xfrm>
          <a:prstGeom prst="rect">
            <a:avLst/>
          </a:prstGeom>
          <a:solidFill>
            <a:srgbClr val="FFF7E8"/>
          </a:solidFill>
          <a:ln w="9525">
            <a:solidFill>
              <a:srgbClr val="C89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4F0249-7861-487C-850C-1607F54C28B3}"/>
              </a:ext>
            </a:extLst>
          </p:cNvPr>
          <p:cNvSpPr>
            <a:spLocks noGrp="1"/>
          </p:cNvSpPr>
          <p:nvPr/>
        </p:nvSpPr>
        <p:spPr>
          <a:xfrm>
            <a:off x="6715125" y="19526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仍需补证据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B64BCE-31B6-4B60-A74C-5BFDB9322B74}"/>
              </a:ext>
            </a:extLst>
          </p:cNvPr>
          <p:cNvSpPr>
            <a:spLocks noGrp="1"/>
          </p:cNvSpPr>
          <p:nvPr/>
        </p:nvSpPr>
        <p:spPr>
          <a:xfrm>
            <a:off x="6734175" y="2543175"/>
            <a:ext cx="47625" cy="47625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898176-A0D7-4F3D-B969-189F8A6CB5B0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3352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100-case human clinical calibration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BC8F29-CB8A-4F1F-966F-6E67A34471B5}"/>
              </a:ext>
            </a:extLst>
          </p:cNvPr>
          <p:cNvSpPr>
            <a:spLocks noGrp="1"/>
          </p:cNvSpPr>
          <p:nvPr/>
        </p:nvSpPr>
        <p:spPr>
          <a:xfrm>
            <a:off x="6734175" y="3057525"/>
            <a:ext cx="47625" cy="47625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5D2D40-E594-410F-A26C-1B73E4C62534}"/>
              </a:ext>
            </a:extLst>
          </p:cNvPr>
          <p:cNvSpPr>
            <a:spLocks noGrp="1"/>
          </p:cNvSpPr>
          <p:nvPr/>
        </p:nvSpPr>
        <p:spPr>
          <a:xfrm>
            <a:off x="6858000" y="2990850"/>
            <a:ext cx="3352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Spearman correlation with LLM judge；阈值 &lt; 0.70 则改 rubric / judge / task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D1C48E-05D8-49F8-A198-E5354105FCFD}"/>
              </a:ext>
            </a:extLst>
          </p:cNvPr>
          <p:cNvSpPr>
            <a:spLocks noGrp="1"/>
          </p:cNvSpPr>
          <p:nvPr/>
        </p:nvSpPr>
        <p:spPr>
          <a:xfrm>
            <a:off x="6734175" y="3571875"/>
            <a:ext cx="47625" cy="47625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89CADF-8380-4F23-A0AD-FCB53C7C1AA2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3352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把 main 上 Phase 3 result report 同步进当前 feature 分支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9BEE3-CF9E-4BDD-BC70-4710E079B643}"/>
              </a:ext>
            </a:extLst>
          </p:cNvPr>
          <p:cNvSpPr>
            <a:spLocks noGrp="1"/>
          </p:cNvSpPr>
          <p:nvPr/>
        </p:nvSpPr>
        <p:spPr>
          <a:xfrm>
            <a:off x="6734175" y="4086225"/>
            <a:ext cx="47625" cy="47625"/>
          </a:xfrm>
          <a:prstGeom prst="rect">
            <a:avLst/>
          </a:prstGeom>
          <a:solidFill>
            <a:srgbClr val="C8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827B0-81D6-44D0-94B9-9843C7DEE509}"/>
              </a:ext>
            </a:extLst>
          </p:cNvPr>
          <p:cNvSpPr>
            <a:spLocks noGrp="1"/>
          </p:cNvSpPr>
          <p:nvPr/>
        </p:nvSpPr>
        <p:spPr>
          <a:xfrm>
            <a:off x="6858000" y="4019550"/>
            <a:ext cx="3352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README 更新为 Phase 1-5 状态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50EEAD-EFD5-4021-A5F3-DE141EF17003}"/>
              </a:ext>
            </a:extLst>
          </p:cNvPr>
          <p:cNvSpPr>
            <a:spLocks noGrp="1"/>
          </p:cNvSpPr>
          <p:nvPr/>
        </p:nvSpPr>
        <p:spPr>
          <a:xfrm>
            <a:off x="10972800" y="648652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30977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985</Words>
  <Application>Microsoft Macintosh PowerPoint</Application>
  <DocSecurity>0</DocSecurity>
  <PresentationFormat>Widescreen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PingFang SC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2</cp:revision>
  <dcterms:created xsi:type="dcterms:W3CDTF">2026-05-19T07:02:00Z</dcterms:created>
  <dcterms:modified xsi:type="dcterms:W3CDTF">2026-05-19T17:55:10Z</dcterms:modified>
</cp:coreProperties>
</file>