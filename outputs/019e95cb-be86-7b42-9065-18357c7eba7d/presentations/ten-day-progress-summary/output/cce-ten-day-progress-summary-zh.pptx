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25"/>
    <p:restoredTop sz="94658"/>
  </p:normalViewPr>
  <p:slideViewPr>
    <p:cSldViewPr snapToGrid="0">
      <p:cViewPr>
        <p:scale>
          <a:sx n="111" d="100"/>
          <a:sy n="111" d="100"/>
        </p:scale>
        <p:origin x="84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71FA710-E940-4907-A753-BFC9ED6F00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D87B2C41-AAC2-4AF1-8E59-094AEAAC18F4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4295173E-422F-4581-A1A6-91A3719FC5CC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01 / RESEARCH 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8C4C2-31C4-4945-92DE-902AF9DAE677}"/>
              </a:ext>
            </a:extLst>
          </p:cNvPr>
          <p:cNvSpPr>
            <a:spLocks noGrp="1"/>
          </p:cNvSpPr>
          <p:nvPr/>
        </p:nvSpPr>
        <p:spPr>
          <a:xfrm>
            <a:off x="514350" y="990600"/>
            <a:ext cx="45719" cy="657225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17B850-DDF1-488E-B8EA-6D82140967D7}"/>
              </a:ext>
            </a:extLst>
          </p:cNvPr>
          <p:cNvSpPr>
            <a:spLocks noGrp="1"/>
          </p:cNvSpPr>
          <p:nvPr/>
        </p:nvSpPr>
        <p:spPr>
          <a:xfrm>
            <a:off x="714375" y="1085850"/>
            <a:ext cx="7429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en-US" altLang="zh-CN" sz="3150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0605</a:t>
            </a:r>
            <a:r>
              <a:rPr sz="3150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项目进展汇总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6682A9-D99A-4B26-905E-7E66BE228BD3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476500" cy="12192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37D59-5911-4924-B324-4367456569AE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47625" cy="12192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3B50E5-FF5B-4D27-8EC6-F2D4E5D2682E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新增数据集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5BD5D1-97F3-4909-89BC-F22A928EA676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Ayers AskDocs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398C0B-4DB5-413E-898A-E492E0FAF9E1}"/>
              </a:ext>
            </a:extLst>
          </p:cNvPr>
          <p:cNvSpPr>
            <a:spLocks noGrp="1"/>
          </p:cNvSpPr>
          <p:nvPr/>
        </p:nvSpPr>
        <p:spPr>
          <a:xfrm>
            <a:off x="838200" y="3838575"/>
            <a:ext cx="22098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195 paired physician vs ChatGPT rows；composite 与 quality 两个 reward mode。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D6AB5D-F80B-45B0-9E1A-8FEC4415C179}"/>
              </a:ext>
            </a:extLst>
          </p:cNvPr>
          <p:cNvSpPr>
            <a:spLocks noGrp="1"/>
          </p:cNvSpPr>
          <p:nvPr/>
        </p:nvSpPr>
        <p:spPr>
          <a:xfrm>
            <a:off x="3429000" y="3143250"/>
            <a:ext cx="2476500" cy="12192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F5BAE4-2EB6-4EF3-B8BE-13465B8CC40C}"/>
              </a:ext>
            </a:extLst>
          </p:cNvPr>
          <p:cNvSpPr>
            <a:spLocks noGrp="1"/>
          </p:cNvSpPr>
          <p:nvPr/>
        </p:nvSpPr>
        <p:spPr>
          <a:xfrm>
            <a:off x="3429000" y="3143250"/>
            <a:ext cx="47625" cy="12192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CC507-39AB-44A3-ACA5-F41FD458FB3C}"/>
              </a:ext>
            </a:extLst>
          </p:cNvPr>
          <p:cNvSpPr>
            <a:spLocks noGrp="1"/>
          </p:cNvSpPr>
          <p:nvPr/>
        </p:nvSpPr>
        <p:spPr>
          <a:xfrm>
            <a:off x="3600450" y="32766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数据源拆分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BAAE8-02F4-45D7-8544-53B22D6F9515}"/>
              </a:ext>
            </a:extLst>
          </p:cNvPr>
          <p:cNvSpPr>
            <a:spLocks noGrp="1"/>
          </p:cNvSpPr>
          <p:nvPr/>
        </p:nvSpPr>
        <p:spPr>
          <a:xfrm>
            <a:off x="3600450" y="34861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207 / 142 / 48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EA27B-7043-46DC-811C-AB402DBA8243}"/>
              </a:ext>
            </a:extLst>
          </p:cNvPr>
          <p:cNvSpPr>
            <a:spLocks noGrp="1"/>
          </p:cNvSpPr>
          <p:nvPr/>
        </p:nvSpPr>
        <p:spPr>
          <a:xfrm>
            <a:off x="3600450" y="3838575"/>
            <a:ext cx="22098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ACI-Bench、MTS-Dialog、PriMock57 从混合集拆开独立跑 Phase 5。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3320E2-4F1E-4A41-916D-FE489CF2E21B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2476500" cy="12192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6C1FA1-F6E8-4C63-ACC2-94B7F5F18ADC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47625" cy="1219200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4412D-A5C9-4D41-AF6B-B26FD4D279D5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Two-tower </a:t>
            </a:r>
            <a:r>
              <a:rPr lang="en-US" sz="788" b="1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性能</a:t>
            </a:r>
            <a:r>
              <a:rPr sz="788" b="1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评估</a:t>
            </a:r>
            <a:endParaRPr sz="788" b="1" dirty="0">
              <a:solidFill>
                <a:srgbClr val="5B6470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0B4975-8F05-4298-AD5E-A614210326B9}"/>
              </a:ext>
            </a:extLst>
          </p:cNvPr>
          <p:cNvSpPr>
            <a:spLocks noGrp="1"/>
          </p:cNvSpPr>
          <p:nvPr/>
        </p:nvSpPr>
        <p:spPr>
          <a:xfrm>
            <a:off x="6362700" y="34861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360 configs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7D5DD8-420A-4F98-8693-0E8513281289}"/>
              </a:ext>
            </a:extLst>
          </p:cNvPr>
          <p:cNvSpPr>
            <a:spLocks noGrp="1"/>
          </p:cNvSpPr>
          <p:nvPr/>
        </p:nvSpPr>
        <p:spPr>
          <a:xfrm>
            <a:off x="6362700" y="3838575"/>
            <a:ext cx="22098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新增</a:t>
            </a:r>
            <a:r>
              <a:rPr sz="69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dropout </a:t>
            </a:r>
            <a:r>
              <a:rPr sz="69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与更强正则；独立</a:t>
            </a:r>
            <a:r>
              <a:rPr sz="69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holdout test </a:t>
            </a:r>
            <a:r>
              <a:rPr sz="69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用于泛化诊断</a:t>
            </a:r>
            <a:r>
              <a:rPr sz="69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305CA4-7991-4F7C-8787-F0C6C45AC902}"/>
              </a:ext>
            </a:extLst>
          </p:cNvPr>
          <p:cNvSpPr>
            <a:spLocks noGrp="1"/>
          </p:cNvSpPr>
          <p:nvPr/>
        </p:nvSpPr>
        <p:spPr>
          <a:xfrm>
            <a:off x="8953500" y="3143250"/>
            <a:ext cx="2476500" cy="12192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9920D9-A722-43E1-A134-1185C58FDED8}"/>
              </a:ext>
            </a:extLst>
          </p:cNvPr>
          <p:cNvSpPr>
            <a:spLocks noGrp="1"/>
          </p:cNvSpPr>
          <p:nvPr/>
        </p:nvSpPr>
        <p:spPr>
          <a:xfrm>
            <a:off x="8953500" y="3143250"/>
            <a:ext cx="47625" cy="12192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EAAD1C-26BA-44F5-94B9-3E309C455909}"/>
              </a:ext>
            </a:extLst>
          </p:cNvPr>
          <p:cNvSpPr>
            <a:spLocks noGrp="1"/>
          </p:cNvSpPr>
          <p:nvPr/>
        </p:nvSpPr>
        <p:spPr>
          <a:xfrm>
            <a:off x="9124950" y="32766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新增 estimator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865CAD-DEB6-4D0A-8A6F-7DB0B3DC3563}"/>
              </a:ext>
            </a:extLst>
          </p:cNvPr>
          <p:cNvSpPr>
            <a:spLocks noGrp="1"/>
          </p:cNvSpPr>
          <p:nvPr/>
        </p:nvSpPr>
        <p:spPr>
          <a:xfrm>
            <a:off x="9124950" y="34861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MDR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850869-A0B1-48BD-93D1-B58C9E6F5D46}"/>
              </a:ext>
            </a:extLst>
          </p:cNvPr>
          <p:cNvSpPr>
            <a:spLocks noGrp="1"/>
          </p:cNvSpPr>
          <p:nvPr/>
        </p:nvSpPr>
        <p:spPr>
          <a:xfrm>
            <a:off x="9124950" y="3838575"/>
            <a:ext cx="22098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五个数据集 × 两个 embedding 的 point-estimate exploratory run。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62C6CA-499F-42B1-8229-4739FBDE95C8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43504C-53B4-4216-8020-37D1428ED2EA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23857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3B244F8-B0BC-4EC2-A6C0-62E89CDB94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ABBEDA19-149D-4BD3-929E-D0559085F851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AF7FF726-74E9-45B5-93E6-74AAB2949484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02 / FRAME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37579-922C-4418-8668-4BA5457CEC32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评估框架</a:t>
            </a:r>
            <a:endParaRPr sz="2400" b="1" dirty="0">
              <a:solidFill>
                <a:srgbClr val="17202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2C655-D777-469F-8988-C0CB9E5468C6}"/>
              </a:ext>
            </a:extLst>
          </p:cNvPr>
          <p:cNvSpPr>
            <a:spLocks noGrp="1"/>
          </p:cNvSpPr>
          <p:nvPr/>
        </p:nvSpPr>
        <p:spPr>
          <a:xfrm>
            <a:off x="514350" y="1266825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新增数据、拆分数据、验证</a:t>
            </a:r>
            <a:r>
              <a:rPr sz="120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representation、</a:t>
            </a:r>
            <a:r>
              <a:rPr lang="en-US" sz="120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新的</a:t>
            </a:r>
            <a:r>
              <a:rPr sz="120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estimator，都是为了更可靠地估计</a:t>
            </a:r>
            <a:r>
              <a:rPr sz="120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agent policy value。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9A926-C6F9-4A9B-89BC-5CC8AF44747B}"/>
              </a:ext>
            </a:extLst>
          </p:cNvPr>
          <p:cNvSpPr>
            <a:spLocks noGrp="1"/>
          </p:cNvSpPr>
          <p:nvPr/>
        </p:nvSpPr>
        <p:spPr>
          <a:xfrm>
            <a:off x="552450" y="2238375"/>
            <a:ext cx="233362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FF6B8E-0700-4194-99E1-296627B544D1}"/>
              </a:ext>
            </a:extLst>
          </p:cNvPr>
          <p:cNvSpPr>
            <a:spLocks noGrp="1"/>
          </p:cNvSpPr>
          <p:nvPr/>
        </p:nvSpPr>
        <p:spPr>
          <a:xfrm>
            <a:off x="552450" y="2238375"/>
            <a:ext cx="2333625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27BAD-6923-41B3-BADE-161563D36331}"/>
              </a:ext>
            </a:extLst>
          </p:cNvPr>
          <p:cNvSpPr>
            <a:spLocks noGrp="1"/>
          </p:cNvSpPr>
          <p:nvPr/>
        </p:nvSpPr>
        <p:spPr>
          <a:xfrm>
            <a:off x="704850" y="2390775"/>
            <a:ext cx="20288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1. Dataset expansion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0126FD-388F-40F3-BD76-A00830EFB11E}"/>
              </a:ext>
            </a:extLst>
          </p:cNvPr>
          <p:cNvSpPr>
            <a:spLocks noGrp="1"/>
          </p:cNvSpPr>
          <p:nvPr/>
        </p:nvSpPr>
        <p:spPr>
          <a:xfrm>
            <a:off x="704850" y="2695575"/>
            <a:ext cx="20288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Ayers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AskDocs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lang="zh-CN" altLang="en-US"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：</a:t>
            </a:r>
            <a:endParaRPr lang="en-US" altLang="zh-CN" sz="915" b="0" dirty="0">
              <a:solidFill>
                <a:srgbClr val="5B6470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提供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physician baseline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与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ChatGPT target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的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paired reward。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EC9D1E-7FDD-4E2C-98E8-7CABC975C06D}"/>
              </a:ext>
            </a:extLst>
          </p:cNvPr>
          <p:cNvSpPr>
            <a:spLocks noGrp="1"/>
          </p:cNvSpPr>
          <p:nvPr/>
        </p:nvSpPr>
        <p:spPr>
          <a:xfrm>
            <a:off x="3905250" y="2238375"/>
            <a:ext cx="233362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72D3D-9AAE-4F9E-89BB-BF9074A64AC8}"/>
              </a:ext>
            </a:extLst>
          </p:cNvPr>
          <p:cNvSpPr>
            <a:spLocks noGrp="1"/>
          </p:cNvSpPr>
          <p:nvPr/>
        </p:nvSpPr>
        <p:spPr>
          <a:xfrm>
            <a:off x="3905250" y="2238375"/>
            <a:ext cx="2333625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0328BD-6F47-4C27-8580-9530CB247BD5}"/>
              </a:ext>
            </a:extLst>
          </p:cNvPr>
          <p:cNvSpPr>
            <a:spLocks noGrp="1"/>
          </p:cNvSpPr>
          <p:nvPr/>
        </p:nvSpPr>
        <p:spPr>
          <a:xfrm>
            <a:off x="4057650" y="2390775"/>
            <a:ext cx="20288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2. Source decomposition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DB5ABB-9ABE-4ACC-9823-14F99EE72096}"/>
              </a:ext>
            </a:extLst>
          </p:cNvPr>
          <p:cNvSpPr>
            <a:spLocks noGrp="1"/>
          </p:cNvSpPr>
          <p:nvPr/>
        </p:nvSpPr>
        <p:spPr>
          <a:xfrm>
            <a:off x="4057650" y="2695575"/>
            <a:ext cx="20288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把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n=397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主混合集拆成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ACI、MTS、PriMock，定位哪个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source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推动或破坏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headline。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3C4CD-62B5-40D1-BA68-6F5DA4B870F2}"/>
              </a:ext>
            </a:extLst>
          </p:cNvPr>
          <p:cNvSpPr>
            <a:spLocks noGrp="1"/>
          </p:cNvSpPr>
          <p:nvPr/>
        </p:nvSpPr>
        <p:spPr>
          <a:xfrm>
            <a:off x="7056023" y="2238375"/>
            <a:ext cx="233362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CCBEE9-A6BC-414D-9C57-3B22A5A0AE1D}"/>
              </a:ext>
            </a:extLst>
          </p:cNvPr>
          <p:cNvSpPr>
            <a:spLocks noGrp="1"/>
          </p:cNvSpPr>
          <p:nvPr/>
        </p:nvSpPr>
        <p:spPr>
          <a:xfrm>
            <a:off x="7056023" y="2238375"/>
            <a:ext cx="2333625" cy="476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DF92AF-26E8-49EF-A2FA-C4D9A4158335}"/>
              </a:ext>
            </a:extLst>
          </p:cNvPr>
          <p:cNvSpPr>
            <a:spLocks noGrp="1"/>
          </p:cNvSpPr>
          <p:nvPr/>
        </p:nvSpPr>
        <p:spPr>
          <a:xfrm>
            <a:off x="7282854" y="2390775"/>
            <a:ext cx="20288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3. Representation check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E6A97F-2EC3-482A-9D86-DB7CE85DF84D}"/>
              </a:ext>
            </a:extLst>
          </p:cNvPr>
          <p:cNvSpPr>
            <a:spLocks noGrp="1"/>
          </p:cNvSpPr>
          <p:nvPr/>
        </p:nvSpPr>
        <p:spPr>
          <a:xfrm>
            <a:off x="7282854" y="2695575"/>
            <a:ext cx="20288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two-tower reward model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只用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logged clinician reward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学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reward-informed embedding。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460BBA-AE7E-412C-BA3E-99F5443572BA}"/>
              </a:ext>
            </a:extLst>
          </p:cNvPr>
          <p:cNvSpPr>
            <a:spLocks noGrp="1"/>
          </p:cNvSpPr>
          <p:nvPr/>
        </p:nvSpPr>
        <p:spPr>
          <a:xfrm>
            <a:off x="9952074" y="2238375"/>
            <a:ext cx="2125626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E057EE-6F7B-48FB-A55A-C90100C206C5}"/>
              </a:ext>
            </a:extLst>
          </p:cNvPr>
          <p:cNvSpPr>
            <a:spLocks noGrp="1"/>
          </p:cNvSpPr>
          <p:nvPr/>
        </p:nvSpPr>
        <p:spPr>
          <a:xfrm>
            <a:off x="9952074" y="2240281"/>
            <a:ext cx="2125626" cy="45719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1F22F9-2065-4914-8F33-1E31414FB240}"/>
              </a:ext>
            </a:extLst>
          </p:cNvPr>
          <p:cNvSpPr>
            <a:spLocks noGrp="1"/>
          </p:cNvSpPr>
          <p:nvPr/>
        </p:nvSpPr>
        <p:spPr>
          <a:xfrm>
            <a:off x="10206796" y="2390775"/>
            <a:ext cx="1718504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4. </a:t>
            </a:r>
            <a:r>
              <a:rPr lang="en-US" sz="112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New</a:t>
            </a:r>
            <a:r>
              <a:rPr lang="zh-CN" altLang="en-US" sz="112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2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Estimator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4E5864-099F-401A-868C-F134A50D34D5}"/>
              </a:ext>
            </a:extLst>
          </p:cNvPr>
          <p:cNvSpPr>
            <a:spLocks noGrp="1"/>
          </p:cNvSpPr>
          <p:nvPr/>
        </p:nvSpPr>
        <p:spPr>
          <a:xfrm>
            <a:off x="10206796" y="2695575"/>
            <a:ext cx="1718504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新增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MDR，对照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MIPS、DM、OffCEM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15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的</a:t>
            </a:r>
            <a:r>
              <a:rPr sz="915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point bias。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B5D4F8-5EA0-48F4-A3FA-EB01FBC9AACA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10096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F775B9-EB91-4A79-AEC1-9479AA6EDF8F}"/>
              </a:ext>
            </a:extLst>
          </p:cNvPr>
          <p:cNvSpPr>
            <a:spLocks noGrp="1"/>
          </p:cNvSpPr>
          <p:nvPr/>
        </p:nvSpPr>
        <p:spPr>
          <a:xfrm>
            <a:off x="1314450" y="4305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共同评估协议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FB8D46-740E-44CB-A099-6912FAA52C61}"/>
              </a:ext>
            </a:extLst>
          </p:cNvPr>
          <p:cNvSpPr>
            <a:spLocks noGrp="1"/>
          </p:cNvSpPr>
          <p:nvPr/>
        </p:nvSpPr>
        <p:spPr>
          <a:xfrm>
            <a:off x="3162300" y="424815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输入：x_patient_context + clinician action + agent action</a:t>
            </a:r>
          </a:p>
          <a:p>
            <a:pPr algn="l">
              <a:defRPr sz="10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表示：BGE-M3 或 BGE-M3 + learned concat-PCA</a:t>
            </a:r>
          </a:p>
          <a:p>
            <a:pPr algn="l">
              <a:defRPr sz="10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估计器：DM / MIPS / OffCEM / MDR</a:t>
            </a:r>
          </a:p>
          <a:p>
            <a:pPr algn="l">
              <a:defRPr sz="10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评价：V_b、V_agent、effect、V_hat、bias / RMSE / direction / CI coverage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EFBE7A-E8EC-417C-ADFF-FE4B132A3636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A415C5-D796-4883-8854-F561E1C3BB68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201413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B56E8F21-18E4-4ECD-BED6-4F78D2CF0A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ED8DDD3A-5A6F-42F2-9C90-91C9D1EEBD41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01BA44FF-5163-4A92-9EBB-15B9D5038AF6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03 / NEW 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50365-052E-4AC9-9DAD-6E3CE0DB6B94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Ayers </a:t>
            </a:r>
            <a:r>
              <a:rPr sz="2400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AskDocs</a:t>
            </a:r>
            <a:r>
              <a:rPr lang="zh-CN" altLang="en-US" sz="2400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整理</a:t>
            </a:r>
            <a:endParaRPr lang="en-US" altLang="zh-CN" sz="2400" b="1" dirty="0">
              <a:solidFill>
                <a:srgbClr val="17202A"/>
              </a:solidFill>
              <a:latin typeface="Arial Unicode MS"/>
              <a:ea typeface="Arial Unicode MS"/>
              <a:cs typeface="Arial Unicode MS"/>
            </a:endParaRPr>
          </a:p>
          <a:p>
            <a:pPr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en-US" sz="1200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https://</a:t>
            </a:r>
            <a:r>
              <a:rPr lang="en-US" sz="1200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pubmed.ncbi.nlm.nih.gov</a:t>
            </a:r>
            <a:r>
              <a:rPr lang="en-US" sz="1200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/37115527/</a:t>
            </a:r>
            <a:endParaRPr sz="1200" b="1" dirty="0">
              <a:solidFill>
                <a:srgbClr val="17202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5FE727-4D11-4D6C-A43B-39F9A0027D01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2000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A9ECAD-109B-47FD-8DCC-3915B01F6AD2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2000250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1990F9-C5F0-4EEB-8E83-DF66AA92DD8D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Raw source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9E2E44-CA01-4062-8539-FAA2755A6AD1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Ayers et al. 2023 AskDocs physician vs ChatGPT replication data。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C959C8-0D6A-4FDF-A422-6700D560ECC1}"/>
              </a:ext>
            </a:extLst>
          </p:cNvPr>
          <p:cNvSpPr>
            <a:spLocks noGrp="1"/>
          </p:cNvSpPr>
          <p:nvPr/>
        </p:nvSpPr>
        <p:spPr>
          <a:xfrm>
            <a:off x="2762250" y="2743200"/>
            <a:ext cx="685800" cy="19050"/>
          </a:xfrm>
          <a:prstGeom prst="rect">
            <a:avLst/>
          </a:prstGeom>
          <a:solidFill>
            <a:srgbClr val="C8B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B79AA7-2322-41F4-8791-1BFBA7F1284B}"/>
              </a:ext>
            </a:extLst>
          </p:cNvPr>
          <p:cNvSpPr>
            <a:spLocks noGrp="1"/>
          </p:cNvSpPr>
          <p:nvPr/>
        </p:nvSpPr>
        <p:spPr>
          <a:xfrm>
            <a:off x="3371850" y="2630008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dirty="0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7D78A-B4EF-452D-AEBD-DE56A3A7C836}"/>
              </a:ext>
            </a:extLst>
          </p:cNvPr>
          <p:cNvSpPr>
            <a:spLocks noGrp="1"/>
          </p:cNvSpPr>
          <p:nvPr/>
        </p:nvSpPr>
        <p:spPr>
          <a:xfrm>
            <a:off x="3600450" y="2190750"/>
            <a:ext cx="2000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03A865-6899-4E35-876F-37C524BC3D52}"/>
              </a:ext>
            </a:extLst>
          </p:cNvPr>
          <p:cNvSpPr>
            <a:spLocks noGrp="1"/>
          </p:cNvSpPr>
          <p:nvPr/>
        </p:nvSpPr>
        <p:spPr>
          <a:xfrm>
            <a:off x="3600450" y="2190750"/>
            <a:ext cx="2000250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9E8798-62FD-492C-8E63-42F19890FD4C}"/>
              </a:ext>
            </a:extLst>
          </p:cNvPr>
          <p:cNvSpPr>
            <a:spLocks noGrp="1"/>
          </p:cNvSpPr>
          <p:nvPr/>
        </p:nvSpPr>
        <p:spPr>
          <a:xfrm>
            <a:off x="3752850" y="23431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Paired rows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B10A8C-C76B-4574-BA32-761EF13DA766}"/>
              </a:ext>
            </a:extLst>
          </p:cNvPr>
          <p:cNvSpPr>
            <a:spLocks noGrp="1"/>
          </p:cNvSpPr>
          <p:nvPr/>
        </p:nvSpPr>
        <p:spPr>
          <a:xfrm>
            <a:off x="3752850" y="26479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195 条 patient question；physician response 作为行为策略，ChatGPT response 作为目标策略。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3B7029-F53B-41F3-8831-77DD668B95E7}"/>
              </a:ext>
            </a:extLst>
          </p:cNvPr>
          <p:cNvSpPr>
            <a:spLocks noGrp="1"/>
          </p:cNvSpPr>
          <p:nvPr/>
        </p:nvSpPr>
        <p:spPr>
          <a:xfrm>
            <a:off x="5734050" y="2743200"/>
            <a:ext cx="685800" cy="19050"/>
          </a:xfrm>
          <a:prstGeom prst="rect">
            <a:avLst/>
          </a:prstGeom>
          <a:solidFill>
            <a:srgbClr val="C8B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DB585-6DE3-489C-AAF0-547A5FC874B5}"/>
              </a:ext>
            </a:extLst>
          </p:cNvPr>
          <p:cNvSpPr>
            <a:spLocks noGrp="1"/>
          </p:cNvSpPr>
          <p:nvPr/>
        </p:nvSpPr>
        <p:spPr>
          <a:xfrm>
            <a:off x="6343650" y="2630008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dirty="0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A5BD68-9A2D-453F-B816-5CB7507FCFF4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2000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C784DE-2637-434A-A858-69B202E0B72C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2000250" cy="476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3A6D6B-9696-4FF6-BFED-4E202F496F0E}"/>
              </a:ext>
            </a:extLst>
          </p:cNvPr>
          <p:cNvSpPr>
            <a:spLocks noGrp="1"/>
          </p:cNvSpPr>
          <p:nvPr/>
        </p:nvSpPr>
        <p:spPr>
          <a:xfrm>
            <a:off x="6724650" y="23431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Reward modes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35CCAC-51E8-49AE-B183-D7296D0EF65E}"/>
              </a:ext>
            </a:extLst>
          </p:cNvPr>
          <p:cNvSpPr>
            <a:spLocks noGrp="1"/>
          </p:cNvSpPr>
          <p:nvPr/>
        </p:nvSpPr>
        <p:spPr>
          <a:xfrm>
            <a:off x="6724650" y="26479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composite = quality + empathy；quality-only = 只看 normalized quality。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F6BFB2-7818-4F0B-BBE4-3252D19CA85D}"/>
              </a:ext>
            </a:extLst>
          </p:cNvPr>
          <p:cNvSpPr>
            <a:spLocks noGrp="1"/>
          </p:cNvSpPr>
          <p:nvPr/>
        </p:nvSpPr>
        <p:spPr>
          <a:xfrm>
            <a:off x="8705850" y="2743200"/>
            <a:ext cx="685800" cy="19050"/>
          </a:xfrm>
          <a:prstGeom prst="rect">
            <a:avLst/>
          </a:prstGeom>
          <a:solidFill>
            <a:srgbClr val="C8B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7CAE9F-BBDD-4C8E-BFCC-A6D009458EC7}"/>
              </a:ext>
            </a:extLst>
          </p:cNvPr>
          <p:cNvSpPr>
            <a:spLocks noGrp="1"/>
          </p:cNvSpPr>
          <p:nvPr/>
        </p:nvSpPr>
        <p:spPr>
          <a:xfrm>
            <a:off x="9315450" y="2630008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dirty="0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F0EF24-E568-488D-B9FE-5A1A51EA057E}"/>
              </a:ext>
            </a:extLst>
          </p:cNvPr>
          <p:cNvSpPr>
            <a:spLocks noGrp="1"/>
          </p:cNvSpPr>
          <p:nvPr/>
        </p:nvSpPr>
        <p:spPr>
          <a:xfrm>
            <a:off x="9544050" y="2190750"/>
            <a:ext cx="2000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10F836-DFF4-42BA-A136-B18D39DA0804}"/>
              </a:ext>
            </a:extLst>
          </p:cNvPr>
          <p:cNvSpPr>
            <a:spLocks noGrp="1"/>
          </p:cNvSpPr>
          <p:nvPr/>
        </p:nvSpPr>
        <p:spPr>
          <a:xfrm>
            <a:off x="9544050" y="2190750"/>
            <a:ext cx="2000250" cy="47625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DA6898-5545-4071-8054-0DB13CBDD677}"/>
              </a:ext>
            </a:extLst>
          </p:cNvPr>
          <p:cNvSpPr>
            <a:spLocks noGrp="1"/>
          </p:cNvSpPr>
          <p:nvPr/>
        </p:nvSpPr>
        <p:spPr>
          <a:xfrm>
            <a:off x="9696450" y="23431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Phase 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DC8F69-356F-4D06-9D48-97B5FA8A6F12}"/>
              </a:ext>
            </a:extLst>
          </p:cNvPr>
          <p:cNvSpPr>
            <a:spLocks noGrp="1"/>
          </p:cNvSpPr>
          <p:nvPr/>
        </p:nvSpPr>
        <p:spPr>
          <a:xfrm>
            <a:off x="9696450" y="26479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BGE-M3 与 learned concat-PCA；DM / MIPS / OffCEM 跑完整 headline。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05083A-C000-4791-AEC8-AEC003FFF4E8}"/>
              </a:ext>
            </a:extLst>
          </p:cNvPr>
          <p:cNvSpPr>
            <a:spLocks noGrp="1"/>
          </p:cNvSpPr>
          <p:nvPr/>
        </p:nvSpPr>
        <p:spPr>
          <a:xfrm>
            <a:off x="1104900" y="3924300"/>
            <a:ext cx="22479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E9A0A-82BF-4666-B776-F671A2774624}"/>
              </a:ext>
            </a:extLst>
          </p:cNvPr>
          <p:cNvSpPr>
            <a:spLocks noGrp="1"/>
          </p:cNvSpPr>
          <p:nvPr/>
        </p:nvSpPr>
        <p:spPr>
          <a:xfrm>
            <a:off x="1104900" y="3924300"/>
            <a:ext cx="47625" cy="10668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AECEB7-91B2-47FD-B9CC-AB662FBEE4B8}"/>
              </a:ext>
            </a:extLst>
          </p:cNvPr>
          <p:cNvSpPr>
            <a:spLocks noGrp="1"/>
          </p:cNvSpPr>
          <p:nvPr/>
        </p:nvSpPr>
        <p:spPr>
          <a:xfrm>
            <a:off x="1276350" y="40576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样本规模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8986B4-6BF5-43BB-917F-8E1521658D9A}"/>
              </a:ext>
            </a:extLst>
          </p:cNvPr>
          <p:cNvSpPr>
            <a:spLocks noGrp="1"/>
          </p:cNvSpPr>
          <p:nvPr/>
        </p:nvSpPr>
        <p:spPr>
          <a:xfrm>
            <a:off x="1276350" y="42672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195 paired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EA661D-C913-49D5-A3E9-8991E90CE411}"/>
              </a:ext>
            </a:extLst>
          </p:cNvPr>
          <p:cNvSpPr>
            <a:spLocks noGrp="1"/>
          </p:cNvSpPr>
          <p:nvPr/>
        </p:nvSpPr>
        <p:spPr>
          <a:xfrm>
            <a:off x="1276350" y="4619625"/>
            <a:ext cx="1981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human baseline rows = 195；target_counts.chatgpt = 195。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CA2ADC-4930-4DF0-8FF1-ACF973AF336A}"/>
              </a:ext>
            </a:extLst>
          </p:cNvPr>
          <p:cNvSpPr>
            <a:spLocks noGrp="1"/>
          </p:cNvSpPr>
          <p:nvPr/>
        </p:nvSpPr>
        <p:spPr>
          <a:xfrm>
            <a:off x="3714750" y="3924300"/>
            <a:ext cx="22479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AAB461-5214-4D16-B6BA-26D93F9FC31F}"/>
              </a:ext>
            </a:extLst>
          </p:cNvPr>
          <p:cNvSpPr>
            <a:spLocks noGrp="1"/>
          </p:cNvSpPr>
          <p:nvPr/>
        </p:nvSpPr>
        <p:spPr>
          <a:xfrm>
            <a:off x="3714750" y="3924300"/>
            <a:ext cx="47625" cy="10668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092698-7212-4A6F-959D-5B8313D925EF}"/>
              </a:ext>
            </a:extLst>
          </p:cNvPr>
          <p:cNvSpPr>
            <a:spLocks noGrp="1"/>
          </p:cNvSpPr>
          <p:nvPr/>
        </p:nvSpPr>
        <p:spPr>
          <a:xfrm>
            <a:off x="3886200" y="40576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Schema 输出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378DF3-E1CC-4B9D-A4AD-B9CED4061C53}"/>
              </a:ext>
            </a:extLst>
          </p:cNvPr>
          <p:cNvSpPr>
            <a:spLocks noGrp="1"/>
          </p:cNvSpPr>
          <p:nvPr/>
        </p:nvSpPr>
        <p:spPr>
          <a:xfrm>
            <a:off x="3886200" y="42672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Phase 2/3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F4AE97-9DEE-4D2B-BF59-BCA9A7724473}"/>
              </a:ext>
            </a:extLst>
          </p:cNvPr>
          <p:cNvSpPr>
            <a:spLocks noGrp="1"/>
          </p:cNvSpPr>
          <p:nvPr/>
        </p:nvSpPr>
        <p:spPr>
          <a:xfrm>
            <a:off x="3886200" y="4619625"/>
            <a:ext cx="1981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phase2_dataset.jsonl + phase3_chatgpt_expert_scored.jsonl。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48E4E1-1FFE-4CE5-BE04-5D259564F6DA}"/>
              </a:ext>
            </a:extLst>
          </p:cNvPr>
          <p:cNvSpPr>
            <a:spLocks noGrp="1"/>
          </p:cNvSpPr>
          <p:nvPr/>
        </p:nvSpPr>
        <p:spPr>
          <a:xfrm>
            <a:off x="6324600" y="3924300"/>
            <a:ext cx="22479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53F338-26C0-4C50-8D60-46909F2B6838}"/>
              </a:ext>
            </a:extLst>
          </p:cNvPr>
          <p:cNvSpPr>
            <a:spLocks noGrp="1"/>
          </p:cNvSpPr>
          <p:nvPr/>
        </p:nvSpPr>
        <p:spPr>
          <a:xfrm>
            <a:off x="6324600" y="3924300"/>
            <a:ext cx="47625" cy="1066800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224EC9-57DE-4DDD-8A95-10D5F3C5BF0C}"/>
              </a:ext>
            </a:extLst>
          </p:cNvPr>
          <p:cNvSpPr>
            <a:spLocks noGrp="1"/>
          </p:cNvSpPr>
          <p:nvPr/>
        </p:nvSpPr>
        <p:spPr>
          <a:xfrm>
            <a:off x="6496050" y="40576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Effect 输出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C96DFF-E2E4-4F2C-B645-27441E78D600}"/>
              </a:ext>
            </a:extLst>
          </p:cNvPr>
          <p:cNvSpPr>
            <a:spLocks noGrp="1"/>
          </p:cNvSpPr>
          <p:nvPr/>
        </p:nvSpPr>
        <p:spPr>
          <a:xfrm>
            <a:off x="6496050" y="42672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2 JSON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64C52F1-D14A-4714-B3A4-6571E7BD8367}"/>
              </a:ext>
            </a:extLst>
          </p:cNvPr>
          <p:cNvSpPr>
            <a:spLocks noGrp="1"/>
          </p:cNvSpPr>
          <p:nvPr/>
        </p:nvSpPr>
        <p:spPr>
          <a:xfrm>
            <a:off x="6496050" y="4619625"/>
            <a:ext cx="1981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composite 与 quality-only 各自生成 ground_truth_effect。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277D2-5D45-47AE-8F1A-B308C7E3E8ED}"/>
              </a:ext>
            </a:extLst>
          </p:cNvPr>
          <p:cNvSpPr>
            <a:spLocks noGrp="1"/>
          </p:cNvSpPr>
          <p:nvPr/>
        </p:nvSpPr>
        <p:spPr>
          <a:xfrm>
            <a:off x="8934450" y="3924300"/>
            <a:ext cx="22479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B29F14-4612-4662-B082-4984BE7BB30E}"/>
              </a:ext>
            </a:extLst>
          </p:cNvPr>
          <p:cNvSpPr>
            <a:spLocks noGrp="1"/>
          </p:cNvSpPr>
          <p:nvPr/>
        </p:nvSpPr>
        <p:spPr>
          <a:xfrm>
            <a:off x="8934450" y="3924300"/>
            <a:ext cx="47625" cy="10668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B3DE4F-539C-4E17-AE56-B3A426E6DA88}"/>
              </a:ext>
            </a:extLst>
          </p:cNvPr>
          <p:cNvSpPr>
            <a:spLocks noGrp="1"/>
          </p:cNvSpPr>
          <p:nvPr/>
        </p:nvSpPr>
        <p:spPr>
          <a:xfrm>
            <a:off x="9105900" y="40576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测试覆盖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A20357B-17E1-43C2-8F4A-011462C6BC86}"/>
              </a:ext>
            </a:extLst>
          </p:cNvPr>
          <p:cNvSpPr>
            <a:spLocks noGrp="1"/>
          </p:cNvSpPr>
          <p:nvPr/>
        </p:nvSpPr>
        <p:spPr>
          <a:xfrm>
            <a:off x="9105900" y="42672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2 tests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729038-8880-4213-847B-3147AF6C08D8}"/>
              </a:ext>
            </a:extLst>
          </p:cNvPr>
          <p:cNvSpPr>
            <a:spLocks noGrp="1"/>
          </p:cNvSpPr>
          <p:nvPr/>
        </p:nvSpPr>
        <p:spPr>
          <a:xfrm>
            <a:off x="9105900" y="4619625"/>
            <a:ext cx="1981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新增 tests/test_ayers_askdocs.py；CLI 与 pyproject 入口同步更新。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AC71084-57E8-4FFE-8912-B702BF78E629}"/>
              </a:ext>
            </a:extLst>
          </p:cNvPr>
          <p:cNvSpPr>
            <a:spLocks noGrp="1"/>
          </p:cNvSpPr>
          <p:nvPr/>
        </p:nvSpPr>
        <p:spPr>
          <a:xfrm>
            <a:off x="933450" y="5562600"/>
            <a:ext cx="10287000" cy="381000"/>
          </a:xfrm>
          <a:prstGeom prst="rect">
            <a:avLst/>
          </a:prstGeom>
          <a:solidFill>
            <a:srgbClr val="EFE7DA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3FF104-4BAA-4D63-9DA4-E28A9DECB86A}"/>
              </a:ext>
            </a:extLst>
          </p:cNvPr>
          <p:cNvSpPr>
            <a:spLocks noGrp="1"/>
          </p:cNvSpPr>
          <p:nvPr/>
        </p:nvSpPr>
        <p:spPr>
          <a:xfrm>
            <a:off x="1181100" y="5667375"/>
            <a:ext cx="979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意义：新增的是一个真实专家标注 paired dataset，可以验证 OPE 方法是否能处理单轮 AskDocs 医疗问答，而不是只依赖原来的混合医疗对话主集。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8EBA5D-C23B-42F1-B3DD-A96E9D33EDAD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1A3FEAD-1405-476A-8B32-5655B033E779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Sources: data/ayers_askdocs*/manifest.json, fce5f08 commit summary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AA6156-21FB-4ECC-B5A7-4C7F0F51D706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29935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D4008F7D-0644-4B03-AD66-043CD1047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6234D761-5A22-42FC-B4F3-8A5BF349F17D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F3975070-7BA5-4892-B13F-6C846B83DC8C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04 / ASKDOCS 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B60AA-0529-406D-AA6E-CC6F35489764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AskDocs 结果显示 target 明显优于 physician baseline，quality-only 最容易被 learned MIPS 估准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3E09E-7020-4254-AF96-C59EF836D306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同一批 195 条样本被拆成 composite 与 quality-only 两种 reward 定义；两者都支持 ChatGPT target 的正向 effect。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CA54F-2859-45EF-8E4D-3E61F9D59E63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7191375" cy="36195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D205A3-C93C-4428-91AE-2B0CA20CD9D7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Reward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83154F-30B0-4211-977E-8A3FDDA56C3E}"/>
              </a:ext>
            </a:extLst>
          </p:cNvPr>
          <p:cNvSpPr>
            <a:spLocks noGrp="1"/>
          </p:cNvSpPr>
          <p:nvPr/>
        </p:nvSpPr>
        <p:spPr>
          <a:xfrm>
            <a:off x="1981200" y="22669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F21348-922B-4C5B-9145-864AB7A7220E}"/>
              </a:ext>
            </a:extLst>
          </p:cNvPr>
          <p:cNvSpPr>
            <a:spLocks noGrp="1"/>
          </p:cNvSpPr>
          <p:nvPr/>
        </p:nvSpPr>
        <p:spPr>
          <a:xfrm>
            <a:off x="2933700" y="22669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V_agent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191DA6-1620-4E61-9E6B-F1DD51EDC7AC}"/>
              </a:ext>
            </a:extLst>
          </p:cNvPr>
          <p:cNvSpPr>
            <a:spLocks noGrp="1"/>
          </p:cNvSpPr>
          <p:nvPr/>
        </p:nvSpPr>
        <p:spPr>
          <a:xfrm>
            <a:off x="3886200" y="2266950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Effect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0CE9F5-096C-41A1-8718-6241031CF9BA}"/>
              </a:ext>
            </a:extLst>
          </p:cNvPr>
          <p:cNvSpPr>
            <a:spLocks noGrp="1"/>
          </p:cNvSpPr>
          <p:nvPr/>
        </p:nvSpPr>
        <p:spPr>
          <a:xfrm>
            <a:off x="4886325" y="2266950"/>
            <a:ext cx="11334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config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DAE5CC-FC58-4BC2-842A-27D35E9D3BA0}"/>
              </a:ext>
            </a:extLst>
          </p:cNvPr>
          <p:cNvSpPr>
            <a:spLocks noGrp="1"/>
          </p:cNvSpPr>
          <p:nvPr/>
        </p:nvSpPr>
        <p:spPr>
          <a:xfrm>
            <a:off x="6172200" y="2266950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RMSE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B23A1A-3073-47B7-8017-2940EA3F3A8C}"/>
              </a:ext>
            </a:extLst>
          </p:cNvPr>
          <p:cNvSpPr>
            <a:spLocks noGrp="1"/>
          </p:cNvSpPr>
          <p:nvPr/>
        </p:nvSpPr>
        <p:spPr>
          <a:xfrm>
            <a:off x="7172325" y="226695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Coverage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E1557-61DB-4781-9926-B4E809CA881E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719137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E68BA-B001-41C5-8A85-23767B5163D4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Composite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26A4C2-2943-4971-8C64-4303E1EE8433}"/>
              </a:ext>
            </a:extLst>
          </p:cNvPr>
          <p:cNvSpPr>
            <a:spLocks noGrp="1"/>
          </p:cNvSpPr>
          <p:nvPr/>
        </p:nvSpPr>
        <p:spPr>
          <a:xfrm>
            <a:off x="1981200" y="26289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0.4254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5A8476-5BEA-48F3-882D-CFCF17861CEF}"/>
              </a:ext>
            </a:extLst>
          </p:cNvPr>
          <p:cNvSpPr>
            <a:spLocks noGrp="1"/>
          </p:cNvSpPr>
          <p:nvPr/>
        </p:nvSpPr>
        <p:spPr>
          <a:xfrm>
            <a:off x="2933700" y="26289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0.7233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EB7B34-55FF-4EC9-84B0-2D91B07B5501}"/>
              </a:ext>
            </a:extLst>
          </p:cNvPr>
          <p:cNvSpPr>
            <a:spLocks noGrp="1"/>
          </p:cNvSpPr>
          <p:nvPr/>
        </p:nvSpPr>
        <p:spPr>
          <a:xfrm>
            <a:off x="3886200" y="2628900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+0.2979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D97CE2-4CAD-48E0-B4D5-772F58B37D1B}"/>
              </a:ext>
            </a:extLst>
          </p:cNvPr>
          <p:cNvSpPr>
            <a:spLocks noGrp="1"/>
          </p:cNvSpPr>
          <p:nvPr/>
        </p:nvSpPr>
        <p:spPr>
          <a:xfrm>
            <a:off x="4886325" y="2628900"/>
            <a:ext cx="11334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learned MIPS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A6DAB8-E17F-4789-A2EB-A9FDD5871398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0.0857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9C50D8-6924-4163-BE07-C53378CB7137}"/>
              </a:ext>
            </a:extLst>
          </p:cNvPr>
          <p:cNvSpPr>
            <a:spLocks noGrp="1"/>
          </p:cNvSpPr>
          <p:nvPr/>
        </p:nvSpPr>
        <p:spPr>
          <a:xfrm>
            <a:off x="7172325" y="26289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no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6E8FD9-EB2D-4C43-B053-307450A9FF17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7191375" cy="361950"/>
          </a:xfrm>
          <a:prstGeom prst="rect">
            <a:avLst/>
          </a:prstGeom>
          <a:solidFill>
            <a:srgbClr val="F3EFE8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EF106D-AD64-43A0-8BE3-71CCD7FF5B0A}"/>
              </a:ext>
            </a:extLst>
          </p:cNvPr>
          <p:cNvSpPr>
            <a:spLocks noGrp="1"/>
          </p:cNvSpPr>
          <p:nvPr/>
        </p:nvSpPr>
        <p:spPr>
          <a:xfrm>
            <a:off x="742950" y="29908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Quality-only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2697CC-4A48-4DB5-82ED-859DCFC404DE}"/>
              </a:ext>
            </a:extLst>
          </p:cNvPr>
          <p:cNvSpPr>
            <a:spLocks noGrp="1"/>
          </p:cNvSpPr>
          <p:nvPr/>
        </p:nvSpPr>
        <p:spPr>
          <a:xfrm>
            <a:off x="1981200" y="29908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0.5641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B9785E-713B-4F7C-BF1C-2F4902E05DEE}"/>
              </a:ext>
            </a:extLst>
          </p:cNvPr>
          <p:cNvSpPr>
            <a:spLocks noGrp="1"/>
          </p:cNvSpPr>
          <p:nvPr/>
        </p:nvSpPr>
        <p:spPr>
          <a:xfrm>
            <a:off x="2933700" y="29908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0.7829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2A4B67-8E62-4F46-AECA-B7B242DC924D}"/>
              </a:ext>
            </a:extLst>
          </p:cNvPr>
          <p:cNvSpPr>
            <a:spLocks noGrp="1"/>
          </p:cNvSpPr>
          <p:nvPr/>
        </p:nvSpPr>
        <p:spPr>
          <a:xfrm>
            <a:off x="3886200" y="2990850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+0.2188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006E64-7E7F-4DBE-AFA4-479B317FA01D}"/>
              </a:ext>
            </a:extLst>
          </p:cNvPr>
          <p:cNvSpPr>
            <a:spLocks noGrp="1"/>
          </p:cNvSpPr>
          <p:nvPr/>
        </p:nvSpPr>
        <p:spPr>
          <a:xfrm>
            <a:off x="4886325" y="2990850"/>
            <a:ext cx="11334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learned MIPS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1CB929-54CD-4795-857F-804105CAF23E}"/>
              </a:ext>
            </a:extLst>
          </p:cNvPr>
          <p:cNvSpPr>
            <a:spLocks noGrp="1"/>
          </p:cNvSpPr>
          <p:nvPr/>
        </p:nvSpPr>
        <p:spPr>
          <a:xfrm>
            <a:off x="6172200" y="2990850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0.0363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9B4799-BDF7-4797-9D4C-F7E206B7CA67}"/>
              </a:ext>
            </a:extLst>
          </p:cNvPr>
          <p:cNvSpPr>
            <a:spLocks noGrp="1"/>
          </p:cNvSpPr>
          <p:nvPr/>
        </p:nvSpPr>
        <p:spPr>
          <a:xfrm>
            <a:off x="7172325" y="299085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yes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C42DA3-C9C0-42A6-8D19-C7520B958491}"/>
              </a:ext>
            </a:extLst>
          </p:cNvPr>
          <p:cNvSpPr>
            <a:spLocks noGrp="1"/>
          </p:cNvSpPr>
          <p:nvPr/>
        </p:nvSpPr>
        <p:spPr>
          <a:xfrm>
            <a:off x="8524875" y="2171700"/>
            <a:ext cx="2095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F93724-8DAE-42C6-BDCF-CFFC0F2A3747}"/>
              </a:ext>
            </a:extLst>
          </p:cNvPr>
          <p:cNvSpPr>
            <a:spLocks noGrp="1"/>
          </p:cNvSpPr>
          <p:nvPr/>
        </p:nvSpPr>
        <p:spPr>
          <a:xfrm>
            <a:off x="8524875" y="2171700"/>
            <a:ext cx="47625" cy="10668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160287-949C-499B-BA78-7F8C4B294386}"/>
              </a:ext>
            </a:extLst>
          </p:cNvPr>
          <p:cNvSpPr>
            <a:spLocks noGrp="1"/>
          </p:cNvSpPr>
          <p:nvPr/>
        </p:nvSpPr>
        <p:spPr>
          <a:xfrm>
            <a:off x="8696325" y="23050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COMPOSITE DIRECTION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A7C2FA-23CD-46FE-BD16-E9F5BE684384}"/>
              </a:ext>
            </a:extLst>
          </p:cNvPr>
          <p:cNvSpPr>
            <a:spLocks noGrp="1"/>
          </p:cNvSpPr>
          <p:nvPr/>
        </p:nvSpPr>
        <p:spPr>
          <a:xfrm>
            <a:off x="8696325" y="251460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90.3%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CF3910-7338-456C-8039-958AB34C57AD}"/>
              </a:ext>
            </a:extLst>
          </p:cNvPr>
          <p:cNvSpPr>
            <a:spLocks noGrp="1"/>
          </p:cNvSpPr>
          <p:nvPr/>
        </p:nvSpPr>
        <p:spPr>
          <a:xfrm>
            <a:off x="8696325" y="2867025"/>
            <a:ext cx="18288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agent better rate in ground-truth paired labels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5C29F2-1A82-407A-BB4D-2CBE356FB4A2}"/>
              </a:ext>
            </a:extLst>
          </p:cNvPr>
          <p:cNvSpPr>
            <a:spLocks noGrp="1"/>
          </p:cNvSpPr>
          <p:nvPr/>
        </p:nvSpPr>
        <p:spPr>
          <a:xfrm>
            <a:off x="8524875" y="3429000"/>
            <a:ext cx="2095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30FCB4-9FAD-4E02-8A06-87BC98E9D449}"/>
              </a:ext>
            </a:extLst>
          </p:cNvPr>
          <p:cNvSpPr>
            <a:spLocks noGrp="1"/>
          </p:cNvSpPr>
          <p:nvPr/>
        </p:nvSpPr>
        <p:spPr>
          <a:xfrm>
            <a:off x="8524875" y="3429000"/>
            <a:ext cx="47625" cy="1066800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E102408-C088-455B-8348-05309BEEFDD9}"/>
              </a:ext>
            </a:extLst>
          </p:cNvPr>
          <p:cNvSpPr>
            <a:spLocks noGrp="1"/>
          </p:cNvSpPr>
          <p:nvPr/>
        </p:nvSpPr>
        <p:spPr>
          <a:xfrm>
            <a:off x="8696325" y="35623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QUALITY-ONLY DIRECTION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58ECC8-17DC-489F-9678-AEA07D268DFC}"/>
              </a:ext>
            </a:extLst>
          </p:cNvPr>
          <p:cNvSpPr>
            <a:spLocks noGrp="1"/>
          </p:cNvSpPr>
          <p:nvPr/>
        </p:nvSpPr>
        <p:spPr>
          <a:xfrm>
            <a:off x="8696325" y="3771900"/>
            <a:ext cx="1828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80.0%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DA3991-83C9-4193-8915-7BCE63752098}"/>
              </a:ext>
            </a:extLst>
          </p:cNvPr>
          <p:cNvSpPr>
            <a:spLocks noGrp="1"/>
          </p:cNvSpPr>
          <p:nvPr/>
        </p:nvSpPr>
        <p:spPr>
          <a:xfrm>
            <a:off x="8696325" y="4124325"/>
            <a:ext cx="18288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smaller true effect but easier estimator coverage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97E9C6-07C4-49EE-B842-3EDF9ED0D803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MIPS RMSE：BGE-M3 → learned </a:t>
            </a:r>
            <a:r>
              <a:rPr sz="1275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concat</a:t>
            </a:r>
            <a:r>
              <a:rPr sz="127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-PCA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657A08-21C0-4640-866D-A49764582536}"/>
              </a:ext>
            </a:extLst>
          </p:cNvPr>
          <p:cNvSpPr>
            <a:spLocks noGrp="1"/>
          </p:cNvSpPr>
          <p:nvPr/>
        </p:nvSpPr>
        <p:spPr>
          <a:xfrm>
            <a:off x="952500" y="4476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Composite / BGE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F21B76-8B5A-40C7-9A4A-8D4DE256663E}"/>
              </a:ext>
            </a:extLst>
          </p:cNvPr>
          <p:cNvSpPr>
            <a:spLocks noGrp="1"/>
          </p:cNvSpPr>
          <p:nvPr/>
        </p:nvSpPr>
        <p:spPr>
          <a:xfrm>
            <a:off x="2905125" y="4514850"/>
            <a:ext cx="23812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455744B-6FF7-48E5-A223-1A8AE197F091}"/>
              </a:ext>
            </a:extLst>
          </p:cNvPr>
          <p:cNvSpPr>
            <a:spLocks noGrp="1"/>
          </p:cNvSpPr>
          <p:nvPr/>
        </p:nvSpPr>
        <p:spPr>
          <a:xfrm>
            <a:off x="2905125" y="4514850"/>
            <a:ext cx="2250281" cy="857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1B656F1-E20B-41E0-869E-609433C19924}"/>
              </a:ext>
            </a:extLst>
          </p:cNvPr>
          <p:cNvSpPr>
            <a:spLocks noGrp="1"/>
          </p:cNvSpPr>
          <p:nvPr/>
        </p:nvSpPr>
        <p:spPr>
          <a:xfrm>
            <a:off x="5381625" y="44672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0.1134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A11B07-7199-4513-9049-EDC425636A03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Composite / learned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250511-1791-4D9E-86A9-A423D4C35B7F}"/>
              </a:ext>
            </a:extLst>
          </p:cNvPr>
          <p:cNvSpPr>
            <a:spLocks noGrp="1"/>
          </p:cNvSpPr>
          <p:nvPr/>
        </p:nvSpPr>
        <p:spPr>
          <a:xfrm>
            <a:off x="2905125" y="4895850"/>
            <a:ext cx="23812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678EBF-E209-493B-8887-261A4E2E4C54}"/>
              </a:ext>
            </a:extLst>
          </p:cNvPr>
          <p:cNvSpPr>
            <a:spLocks noGrp="1"/>
          </p:cNvSpPr>
          <p:nvPr/>
        </p:nvSpPr>
        <p:spPr>
          <a:xfrm>
            <a:off x="2905125" y="4895850"/>
            <a:ext cx="1700609" cy="857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61EF2B-D66F-4BBF-85FA-1EE62518B0DE}"/>
              </a:ext>
            </a:extLst>
          </p:cNvPr>
          <p:cNvSpPr>
            <a:spLocks noGrp="1"/>
          </p:cNvSpPr>
          <p:nvPr/>
        </p:nvSpPr>
        <p:spPr>
          <a:xfrm>
            <a:off x="5381625" y="48482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0.0857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2B56C5-0C57-454C-BD98-FB0FE28E9F50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Quality / BGE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94A2F8-9474-4B54-8DDD-03BD041F995C}"/>
              </a:ext>
            </a:extLst>
          </p:cNvPr>
          <p:cNvSpPr>
            <a:spLocks noGrp="1"/>
          </p:cNvSpPr>
          <p:nvPr/>
        </p:nvSpPr>
        <p:spPr>
          <a:xfrm>
            <a:off x="2905125" y="5276850"/>
            <a:ext cx="23812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8B3F44-D085-4C75-9A36-FF36981C8C33}"/>
              </a:ext>
            </a:extLst>
          </p:cNvPr>
          <p:cNvSpPr>
            <a:spLocks noGrp="1"/>
          </p:cNvSpPr>
          <p:nvPr/>
        </p:nvSpPr>
        <p:spPr>
          <a:xfrm>
            <a:off x="2905125" y="5276850"/>
            <a:ext cx="1214438" cy="857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1151E0-6AEE-4CDC-BA90-952AB8EF23C0}"/>
              </a:ext>
            </a:extLst>
          </p:cNvPr>
          <p:cNvSpPr>
            <a:spLocks noGrp="1"/>
          </p:cNvSpPr>
          <p:nvPr/>
        </p:nvSpPr>
        <p:spPr>
          <a:xfrm>
            <a:off x="5381625" y="52292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0.0612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6245CF-2A62-4C55-8164-AD78C9C1E176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Quality / learned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9473D4-E319-4465-8D0B-3704C6E298A6}"/>
              </a:ext>
            </a:extLst>
          </p:cNvPr>
          <p:cNvSpPr>
            <a:spLocks noGrp="1"/>
          </p:cNvSpPr>
          <p:nvPr/>
        </p:nvSpPr>
        <p:spPr>
          <a:xfrm>
            <a:off x="2905125" y="5657850"/>
            <a:ext cx="23812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A514EB-CF4A-4A48-A221-53DC77970894}"/>
              </a:ext>
            </a:extLst>
          </p:cNvPr>
          <p:cNvSpPr>
            <a:spLocks noGrp="1"/>
          </p:cNvSpPr>
          <p:nvPr/>
        </p:nvSpPr>
        <p:spPr>
          <a:xfrm>
            <a:off x="2905125" y="5657850"/>
            <a:ext cx="720328" cy="85725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445F71F-F7C2-4316-BD20-9D557A44B45A}"/>
              </a:ext>
            </a:extLst>
          </p:cNvPr>
          <p:cNvSpPr>
            <a:spLocks noGrp="1"/>
          </p:cNvSpPr>
          <p:nvPr/>
        </p:nvSpPr>
        <p:spPr>
          <a:xfrm>
            <a:off x="5381625" y="56102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0.0363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F0B0CE-84EC-4F79-9544-2F0211534ED4}"/>
              </a:ext>
            </a:extLst>
          </p:cNvPr>
          <p:cNvSpPr>
            <a:spLocks noGrp="1"/>
          </p:cNvSpPr>
          <p:nvPr/>
        </p:nvSpPr>
        <p:spPr>
          <a:xfrm>
            <a:off x="6572249" y="4810125"/>
            <a:ext cx="4667251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quality-only reward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抬高了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V_b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和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V_agent，但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true effect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变小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；</a:t>
            </a:r>
            <a:endParaRPr lang="en-US" sz="1163" b="1" dirty="0">
              <a:solidFill>
                <a:srgbClr val="17202A"/>
              </a:solidFill>
              <a:latin typeface="Arial Unicode MS"/>
              <a:ea typeface="Arial Unicode MS"/>
              <a:cs typeface="Arial Unicode M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endParaRPr lang="en-US" sz="1163" b="1" dirty="0">
              <a:solidFill>
                <a:srgbClr val="17202A"/>
              </a:solidFill>
              <a:latin typeface="Arial Unicode MS"/>
              <a:ea typeface="Arial Unicode MS"/>
              <a:cs typeface="Arial Unicode M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learned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concat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-PCA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对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MIPS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最有效，在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quality-only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下首次让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plain bootstrap CI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覆盖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63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V_agent</a:t>
            </a:r>
            <a:r>
              <a:rPr sz="1163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FFB62B2-8EE1-44C9-8AD3-E194F24A0D3B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581F8B8-7CB4-4DA1-A377-6C4541BA6C40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Sources: data/phase5/summary_ayers_askdocs_composite_vs_quality.md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D8772C-E2D1-4825-82CE-DE74E98A0829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209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26F95F41-E1A1-4218-9459-0602D36B8B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C7F38A62-083A-45F1-815F-C9C25FCD83CF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D3794725-2DA1-4C7A-9609-618583EC26D7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05 / SOURCE SPLIT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C0AD25-3A8D-4BCB-BA54-F70D26D256ED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en-US" sz="2400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数据集拆分</a:t>
            </a:r>
            <a:endParaRPr sz="2400" b="1" dirty="0">
              <a:solidFill>
                <a:srgbClr val="17202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B9586-7F9E-4A18-B38E-B6F0AAF64D0F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把原来的</a:t>
            </a:r>
            <a:r>
              <a:rPr sz="120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ACI + MTS + </a:t>
            </a:r>
            <a:r>
              <a:rPr sz="120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PriMock</a:t>
            </a:r>
            <a:r>
              <a:rPr sz="120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混合</a:t>
            </a:r>
            <a:r>
              <a:rPr sz="120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headline </a:t>
            </a:r>
            <a:r>
              <a:rPr sz="120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拆成三个独立</a:t>
            </a:r>
            <a:r>
              <a:rPr sz="120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Phase 5 run。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52439-5E86-4321-A467-DF51CF08E7CB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7905750" cy="36195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625E0-18ED-4F09-B05D-916454B7B892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B60208-0F6B-4A66-8D86-138C8CC38F43}"/>
              </a:ext>
            </a:extLst>
          </p:cNvPr>
          <p:cNvSpPr>
            <a:spLocks noGrp="1"/>
          </p:cNvSpPr>
          <p:nvPr/>
        </p:nvSpPr>
        <p:spPr>
          <a:xfrm>
            <a:off x="1981200" y="222885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7D420-0E2E-4CF9-A21F-7FE6D4E75EEF}"/>
              </a:ext>
            </a:extLst>
          </p:cNvPr>
          <p:cNvSpPr>
            <a:spLocks noGrp="1"/>
          </p:cNvSpPr>
          <p:nvPr/>
        </p:nvSpPr>
        <p:spPr>
          <a:xfrm>
            <a:off x="2647950" y="22288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BF85B-95F9-4C49-8817-B25F231BDD2D}"/>
              </a:ext>
            </a:extLst>
          </p:cNvPr>
          <p:cNvSpPr>
            <a:spLocks noGrp="1"/>
          </p:cNvSpPr>
          <p:nvPr/>
        </p:nvSpPr>
        <p:spPr>
          <a:xfrm>
            <a:off x="3695700" y="22288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V_agent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C86E4-9B1D-492F-8FD8-1D0C54FBB19E}"/>
              </a:ext>
            </a:extLst>
          </p:cNvPr>
          <p:cNvSpPr>
            <a:spLocks noGrp="1"/>
          </p:cNvSpPr>
          <p:nvPr/>
        </p:nvSpPr>
        <p:spPr>
          <a:xfrm>
            <a:off x="4743450" y="22288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Effect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A65738-EB28-4F51-A1D8-7EBB1748EC10}"/>
              </a:ext>
            </a:extLst>
          </p:cNvPr>
          <p:cNvSpPr>
            <a:spLocks noGrp="1"/>
          </p:cNvSpPr>
          <p:nvPr/>
        </p:nvSpPr>
        <p:spPr>
          <a:xfrm>
            <a:off x="5791200" y="2228850"/>
            <a:ext cx="1038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est.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5F85EB-5982-4740-A1CA-15AF141DDD87}"/>
              </a:ext>
            </a:extLst>
          </p:cNvPr>
          <p:cNvSpPr>
            <a:spLocks noGrp="1"/>
          </p:cNvSpPr>
          <p:nvPr/>
        </p:nvSpPr>
        <p:spPr>
          <a:xfrm>
            <a:off x="6981825" y="222885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RMSE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7FA610-B9EF-4E80-81B9-02B6EE8116FC}"/>
              </a:ext>
            </a:extLst>
          </p:cNvPr>
          <p:cNvSpPr>
            <a:spLocks noGrp="1"/>
          </p:cNvSpPr>
          <p:nvPr/>
        </p:nvSpPr>
        <p:spPr>
          <a:xfrm>
            <a:off x="7839075" y="2228850"/>
            <a:ext cx="657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Dir%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864794-37E8-493B-BDC4-B7792EA9E250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7905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2B76B1-1EB4-46C9-95E3-448751231849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A4E5A8-0C7A-44AD-8153-1C97972B8EB2}"/>
              </a:ext>
            </a:extLst>
          </p:cNvPr>
          <p:cNvSpPr>
            <a:spLocks noGrp="1"/>
          </p:cNvSpPr>
          <p:nvPr/>
        </p:nvSpPr>
        <p:spPr>
          <a:xfrm>
            <a:off x="1981200" y="25908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207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6D9F2F-EA77-4653-B521-C8A12DEB0D93}"/>
              </a:ext>
            </a:extLst>
          </p:cNvPr>
          <p:cNvSpPr>
            <a:spLocks noGrp="1"/>
          </p:cNvSpPr>
          <p:nvPr/>
        </p:nvSpPr>
        <p:spPr>
          <a:xfrm>
            <a:off x="2647950" y="25908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0.7423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DE0F74-7C2F-4DEA-B72D-E69225012FA4}"/>
              </a:ext>
            </a:extLst>
          </p:cNvPr>
          <p:cNvSpPr>
            <a:spLocks noGrp="1"/>
          </p:cNvSpPr>
          <p:nvPr/>
        </p:nvSpPr>
        <p:spPr>
          <a:xfrm>
            <a:off x="3695700" y="25908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0.8727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D6EA6C-08A3-41CD-8F61-9ACE3E5D8D86}"/>
              </a:ext>
            </a:extLst>
          </p:cNvPr>
          <p:cNvSpPr>
            <a:spLocks noGrp="1"/>
          </p:cNvSpPr>
          <p:nvPr/>
        </p:nvSpPr>
        <p:spPr>
          <a:xfrm>
            <a:off x="4743450" y="25908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+0.1303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D0CC4F-FC3E-4313-9D65-E1EF00F0666A}"/>
              </a:ext>
            </a:extLst>
          </p:cNvPr>
          <p:cNvSpPr>
            <a:spLocks noGrp="1"/>
          </p:cNvSpPr>
          <p:nvPr/>
        </p:nvSpPr>
        <p:spPr>
          <a:xfrm>
            <a:off x="5791200" y="2590800"/>
            <a:ext cx="1038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5B8C0E-9F3D-4F9D-9F2E-DD62A20F8F98}"/>
              </a:ext>
            </a:extLst>
          </p:cNvPr>
          <p:cNvSpPr>
            <a:spLocks noGrp="1"/>
          </p:cNvSpPr>
          <p:nvPr/>
        </p:nvSpPr>
        <p:spPr>
          <a:xfrm>
            <a:off x="6981825" y="25908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0.0820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9E4A29-4150-4D46-AEEC-763E6C9D94D2}"/>
              </a:ext>
            </a:extLst>
          </p:cNvPr>
          <p:cNvSpPr>
            <a:spLocks noGrp="1"/>
          </p:cNvSpPr>
          <p:nvPr/>
        </p:nvSpPr>
        <p:spPr>
          <a:xfrm>
            <a:off x="7839075" y="2590800"/>
            <a:ext cx="657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2C316E-8F99-47B4-B64A-DB400D3989F8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7905750" cy="361950"/>
          </a:xfrm>
          <a:prstGeom prst="rect">
            <a:avLst/>
          </a:prstGeom>
          <a:solidFill>
            <a:srgbClr val="F3EFE8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BB8FF2-BA0E-410F-890C-B00C89826981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67B4D2-4877-42CE-A140-07181AE9330E}"/>
              </a:ext>
            </a:extLst>
          </p:cNvPr>
          <p:cNvSpPr>
            <a:spLocks noGrp="1"/>
          </p:cNvSpPr>
          <p:nvPr/>
        </p:nvSpPr>
        <p:spPr>
          <a:xfrm>
            <a:off x="1981200" y="295275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142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2CDE44-26D4-4D40-ADA2-ACF2CE9CD5D3}"/>
              </a:ext>
            </a:extLst>
          </p:cNvPr>
          <p:cNvSpPr>
            <a:spLocks noGrp="1"/>
          </p:cNvSpPr>
          <p:nvPr/>
        </p:nvSpPr>
        <p:spPr>
          <a:xfrm>
            <a:off x="2647950" y="29527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0.4397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4FCA8C-A209-4FFB-9F87-C4074C87B836}"/>
              </a:ext>
            </a:extLst>
          </p:cNvPr>
          <p:cNvSpPr>
            <a:spLocks noGrp="1"/>
          </p:cNvSpPr>
          <p:nvPr/>
        </p:nvSpPr>
        <p:spPr>
          <a:xfrm>
            <a:off x="3695700" y="29527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0.7874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BD156B-77A4-4F69-B887-CF7AF79F9830}"/>
              </a:ext>
            </a:extLst>
          </p:cNvPr>
          <p:cNvSpPr>
            <a:spLocks noGrp="1"/>
          </p:cNvSpPr>
          <p:nvPr/>
        </p:nvSpPr>
        <p:spPr>
          <a:xfrm>
            <a:off x="4743450" y="29527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+0.3477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8316C6-1BEE-441B-81C5-4F3F79A2A1E4}"/>
              </a:ext>
            </a:extLst>
          </p:cNvPr>
          <p:cNvSpPr>
            <a:spLocks noGrp="1"/>
          </p:cNvSpPr>
          <p:nvPr/>
        </p:nvSpPr>
        <p:spPr>
          <a:xfrm>
            <a:off x="5791200" y="2952750"/>
            <a:ext cx="1038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DD5DF6-B3EF-4884-83BC-4E4158336113}"/>
              </a:ext>
            </a:extLst>
          </p:cNvPr>
          <p:cNvSpPr>
            <a:spLocks noGrp="1"/>
          </p:cNvSpPr>
          <p:nvPr/>
        </p:nvSpPr>
        <p:spPr>
          <a:xfrm>
            <a:off x="6981825" y="295275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0.1496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759FB6-A532-4D2C-9478-F509CB17282E}"/>
              </a:ext>
            </a:extLst>
          </p:cNvPr>
          <p:cNvSpPr>
            <a:spLocks noGrp="1"/>
          </p:cNvSpPr>
          <p:nvPr/>
        </p:nvSpPr>
        <p:spPr>
          <a:xfrm>
            <a:off x="7839075" y="2952750"/>
            <a:ext cx="657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E3ED4B-6A23-4A64-BF73-84F8ECB638D8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7905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1078AE-59B8-4EBE-B01F-BAF1B0FFCD23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39F47C-7A14-470D-9209-6BD57651C7D6}"/>
              </a:ext>
            </a:extLst>
          </p:cNvPr>
          <p:cNvSpPr>
            <a:spLocks noGrp="1"/>
          </p:cNvSpPr>
          <p:nvPr/>
        </p:nvSpPr>
        <p:spPr>
          <a:xfrm>
            <a:off x="1981200" y="33147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E646C7-F432-404D-ADBD-5733DC685401}"/>
              </a:ext>
            </a:extLst>
          </p:cNvPr>
          <p:cNvSpPr>
            <a:spLocks noGrp="1"/>
          </p:cNvSpPr>
          <p:nvPr/>
        </p:nvSpPr>
        <p:spPr>
          <a:xfrm>
            <a:off x="2647950" y="33147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0.6073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C2FB20-E5ED-49A5-8250-589DF799F2F9}"/>
              </a:ext>
            </a:extLst>
          </p:cNvPr>
          <p:cNvSpPr>
            <a:spLocks noGrp="1"/>
          </p:cNvSpPr>
          <p:nvPr/>
        </p:nvSpPr>
        <p:spPr>
          <a:xfrm>
            <a:off x="3695700" y="33147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0.8656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60636A-EB3C-41A0-906F-870A5DE65B07}"/>
              </a:ext>
            </a:extLst>
          </p:cNvPr>
          <p:cNvSpPr>
            <a:spLocks noGrp="1"/>
          </p:cNvSpPr>
          <p:nvPr/>
        </p:nvSpPr>
        <p:spPr>
          <a:xfrm>
            <a:off x="4743450" y="33147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+0.2583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B41E0E-F677-4D85-8B47-9F6A86057582}"/>
              </a:ext>
            </a:extLst>
          </p:cNvPr>
          <p:cNvSpPr>
            <a:spLocks noGrp="1"/>
          </p:cNvSpPr>
          <p:nvPr/>
        </p:nvSpPr>
        <p:spPr>
          <a:xfrm>
            <a:off x="5791200" y="3314700"/>
            <a:ext cx="1038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DM / OffCEM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8F7107-415F-4C2A-BAAF-59159E76EE4F}"/>
              </a:ext>
            </a:extLst>
          </p:cNvPr>
          <p:cNvSpPr>
            <a:spLocks noGrp="1"/>
          </p:cNvSpPr>
          <p:nvPr/>
        </p:nvSpPr>
        <p:spPr>
          <a:xfrm>
            <a:off x="6981825" y="33147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0.2709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8DB07AF-CA33-4732-B0BD-809B834CA6C9}"/>
              </a:ext>
            </a:extLst>
          </p:cNvPr>
          <p:cNvSpPr>
            <a:spLocks noGrp="1"/>
          </p:cNvSpPr>
          <p:nvPr/>
        </p:nvSpPr>
        <p:spPr>
          <a:xfrm>
            <a:off x="7839075" y="3314700"/>
            <a:ext cx="657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19%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875C0F-CF05-45E0-85F1-C25F93F209DE}"/>
              </a:ext>
            </a:extLst>
          </p:cNvPr>
          <p:cNvSpPr>
            <a:spLocks noGrp="1"/>
          </p:cNvSpPr>
          <p:nvPr/>
        </p:nvSpPr>
        <p:spPr>
          <a:xfrm>
            <a:off x="8620125" y="2152650"/>
            <a:ext cx="219075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37A5F5-1292-42CD-B521-4188C3D61330}"/>
              </a:ext>
            </a:extLst>
          </p:cNvPr>
          <p:cNvSpPr>
            <a:spLocks noGrp="1"/>
          </p:cNvSpPr>
          <p:nvPr/>
        </p:nvSpPr>
        <p:spPr>
          <a:xfrm>
            <a:off x="8620125" y="2152650"/>
            <a:ext cx="47625" cy="10668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3AB38D-5EC0-48C1-B3BC-128373963F3D}"/>
              </a:ext>
            </a:extLst>
          </p:cNvPr>
          <p:cNvSpPr>
            <a:spLocks noGrp="1"/>
          </p:cNvSpPr>
          <p:nvPr/>
        </p:nvSpPr>
        <p:spPr>
          <a:xfrm>
            <a:off x="8791575" y="22860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RUN CONFIG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690836-E5B1-4F97-A1D0-031D2E063308}"/>
              </a:ext>
            </a:extLst>
          </p:cNvPr>
          <p:cNvSpPr>
            <a:spLocks noGrp="1"/>
          </p:cNvSpPr>
          <p:nvPr/>
        </p:nvSpPr>
        <p:spPr>
          <a:xfrm>
            <a:off x="8791575" y="249555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BGE + learned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46D166-484C-47CC-A537-33116A15D10B}"/>
              </a:ext>
            </a:extLst>
          </p:cNvPr>
          <p:cNvSpPr>
            <a:spLocks noGrp="1"/>
          </p:cNvSpPr>
          <p:nvPr/>
        </p:nvSpPr>
        <p:spPr>
          <a:xfrm>
            <a:off x="8791575" y="2847975"/>
            <a:ext cx="19240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concat</a:t>
            </a:r>
            <a:r>
              <a:rPr sz="69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-PCA, PCA=128, learned dim=64, </a:t>
            </a:r>
            <a:r>
              <a:rPr lang="en-US" sz="690" dirty="0"/>
              <a:t>bootstrap resampling </a:t>
            </a:r>
            <a:r>
              <a:rPr sz="690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=100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BC29CF-1A39-45C4-A8BA-FEF4294D6068}"/>
              </a:ext>
            </a:extLst>
          </p:cNvPr>
          <p:cNvSpPr>
            <a:spLocks noGrp="1"/>
          </p:cNvSpPr>
          <p:nvPr/>
        </p:nvSpPr>
        <p:spPr>
          <a:xfrm>
            <a:off x="952500" y="4800600"/>
            <a:ext cx="809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Effect size 与 estimator error 分离后，source 行为差异非常明显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66CEE75-AB05-4B00-AB65-133429FF2CC5}"/>
              </a:ext>
            </a:extLst>
          </p:cNvPr>
          <p:cNvSpPr>
            <a:spLocks noGrp="1"/>
          </p:cNvSpPr>
          <p:nvPr/>
        </p:nvSpPr>
        <p:spPr>
          <a:xfrm>
            <a:off x="971550" y="5143500"/>
            <a:ext cx="8763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ACI 的真实 effect 较小但 MIPS RMSE 最低；MTS 的真实 effect 最大但 bias 仍明显；PriMock57 的样本量只有 48，bootstrap direction rate 直接暴露小样本不稳定。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A8DA6B-04C1-4200-89E3-D58D7606331A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A072509-B309-4AB1-8A0D-BD1F42C7E108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809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Sources: data/phase5/by_source/summary_sonnet46_bge_pca128_learn64.md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228D7D7-D216-4253-AE04-67D09960269C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99714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7AA05C7F-7119-424B-A712-239DCEA9A7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698170E8-FD76-4848-94CA-215396734F16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00262271-CED8-4202-8850-0885132C2C4C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06 / SOURCE DIAGNOSTIC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327D6D-BF88-446E-949F-F1B232284BC5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MIPS </a:t>
            </a:r>
            <a:r>
              <a:rPr sz="2400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在</a:t>
            </a:r>
            <a:r>
              <a:rPr sz="2400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400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ACI上最稳</a:t>
            </a:r>
            <a:endParaRPr sz="2400" b="1" dirty="0">
              <a:solidFill>
                <a:srgbClr val="17202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8174E-3BD7-45E4-A76B-5335BB4D9106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RMSE by source and estimator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E6E132-C8AC-4251-8B5A-A353C53FBBF9}"/>
              </a:ext>
            </a:extLst>
          </p:cNvPr>
          <p:cNvSpPr>
            <a:spLocks noGrp="1"/>
          </p:cNvSpPr>
          <p:nvPr/>
        </p:nvSpPr>
        <p:spPr>
          <a:xfrm>
            <a:off x="819150" y="25336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D5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5A80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5B614F-F436-4272-AB6A-19BA473BDF47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DM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A4E389-AD70-4F61-A754-66CA3EE61E80}"/>
              </a:ext>
            </a:extLst>
          </p:cNvPr>
          <p:cNvSpPr>
            <a:spLocks noGrp="1"/>
          </p:cNvSpPr>
          <p:nvPr/>
        </p:nvSpPr>
        <p:spPr>
          <a:xfrm>
            <a:off x="2867025" y="2895600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2BF2B5-473A-4034-A99A-305E76B8BA23}"/>
              </a:ext>
            </a:extLst>
          </p:cNvPr>
          <p:cNvSpPr>
            <a:spLocks noGrp="1"/>
          </p:cNvSpPr>
          <p:nvPr/>
        </p:nvSpPr>
        <p:spPr>
          <a:xfrm>
            <a:off x="2867025" y="2895600"/>
            <a:ext cx="733210" cy="857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F897E-7728-404C-8F66-44AEC5DD47F5}"/>
              </a:ext>
            </a:extLst>
          </p:cNvPr>
          <p:cNvSpPr>
            <a:spLocks noGrp="1"/>
          </p:cNvSpPr>
          <p:nvPr/>
        </p:nvSpPr>
        <p:spPr>
          <a:xfrm>
            <a:off x="5295900" y="284797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0.0974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623583-06DE-442C-B4BD-58620A57FF59}"/>
              </a:ext>
            </a:extLst>
          </p:cNvPr>
          <p:cNvSpPr>
            <a:spLocks noGrp="1"/>
          </p:cNvSpPr>
          <p:nvPr/>
        </p:nvSpPr>
        <p:spPr>
          <a:xfrm>
            <a:off x="914400" y="31718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47077F-A2A2-486F-855F-E55EA924D1FD}"/>
              </a:ext>
            </a:extLst>
          </p:cNvPr>
          <p:cNvSpPr>
            <a:spLocks noGrp="1"/>
          </p:cNvSpPr>
          <p:nvPr/>
        </p:nvSpPr>
        <p:spPr>
          <a:xfrm>
            <a:off x="2867025" y="3209925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596754-8461-4382-BABE-A3EA6A78E50A}"/>
              </a:ext>
            </a:extLst>
          </p:cNvPr>
          <p:cNvSpPr>
            <a:spLocks noGrp="1"/>
          </p:cNvSpPr>
          <p:nvPr/>
        </p:nvSpPr>
        <p:spPr>
          <a:xfrm>
            <a:off x="2867025" y="3209925"/>
            <a:ext cx="617281" cy="857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CB8F68-3EAD-4D8C-9F1D-C05E23F3A2BA}"/>
              </a:ext>
            </a:extLst>
          </p:cNvPr>
          <p:cNvSpPr>
            <a:spLocks noGrp="1"/>
          </p:cNvSpPr>
          <p:nvPr/>
        </p:nvSpPr>
        <p:spPr>
          <a:xfrm>
            <a:off x="5295900" y="31623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0.0820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8F5B6D-FCCB-4F1D-889E-99E83E4DE610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OffCEM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2DFDF-2C2D-4004-BC23-6A2D6A4B49B2}"/>
              </a:ext>
            </a:extLst>
          </p:cNvPr>
          <p:cNvSpPr>
            <a:spLocks noGrp="1"/>
          </p:cNvSpPr>
          <p:nvPr/>
        </p:nvSpPr>
        <p:spPr>
          <a:xfrm>
            <a:off x="2867025" y="3524250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D6C87-4D90-4AB4-8B70-008B976F7A8A}"/>
              </a:ext>
            </a:extLst>
          </p:cNvPr>
          <p:cNvSpPr>
            <a:spLocks noGrp="1"/>
          </p:cNvSpPr>
          <p:nvPr/>
        </p:nvSpPr>
        <p:spPr>
          <a:xfrm>
            <a:off x="2867025" y="3524250"/>
            <a:ext cx="731704" cy="857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E99A86-9EB4-4300-AB5D-B60F3A8E0F3E}"/>
              </a:ext>
            </a:extLst>
          </p:cNvPr>
          <p:cNvSpPr>
            <a:spLocks noGrp="1"/>
          </p:cNvSpPr>
          <p:nvPr/>
        </p:nvSpPr>
        <p:spPr>
          <a:xfrm>
            <a:off x="5295900" y="34766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0.0972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85BA4C-F890-4AAD-A43C-8E398E23FA83}"/>
              </a:ext>
            </a:extLst>
          </p:cNvPr>
          <p:cNvSpPr>
            <a:spLocks noGrp="1"/>
          </p:cNvSpPr>
          <p:nvPr/>
        </p:nvSpPr>
        <p:spPr>
          <a:xfrm>
            <a:off x="819150" y="40576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D5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5A80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DA8D36-D61D-4207-9E67-8F15AA0D43AE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DM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188237-C91C-4BD0-82C5-244C786F8A01}"/>
              </a:ext>
            </a:extLst>
          </p:cNvPr>
          <p:cNvSpPr>
            <a:spLocks noGrp="1"/>
          </p:cNvSpPr>
          <p:nvPr/>
        </p:nvSpPr>
        <p:spPr>
          <a:xfrm>
            <a:off x="2867025" y="4419600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1BB2D5-4338-432D-B003-D527B4C3AD0D}"/>
              </a:ext>
            </a:extLst>
          </p:cNvPr>
          <p:cNvSpPr>
            <a:spLocks noGrp="1"/>
          </p:cNvSpPr>
          <p:nvPr/>
        </p:nvSpPr>
        <p:spPr>
          <a:xfrm>
            <a:off x="2867025" y="4419600"/>
            <a:ext cx="2035523" cy="85725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055DF7-62C9-48E4-B5E6-7455DEBB0403}"/>
              </a:ext>
            </a:extLst>
          </p:cNvPr>
          <p:cNvSpPr>
            <a:spLocks noGrp="1"/>
          </p:cNvSpPr>
          <p:nvPr/>
        </p:nvSpPr>
        <p:spPr>
          <a:xfrm>
            <a:off x="5295900" y="437197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0.2704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670355-9E0E-4464-91A1-B4B266DDCE64}"/>
              </a:ext>
            </a:extLst>
          </p:cNvPr>
          <p:cNvSpPr>
            <a:spLocks noGrp="1"/>
          </p:cNvSpPr>
          <p:nvPr/>
        </p:nvSpPr>
        <p:spPr>
          <a:xfrm>
            <a:off x="914400" y="46958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ACC8B1-2664-4D62-BBA5-E1F74E8A22E3}"/>
              </a:ext>
            </a:extLst>
          </p:cNvPr>
          <p:cNvSpPr>
            <a:spLocks noGrp="1"/>
          </p:cNvSpPr>
          <p:nvPr/>
        </p:nvSpPr>
        <p:spPr>
          <a:xfrm>
            <a:off x="2867025" y="4733925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5F7937-B9E9-4486-9F3C-91A4DB15B132}"/>
              </a:ext>
            </a:extLst>
          </p:cNvPr>
          <p:cNvSpPr>
            <a:spLocks noGrp="1"/>
          </p:cNvSpPr>
          <p:nvPr/>
        </p:nvSpPr>
        <p:spPr>
          <a:xfrm>
            <a:off x="2867025" y="4733925"/>
            <a:ext cx="1126162" cy="857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84AFAE-9C05-40AE-8492-6883C1BA3296}"/>
              </a:ext>
            </a:extLst>
          </p:cNvPr>
          <p:cNvSpPr>
            <a:spLocks noGrp="1"/>
          </p:cNvSpPr>
          <p:nvPr/>
        </p:nvSpPr>
        <p:spPr>
          <a:xfrm>
            <a:off x="5295900" y="46863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0.1496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15F113-0818-4FDA-811A-275F13424525}"/>
              </a:ext>
            </a:extLst>
          </p:cNvPr>
          <p:cNvSpPr>
            <a:spLocks noGrp="1"/>
          </p:cNvSpPr>
          <p:nvPr/>
        </p:nvSpPr>
        <p:spPr>
          <a:xfrm>
            <a:off x="914400" y="5010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OffCEM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3328C4-7ADD-4526-AA92-BB5EEA2CC8F3}"/>
              </a:ext>
            </a:extLst>
          </p:cNvPr>
          <p:cNvSpPr>
            <a:spLocks noGrp="1"/>
          </p:cNvSpPr>
          <p:nvPr/>
        </p:nvSpPr>
        <p:spPr>
          <a:xfrm>
            <a:off x="2867025" y="5048250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573F35-3654-47BF-ABEE-143C4968DAEB}"/>
              </a:ext>
            </a:extLst>
          </p:cNvPr>
          <p:cNvSpPr>
            <a:spLocks noGrp="1"/>
          </p:cNvSpPr>
          <p:nvPr/>
        </p:nvSpPr>
        <p:spPr>
          <a:xfrm>
            <a:off x="2867025" y="5048250"/>
            <a:ext cx="2034018" cy="85725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80151-525B-4B40-A49D-1EDAE178E9CE}"/>
              </a:ext>
            </a:extLst>
          </p:cNvPr>
          <p:cNvSpPr>
            <a:spLocks noGrp="1"/>
          </p:cNvSpPr>
          <p:nvPr/>
        </p:nvSpPr>
        <p:spPr>
          <a:xfrm>
            <a:off x="5295900" y="50006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0.2702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24FBB5-EEAA-4EA7-9CD6-9FBDEA18A818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D5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5A80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1D87DC-637D-48FD-99BF-5FFAA5138E16}"/>
              </a:ext>
            </a:extLst>
          </p:cNvPr>
          <p:cNvSpPr>
            <a:spLocks noGrp="1"/>
          </p:cNvSpPr>
          <p:nvPr/>
        </p:nvSpPr>
        <p:spPr>
          <a:xfrm>
            <a:off x="6667500" y="28575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DM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2BDFE7-8EA2-4251-8001-4451BDF5DC1E}"/>
              </a:ext>
            </a:extLst>
          </p:cNvPr>
          <p:cNvSpPr>
            <a:spLocks noGrp="1"/>
          </p:cNvSpPr>
          <p:nvPr/>
        </p:nvSpPr>
        <p:spPr>
          <a:xfrm>
            <a:off x="8620125" y="2895600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D58A6F-8586-4CB6-982A-6DF92778C974}"/>
              </a:ext>
            </a:extLst>
          </p:cNvPr>
          <p:cNvSpPr>
            <a:spLocks noGrp="1"/>
          </p:cNvSpPr>
          <p:nvPr/>
        </p:nvSpPr>
        <p:spPr>
          <a:xfrm>
            <a:off x="8620125" y="2895600"/>
            <a:ext cx="2039287" cy="857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8AC0CC-B554-4633-BEB0-B066B3F8C017}"/>
              </a:ext>
            </a:extLst>
          </p:cNvPr>
          <p:cNvSpPr>
            <a:spLocks noGrp="1"/>
          </p:cNvSpPr>
          <p:nvPr/>
        </p:nvSpPr>
        <p:spPr>
          <a:xfrm>
            <a:off x="11049000" y="284797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0.2709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851523-C23A-4448-ABDA-0420C52DA45E}"/>
              </a:ext>
            </a:extLst>
          </p:cNvPr>
          <p:cNvSpPr>
            <a:spLocks noGrp="1"/>
          </p:cNvSpPr>
          <p:nvPr/>
        </p:nvSpPr>
        <p:spPr>
          <a:xfrm>
            <a:off x="6667500" y="31718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A2EA34-121D-4992-BECD-A03D62D9C498}"/>
              </a:ext>
            </a:extLst>
          </p:cNvPr>
          <p:cNvSpPr>
            <a:spLocks noGrp="1"/>
          </p:cNvSpPr>
          <p:nvPr/>
        </p:nvSpPr>
        <p:spPr>
          <a:xfrm>
            <a:off x="8620125" y="3209925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2C3B1A-E28B-44F5-97E8-506BE0CF9A58}"/>
              </a:ext>
            </a:extLst>
          </p:cNvPr>
          <p:cNvSpPr>
            <a:spLocks noGrp="1"/>
          </p:cNvSpPr>
          <p:nvPr/>
        </p:nvSpPr>
        <p:spPr>
          <a:xfrm>
            <a:off x="8620125" y="3209925"/>
            <a:ext cx="2293728" cy="85725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9BB350-664E-4019-A461-62C4A730AD79}"/>
              </a:ext>
            </a:extLst>
          </p:cNvPr>
          <p:cNvSpPr>
            <a:spLocks noGrp="1"/>
          </p:cNvSpPr>
          <p:nvPr/>
        </p:nvSpPr>
        <p:spPr>
          <a:xfrm>
            <a:off x="11049000" y="31623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0.3047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171427-A674-4CB7-AE07-49A19F61ABB7}"/>
              </a:ext>
            </a:extLst>
          </p:cNvPr>
          <p:cNvSpPr>
            <a:spLocks noGrp="1"/>
          </p:cNvSpPr>
          <p:nvPr/>
        </p:nvSpPr>
        <p:spPr>
          <a:xfrm>
            <a:off x="6667500" y="3486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OffCEM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A6DDD37-ACB7-44B9-9A54-330781941F4A}"/>
              </a:ext>
            </a:extLst>
          </p:cNvPr>
          <p:cNvSpPr>
            <a:spLocks noGrp="1"/>
          </p:cNvSpPr>
          <p:nvPr/>
        </p:nvSpPr>
        <p:spPr>
          <a:xfrm>
            <a:off x="8620125" y="3524250"/>
            <a:ext cx="2333625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FD3E13-78FC-4C70-9EB2-D3E88D6C3C6A}"/>
              </a:ext>
            </a:extLst>
          </p:cNvPr>
          <p:cNvSpPr>
            <a:spLocks noGrp="1"/>
          </p:cNvSpPr>
          <p:nvPr/>
        </p:nvSpPr>
        <p:spPr>
          <a:xfrm>
            <a:off x="8620125" y="3524250"/>
            <a:ext cx="2039287" cy="857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2A53C11-1CDD-4584-A4A1-A47F8DA00B73}"/>
              </a:ext>
            </a:extLst>
          </p:cNvPr>
          <p:cNvSpPr>
            <a:spLocks noGrp="1"/>
          </p:cNvSpPr>
          <p:nvPr/>
        </p:nvSpPr>
        <p:spPr>
          <a:xfrm>
            <a:off x="11049000" y="34766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0.2709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87DAEE-9B10-43F6-B993-9129FE5CFD25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4705C2-F991-4588-BE2F-57A801F7BE48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837571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D468056A-F1FE-408F-8E09-5A331E460C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7-marker">
            <a:extLst>
              <a:ext uri="{FF2B5EF4-FFF2-40B4-BE49-F238E27FC236}">
                <a16:creationId xmlns:a16="http://schemas.microsoft.com/office/drawing/2014/main" id="{40E78C88-46E1-4182-B943-C91553A16A04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7-label">
            <a:extLst>
              <a:ext uri="{FF2B5EF4-FFF2-40B4-BE49-F238E27FC236}">
                <a16:creationId xmlns:a16="http://schemas.microsoft.com/office/drawing/2014/main" id="{2E32C565-EE1A-432F-9860-5A909952C81A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07 / TWO-TOWER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9FDDF3-445D-4EFD-833F-64E8D16F32AE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Two-tower reward model 只用 logged clinician reward 学 representation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660CC-E47F-4B25-8EA0-433BABAABB29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训练目标是 intrinsic reward prediction；agent action 和 agent reward 不参与训练，只用于后续 OPE 评估。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0FAA44-2616-4540-868D-ADE41EDD4936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000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AC4CFC-E49B-4C06-B8D4-34A782703AEF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000250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4E87A4-DF79-4099-B590-C095E82F5A37}"/>
              </a:ext>
            </a:extLst>
          </p:cNvPr>
          <p:cNvSpPr>
            <a:spLocks noGrp="1"/>
          </p:cNvSpPr>
          <p:nvPr/>
        </p:nvSpPr>
        <p:spPr>
          <a:xfrm>
            <a:off x="819150" y="2390775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φ_x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72EE29-2EA3-4AD9-9E45-88507B3D4CAA}"/>
              </a:ext>
            </a:extLst>
          </p:cNvPr>
          <p:cNvSpPr>
            <a:spLocks noGrp="1"/>
          </p:cNvSpPr>
          <p:nvPr/>
        </p:nvSpPr>
        <p:spPr>
          <a:xfrm>
            <a:off x="819150" y="2695575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patient context 的 frozen BGE-M3 embedding，1024-d。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5745CF-235B-4FB1-BA7B-D7F019438A72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000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0A70A-AB4D-4B8E-9CB2-940406D5D834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000250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F2866-09A1-4E29-947C-36E4FCE2C138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φ_a clinician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7D089B-B892-4E35-B6A4-7A468082BE6D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clinician action 的 frozen BGE-M3 embedding，1024-d。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071BEB-BAA1-49AE-8CF0-02BB5A01FB7C}"/>
              </a:ext>
            </a:extLst>
          </p:cNvPr>
          <p:cNvSpPr>
            <a:spLocks noGrp="1"/>
          </p:cNvSpPr>
          <p:nvPr/>
        </p:nvSpPr>
        <p:spPr>
          <a:xfrm>
            <a:off x="2857500" y="2705100"/>
            <a:ext cx="857250" cy="19050"/>
          </a:xfrm>
          <a:prstGeom prst="rect">
            <a:avLst/>
          </a:prstGeom>
          <a:solidFill>
            <a:srgbClr val="C8B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A6A2B0-17F1-458E-96A8-584F6847C2BE}"/>
              </a:ext>
            </a:extLst>
          </p:cNvPr>
          <p:cNvSpPr>
            <a:spLocks noGrp="1"/>
          </p:cNvSpPr>
          <p:nvPr/>
        </p:nvSpPr>
        <p:spPr>
          <a:xfrm>
            <a:off x="3638550" y="25812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092C67-28C9-4F97-A116-D2C7F173544F}"/>
              </a:ext>
            </a:extLst>
          </p:cNvPr>
          <p:cNvSpPr>
            <a:spLocks noGrp="1"/>
          </p:cNvSpPr>
          <p:nvPr/>
        </p:nvSpPr>
        <p:spPr>
          <a:xfrm>
            <a:off x="2857500" y="3990975"/>
            <a:ext cx="857250" cy="19050"/>
          </a:xfrm>
          <a:prstGeom prst="rect">
            <a:avLst/>
          </a:prstGeom>
          <a:solidFill>
            <a:srgbClr val="C8B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578CB6-35DA-404D-8541-89C4C9C23973}"/>
              </a:ext>
            </a:extLst>
          </p:cNvPr>
          <p:cNvSpPr>
            <a:spLocks noGrp="1"/>
          </p:cNvSpPr>
          <p:nvPr/>
        </p:nvSpPr>
        <p:spPr>
          <a:xfrm>
            <a:off x="3638550" y="38671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E21B56-8013-4F99-8E34-027C4B3E93DA}"/>
              </a:ext>
            </a:extLst>
          </p:cNvPr>
          <p:cNvSpPr>
            <a:spLocks noGrp="1"/>
          </p:cNvSpPr>
          <p:nvPr/>
        </p:nvSpPr>
        <p:spPr>
          <a:xfrm>
            <a:off x="3905250" y="2238375"/>
            <a:ext cx="2238375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F42B79-69D6-484A-A070-EDD542F684A1}"/>
              </a:ext>
            </a:extLst>
          </p:cNvPr>
          <p:cNvSpPr>
            <a:spLocks noGrp="1"/>
          </p:cNvSpPr>
          <p:nvPr/>
        </p:nvSpPr>
        <p:spPr>
          <a:xfrm>
            <a:off x="3905250" y="2238375"/>
            <a:ext cx="2238375" cy="476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ED5B8B-FAD6-4C0F-B01F-B93D94D26E16}"/>
              </a:ext>
            </a:extLst>
          </p:cNvPr>
          <p:cNvSpPr>
            <a:spLocks noGrp="1"/>
          </p:cNvSpPr>
          <p:nvPr/>
        </p:nvSpPr>
        <p:spPr>
          <a:xfrm>
            <a:off x="4057650" y="2390775"/>
            <a:ext cx="19335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Context tower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BB8FB6-D7A1-4BA2-8EC7-3989E05CAE7C}"/>
              </a:ext>
            </a:extLst>
          </p:cNvPr>
          <p:cNvSpPr>
            <a:spLocks noGrp="1"/>
          </p:cNvSpPr>
          <p:nvPr/>
        </p:nvSpPr>
        <p:spPr>
          <a:xfrm>
            <a:off x="4057650" y="2695575"/>
            <a:ext cx="19335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Linear → ReLU → Dropout → Linear → Tanh，输出 z_x。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FAE1B1-5671-47F1-BA2B-81D57E9A95F7}"/>
              </a:ext>
            </a:extLst>
          </p:cNvPr>
          <p:cNvSpPr>
            <a:spLocks noGrp="1"/>
          </p:cNvSpPr>
          <p:nvPr/>
        </p:nvSpPr>
        <p:spPr>
          <a:xfrm>
            <a:off x="3905250" y="3524250"/>
            <a:ext cx="2238375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A7F0C7-B50C-4F77-B8A7-43FC60207EC4}"/>
              </a:ext>
            </a:extLst>
          </p:cNvPr>
          <p:cNvSpPr>
            <a:spLocks noGrp="1"/>
          </p:cNvSpPr>
          <p:nvPr/>
        </p:nvSpPr>
        <p:spPr>
          <a:xfrm>
            <a:off x="3905250" y="3524250"/>
            <a:ext cx="2238375" cy="476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88DC5C-324D-4576-9172-3E7167AF99CA}"/>
              </a:ext>
            </a:extLst>
          </p:cNvPr>
          <p:cNvSpPr>
            <a:spLocks noGrp="1"/>
          </p:cNvSpPr>
          <p:nvPr/>
        </p:nvSpPr>
        <p:spPr>
          <a:xfrm>
            <a:off x="4057650" y="3676650"/>
            <a:ext cx="19335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Action tower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CA029A-6BCA-4356-830F-A68A304CB3D3}"/>
              </a:ext>
            </a:extLst>
          </p:cNvPr>
          <p:cNvSpPr>
            <a:spLocks noGrp="1"/>
          </p:cNvSpPr>
          <p:nvPr/>
        </p:nvSpPr>
        <p:spPr>
          <a:xfrm>
            <a:off x="4057650" y="3981450"/>
            <a:ext cx="19335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同结构 action projector，输出 z_a。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E1F9B5-F6AD-4B0E-A7E3-7E6608581D58}"/>
              </a:ext>
            </a:extLst>
          </p:cNvPr>
          <p:cNvSpPr>
            <a:spLocks noGrp="1"/>
          </p:cNvSpPr>
          <p:nvPr/>
        </p:nvSpPr>
        <p:spPr>
          <a:xfrm>
            <a:off x="6334125" y="3343275"/>
            <a:ext cx="762000" cy="19050"/>
          </a:xfrm>
          <a:prstGeom prst="rect">
            <a:avLst/>
          </a:prstGeom>
          <a:solidFill>
            <a:srgbClr val="C8B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A2635-88DB-436E-B3D8-19E8C01BF021}"/>
              </a:ext>
            </a:extLst>
          </p:cNvPr>
          <p:cNvSpPr>
            <a:spLocks noGrp="1"/>
          </p:cNvSpPr>
          <p:nvPr/>
        </p:nvSpPr>
        <p:spPr>
          <a:xfrm>
            <a:off x="7019925" y="32194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29A685-A72D-4615-BC0A-13E1025718FB}"/>
              </a:ext>
            </a:extLst>
          </p:cNvPr>
          <p:cNvSpPr>
            <a:spLocks noGrp="1"/>
          </p:cNvSpPr>
          <p:nvPr/>
        </p:nvSpPr>
        <p:spPr>
          <a:xfrm>
            <a:off x="7286625" y="285750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D81F91-656A-444D-81AE-C8F793010EB3}"/>
              </a:ext>
            </a:extLst>
          </p:cNvPr>
          <p:cNvSpPr>
            <a:spLocks noGrp="1"/>
          </p:cNvSpPr>
          <p:nvPr/>
        </p:nvSpPr>
        <p:spPr>
          <a:xfrm>
            <a:off x="7286625" y="2857500"/>
            <a:ext cx="2381250" cy="47625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993717-1346-47D8-AD1A-7D8CB5586F26}"/>
              </a:ext>
            </a:extLst>
          </p:cNvPr>
          <p:cNvSpPr>
            <a:spLocks noGrp="1"/>
          </p:cNvSpPr>
          <p:nvPr/>
        </p:nvSpPr>
        <p:spPr>
          <a:xfrm>
            <a:off x="7439025" y="3009900"/>
            <a:ext cx="2076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[z_x ; z_a ; z_x * z_a]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7612E8-04F3-42CB-8FCC-DEB3FA72807C}"/>
              </a:ext>
            </a:extLst>
          </p:cNvPr>
          <p:cNvSpPr>
            <a:spLocks noGrp="1"/>
          </p:cNvSpPr>
          <p:nvPr/>
        </p:nvSpPr>
        <p:spPr>
          <a:xfrm>
            <a:off x="7439025" y="3314700"/>
            <a:ext cx="2076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reward head 用 interaction feature 预测 standardized y_score_claude_sonnet46。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9073DC-3D76-4B19-8F84-F694B584E97B}"/>
              </a:ext>
            </a:extLst>
          </p:cNvPr>
          <p:cNvSpPr>
            <a:spLocks noGrp="1"/>
          </p:cNvSpPr>
          <p:nvPr/>
        </p:nvSpPr>
        <p:spPr>
          <a:xfrm>
            <a:off x="9858375" y="3343275"/>
            <a:ext cx="714375" cy="19050"/>
          </a:xfrm>
          <a:prstGeom prst="rect">
            <a:avLst/>
          </a:prstGeom>
          <a:solidFill>
            <a:srgbClr val="C8B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44B48F-D178-44C6-8848-F809DA388841}"/>
              </a:ext>
            </a:extLst>
          </p:cNvPr>
          <p:cNvSpPr>
            <a:spLocks noGrp="1"/>
          </p:cNvSpPr>
          <p:nvPr/>
        </p:nvSpPr>
        <p:spPr>
          <a:xfrm>
            <a:off x="10496550" y="32194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8BFB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5D8913-68E5-455E-B6A5-AAE3C6DD645A}"/>
              </a:ext>
            </a:extLst>
          </p:cNvPr>
          <p:cNvSpPr>
            <a:spLocks noGrp="1"/>
          </p:cNvSpPr>
          <p:nvPr/>
        </p:nvSpPr>
        <p:spPr>
          <a:xfrm>
            <a:off x="10668000" y="2857500"/>
            <a:ext cx="11239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9C33BB-6084-47AB-A7D1-D889171BB3DF}"/>
              </a:ext>
            </a:extLst>
          </p:cNvPr>
          <p:cNvSpPr>
            <a:spLocks noGrp="1"/>
          </p:cNvSpPr>
          <p:nvPr/>
        </p:nvSpPr>
        <p:spPr>
          <a:xfrm>
            <a:off x="10668000" y="2857500"/>
            <a:ext cx="1123950" cy="47625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7D3B32-F71B-4C8C-AE1F-5D541CCD995D}"/>
              </a:ext>
            </a:extLst>
          </p:cNvPr>
          <p:cNvSpPr>
            <a:spLocks noGrp="1"/>
          </p:cNvSpPr>
          <p:nvPr/>
        </p:nvSpPr>
        <p:spPr>
          <a:xfrm>
            <a:off x="10820400" y="3009900"/>
            <a:ext cx="819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ŷ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8148AF-EA43-43CF-86D3-253752B02E76}"/>
              </a:ext>
            </a:extLst>
          </p:cNvPr>
          <p:cNvSpPr>
            <a:spLocks noGrp="1"/>
          </p:cNvSpPr>
          <p:nvPr/>
        </p:nvSpPr>
        <p:spPr>
          <a:xfrm>
            <a:off x="10820400" y="3314700"/>
            <a:ext cx="819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15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MSE loss + AdamW + validation early stopping。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24372D-EB4C-49E3-B6B5-DB46C2A87DED}"/>
              </a:ext>
            </a:extLst>
          </p:cNvPr>
          <p:cNvSpPr>
            <a:spLocks noGrp="1"/>
          </p:cNvSpPr>
          <p:nvPr/>
        </p:nvSpPr>
        <p:spPr>
          <a:xfrm>
            <a:off x="1028700" y="5191125"/>
            <a:ext cx="2047875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2D2ECB-BA7A-4D2D-81E4-288DF9639A20}"/>
              </a:ext>
            </a:extLst>
          </p:cNvPr>
          <p:cNvSpPr>
            <a:spLocks noGrp="1"/>
          </p:cNvSpPr>
          <p:nvPr/>
        </p:nvSpPr>
        <p:spPr>
          <a:xfrm>
            <a:off x="1028700" y="5191125"/>
            <a:ext cx="47625" cy="10668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82DA4B3-2C85-4715-9D74-FE07FBCCBC26}"/>
              </a:ext>
            </a:extLst>
          </p:cNvPr>
          <p:cNvSpPr>
            <a:spLocks noGrp="1"/>
          </p:cNvSpPr>
          <p:nvPr/>
        </p:nvSpPr>
        <p:spPr>
          <a:xfrm>
            <a:off x="1200150" y="5324475"/>
            <a:ext cx="1762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DATA SOURCE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C6ADCD-F40C-4FC4-B392-03F72EC77EFD}"/>
              </a:ext>
            </a:extLst>
          </p:cNvPr>
          <p:cNvSpPr>
            <a:spLocks noGrp="1"/>
          </p:cNvSpPr>
          <p:nvPr/>
        </p:nvSpPr>
        <p:spPr>
          <a:xfrm>
            <a:off x="1200150" y="5534025"/>
            <a:ext cx="1781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397 rows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B8123A-75FC-47BE-B51C-ED5118791707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17811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Sonnet 4.6 scored mixed medical dialogue included samples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B370D2-2579-4C29-876E-15E72083C153}"/>
              </a:ext>
            </a:extLst>
          </p:cNvPr>
          <p:cNvSpPr>
            <a:spLocks noGrp="1"/>
          </p:cNvSpPr>
          <p:nvPr/>
        </p:nvSpPr>
        <p:spPr>
          <a:xfrm>
            <a:off x="3524250" y="5191125"/>
            <a:ext cx="2047875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19220C7-02D5-4CA2-8E73-479FBA46C7F2}"/>
              </a:ext>
            </a:extLst>
          </p:cNvPr>
          <p:cNvSpPr>
            <a:spLocks noGrp="1"/>
          </p:cNvSpPr>
          <p:nvPr/>
        </p:nvSpPr>
        <p:spPr>
          <a:xfrm>
            <a:off x="3524250" y="5191125"/>
            <a:ext cx="47625" cy="1066800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14E9A9-FE76-4B90-9D04-A105438BF33F}"/>
              </a:ext>
            </a:extLst>
          </p:cNvPr>
          <p:cNvSpPr>
            <a:spLocks noGrp="1"/>
          </p:cNvSpPr>
          <p:nvPr/>
        </p:nvSpPr>
        <p:spPr>
          <a:xfrm>
            <a:off x="3695700" y="5324475"/>
            <a:ext cx="1762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TRAIN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0C4C2A6-5914-444C-988C-03415AB2DCE9}"/>
              </a:ext>
            </a:extLst>
          </p:cNvPr>
          <p:cNvSpPr>
            <a:spLocks noGrp="1"/>
          </p:cNvSpPr>
          <p:nvPr/>
        </p:nvSpPr>
        <p:spPr>
          <a:xfrm>
            <a:off x="3695700" y="5534025"/>
            <a:ext cx="1781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239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0F059B-2148-480F-9491-250CC93EAC8D}"/>
              </a:ext>
            </a:extLst>
          </p:cNvPr>
          <p:cNvSpPr>
            <a:spLocks noGrp="1"/>
          </p:cNvSpPr>
          <p:nvPr/>
        </p:nvSpPr>
        <p:spPr>
          <a:xfrm>
            <a:off x="3695700" y="5886450"/>
            <a:ext cx="17811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optimizer updates only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2A94038-D7DD-4845-B1C3-2B8FCDFB1B7A}"/>
              </a:ext>
            </a:extLst>
          </p:cNvPr>
          <p:cNvSpPr>
            <a:spLocks noGrp="1"/>
          </p:cNvSpPr>
          <p:nvPr/>
        </p:nvSpPr>
        <p:spPr>
          <a:xfrm>
            <a:off x="6019800" y="5191125"/>
            <a:ext cx="2047875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F8D3653-0C22-4697-9C0E-AB015CEA5AF2}"/>
              </a:ext>
            </a:extLst>
          </p:cNvPr>
          <p:cNvSpPr>
            <a:spLocks noGrp="1"/>
          </p:cNvSpPr>
          <p:nvPr/>
        </p:nvSpPr>
        <p:spPr>
          <a:xfrm>
            <a:off x="6019800" y="5191125"/>
            <a:ext cx="47625" cy="1066800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C52CDE1-29F6-4D10-B148-F19C2FFE3C3E}"/>
              </a:ext>
            </a:extLst>
          </p:cNvPr>
          <p:cNvSpPr>
            <a:spLocks noGrp="1"/>
          </p:cNvSpPr>
          <p:nvPr/>
        </p:nvSpPr>
        <p:spPr>
          <a:xfrm>
            <a:off x="6191250" y="5324475"/>
            <a:ext cx="1762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VALIDATION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5E7D0E-6F8F-4379-AB65-8C682E319AFB}"/>
              </a:ext>
            </a:extLst>
          </p:cNvPr>
          <p:cNvSpPr>
            <a:spLocks noGrp="1"/>
          </p:cNvSpPr>
          <p:nvPr/>
        </p:nvSpPr>
        <p:spPr>
          <a:xfrm>
            <a:off x="6191250" y="5534025"/>
            <a:ext cx="1781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79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E8EEBD-B43F-4A3F-946E-4341E097D8DB}"/>
              </a:ext>
            </a:extLst>
          </p:cNvPr>
          <p:cNvSpPr>
            <a:spLocks noGrp="1"/>
          </p:cNvSpPr>
          <p:nvPr/>
        </p:nvSpPr>
        <p:spPr>
          <a:xfrm>
            <a:off x="6191250" y="5886450"/>
            <a:ext cx="17811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early stopping and hyperparameter selection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5657B5E-BD11-42C4-8E1E-89A2C18C3F2A}"/>
              </a:ext>
            </a:extLst>
          </p:cNvPr>
          <p:cNvSpPr>
            <a:spLocks noGrp="1"/>
          </p:cNvSpPr>
          <p:nvPr/>
        </p:nvSpPr>
        <p:spPr>
          <a:xfrm>
            <a:off x="8515350" y="5191125"/>
            <a:ext cx="2047875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0DDB087-EEFB-4567-9255-E6FBE7C02A80}"/>
              </a:ext>
            </a:extLst>
          </p:cNvPr>
          <p:cNvSpPr>
            <a:spLocks noGrp="1"/>
          </p:cNvSpPr>
          <p:nvPr/>
        </p:nvSpPr>
        <p:spPr>
          <a:xfrm>
            <a:off x="8515350" y="5191125"/>
            <a:ext cx="47625" cy="10668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618D1EE-EC8E-4E6E-9D96-B6F0F449FBBE}"/>
              </a:ext>
            </a:extLst>
          </p:cNvPr>
          <p:cNvSpPr>
            <a:spLocks noGrp="1"/>
          </p:cNvSpPr>
          <p:nvPr/>
        </p:nvSpPr>
        <p:spPr>
          <a:xfrm>
            <a:off x="8686800" y="5324475"/>
            <a:ext cx="1762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TEST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5039243-344B-4330-B770-7FD6A299AFB3}"/>
              </a:ext>
            </a:extLst>
          </p:cNvPr>
          <p:cNvSpPr>
            <a:spLocks noGrp="1"/>
          </p:cNvSpPr>
          <p:nvPr/>
        </p:nvSpPr>
        <p:spPr>
          <a:xfrm>
            <a:off x="8686800" y="5534025"/>
            <a:ext cx="17811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79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CFE875-7541-4220-A559-AB74E0A01941}"/>
              </a:ext>
            </a:extLst>
          </p:cNvPr>
          <p:cNvSpPr>
            <a:spLocks noGrp="1"/>
          </p:cNvSpPr>
          <p:nvPr/>
        </p:nvSpPr>
        <p:spPr>
          <a:xfrm>
            <a:off x="8686800" y="5886450"/>
            <a:ext cx="17811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held out until final generalization read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1530CB-6F2A-44A9-B3E7-2B1E61B35F45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43F42B2-EF90-49C2-A50F-B80E20FF70C2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704699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D3344A1-FC78-4E66-A609-CC71B67C8A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E845816F-9417-40DB-AA9E-868C0120DF7D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48BF8515-FD06-4288-A990-F5C6B25F6A3B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08 / REGULARIZATION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D20CD-474C-4072-B7C8-A54C5EA06316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正则化后泛化略升：牺牲一点 train fit，换来更小 test error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D82FED-E848-4920-B25C-6D30A0F6AC6A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调参规则是只用 validation 选配置，test 只做最终评估；目标是降低 overfitting，而不是追求更低训练误差。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8E496-7E3A-4780-9FD8-E8FC5EAE0ADA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8286750" cy="381000"/>
          </a:xfrm>
          <a:prstGeom prst="rect">
            <a:avLst/>
          </a:prstGeom>
          <a:solidFill>
            <a:srgbClr val="17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3074E-F5A2-4D74-95EA-D597A4EA02D0}"/>
              </a:ext>
            </a:extLst>
          </p:cNvPr>
          <p:cNvSpPr>
            <a:spLocks noGrp="1"/>
          </p:cNvSpPr>
          <p:nvPr/>
        </p:nvSpPr>
        <p:spPr>
          <a:xfrm>
            <a:off x="704850" y="2219325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Config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224224-23A3-48FE-820E-DC7176AB31B4}"/>
              </a:ext>
            </a:extLst>
          </p:cNvPr>
          <p:cNvSpPr>
            <a:spLocks noGrp="1"/>
          </p:cNvSpPr>
          <p:nvPr/>
        </p:nvSpPr>
        <p:spPr>
          <a:xfrm>
            <a:off x="2609850" y="2219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Train RMSE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196FF-21CC-423E-83B0-EED376F2D7F6}"/>
              </a:ext>
            </a:extLst>
          </p:cNvPr>
          <p:cNvSpPr>
            <a:spLocks noGrp="1"/>
          </p:cNvSpPr>
          <p:nvPr/>
        </p:nvSpPr>
        <p:spPr>
          <a:xfrm>
            <a:off x="3609975" y="2219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Val RMSE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AB6EE1-DB9E-4A64-8A4B-7DC7565AD590}"/>
              </a:ext>
            </a:extLst>
          </p:cNvPr>
          <p:cNvSpPr>
            <a:spLocks noGrp="1"/>
          </p:cNvSpPr>
          <p:nvPr/>
        </p:nvSpPr>
        <p:spPr>
          <a:xfrm>
            <a:off x="4610100" y="2219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Test RMSE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815FC1-AC07-4F6A-A307-6E2748918851}"/>
              </a:ext>
            </a:extLst>
          </p:cNvPr>
          <p:cNvSpPr>
            <a:spLocks noGrp="1"/>
          </p:cNvSpPr>
          <p:nvPr/>
        </p:nvSpPr>
        <p:spPr>
          <a:xfrm>
            <a:off x="5610225" y="2219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Test MAE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D2D428-C512-4D85-8601-1ED79A6B2717}"/>
              </a:ext>
            </a:extLst>
          </p:cNvPr>
          <p:cNvSpPr>
            <a:spLocks noGrp="1"/>
          </p:cNvSpPr>
          <p:nvPr/>
        </p:nvSpPr>
        <p:spPr>
          <a:xfrm>
            <a:off x="6610350" y="221932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Test Pearson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1379A6-4666-42F5-ABE5-14F2D5177E03}"/>
              </a:ext>
            </a:extLst>
          </p:cNvPr>
          <p:cNvSpPr>
            <a:spLocks noGrp="1"/>
          </p:cNvSpPr>
          <p:nvPr/>
        </p:nvSpPr>
        <p:spPr>
          <a:xfrm>
            <a:off x="7753350" y="2219325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6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Train-test gap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6742C1-5070-4647-8D94-FA31D279C15E}"/>
              </a:ext>
            </a:extLst>
          </p:cNvPr>
          <p:cNvSpPr>
            <a:spLocks noGrp="1"/>
          </p:cNvSpPr>
          <p:nvPr/>
        </p:nvSpPr>
        <p:spPr>
          <a:xfrm>
            <a:off x="628650" y="2524125"/>
            <a:ext cx="8286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0ECEDE-D2BA-4554-83BA-1CE9137F1600}"/>
              </a:ext>
            </a:extLst>
          </p:cNvPr>
          <p:cNvSpPr>
            <a:spLocks noGrp="1"/>
          </p:cNvSpPr>
          <p:nvPr/>
        </p:nvSpPr>
        <p:spPr>
          <a:xfrm>
            <a:off x="704850" y="2600325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64/64, no dropout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80CEA1-C41E-4E6D-8571-A6C1B2326EFC}"/>
              </a:ext>
            </a:extLst>
          </p:cNvPr>
          <p:cNvSpPr>
            <a:spLocks noGrp="1"/>
          </p:cNvSpPr>
          <p:nvPr/>
        </p:nvSpPr>
        <p:spPr>
          <a:xfrm>
            <a:off x="2609850" y="2600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0.0753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9D39C-3B0E-4FA2-90B4-B293CF4FA17C}"/>
              </a:ext>
            </a:extLst>
          </p:cNvPr>
          <p:cNvSpPr>
            <a:spLocks noGrp="1"/>
          </p:cNvSpPr>
          <p:nvPr/>
        </p:nvSpPr>
        <p:spPr>
          <a:xfrm>
            <a:off x="3609975" y="2600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0.1331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B854B5-5099-40B3-ABBB-09F1457F9995}"/>
              </a:ext>
            </a:extLst>
          </p:cNvPr>
          <p:cNvSpPr>
            <a:spLocks noGrp="1"/>
          </p:cNvSpPr>
          <p:nvPr/>
        </p:nvSpPr>
        <p:spPr>
          <a:xfrm>
            <a:off x="4610100" y="2600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0.1161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7A8FB6-E8B0-4C61-9027-3A9168B5F902}"/>
              </a:ext>
            </a:extLst>
          </p:cNvPr>
          <p:cNvSpPr>
            <a:spLocks noGrp="1"/>
          </p:cNvSpPr>
          <p:nvPr/>
        </p:nvSpPr>
        <p:spPr>
          <a:xfrm>
            <a:off x="5610225" y="2600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0.0830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36898C-15C4-4C3F-A1B2-B25643453A40}"/>
              </a:ext>
            </a:extLst>
          </p:cNvPr>
          <p:cNvSpPr>
            <a:spLocks noGrp="1"/>
          </p:cNvSpPr>
          <p:nvPr/>
        </p:nvSpPr>
        <p:spPr>
          <a:xfrm>
            <a:off x="6610350" y="260032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0.804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9FDD67-1EE1-46C3-A119-2F072C2A7452}"/>
              </a:ext>
            </a:extLst>
          </p:cNvPr>
          <p:cNvSpPr>
            <a:spLocks noGrp="1"/>
          </p:cNvSpPr>
          <p:nvPr/>
        </p:nvSpPr>
        <p:spPr>
          <a:xfrm>
            <a:off x="7753350" y="2600325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0.0408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9AD8B1-4E5C-4E78-A11D-5229ACBB7C34}"/>
              </a:ext>
            </a:extLst>
          </p:cNvPr>
          <p:cNvSpPr>
            <a:spLocks noGrp="1"/>
          </p:cNvSpPr>
          <p:nvPr/>
        </p:nvSpPr>
        <p:spPr>
          <a:xfrm>
            <a:off x="628650" y="2905125"/>
            <a:ext cx="8286750" cy="381000"/>
          </a:xfrm>
          <a:prstGeom prst="rect">
            <a:avLst/>
          </a:prstGeom>
          <a:solidFill>
            <a:srgbClr val="F3EFE8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7F2F70-91DF-42C9-8D0A-07ACD76AC943}"/>
              </a:ext>
            </a:extLst>
          </p:cNvPr>
          <p:cNvSpPr>
            <a:spLocks noGrp="1"/>
          </p:cNvSpPr>
          <p:nvPr/>
        </p:nvSpPr>
        <p:spPr>
          <a:xfrm>
            <a:off x="704850" y="2981325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8/32, dropout .1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65A7FA-4CB8-4AD7-8D9F-2BA681E6793B}"/>
              </a:ext>
            </a:extLst>
          </p:cNvPr>
          <p:cNvSpPr>
            <a:spLocks noGrp="1"/>
          </p:cNvSpPr>
          <p:nvPr/>
        </p:nvSpPr>
        <p:spPr>
          <a:xfrm>
            <a:off x="2609850" y="2981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0.0801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51D08F-081F-4D8B-89FF-19DBECF869F2}"/>
              </a:ext>
            </a:extLst>
          </p:cNvPr>
          <p:cNvSpPr>
            <a:spLocks noGrp="1"/>
          </p:cNvSpPr>
          <p:nvPr/>
        </p:nvSpPr>
        <p:spPr>
          <a:xfrm>
            <a:off x="3609975" y="2981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0.1335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82FB47-4CDD-46F5-8ED3-272BE73B87D2}"/>
              </a:ext>
            </a:extLst>
          </p:cNvPr>
          <p:cNvSpPr>
            <a:spLocks noGrp="1"/>
          </p:cNvSpPr>
          <p:nvPr/>
        </p:nvSpPr>
        <p:spPr>
          <a:xfrm>
            <a:off x="4610100" y="2981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0.1127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5A35CD-4224-4D7E-BC1A-911E2FB102C4}"/>
              </a:ext>
            </a:extLst>
          </p:cNvPr>
          <p:cNvSpPr>
            <a:spLocks noGrp="1"/>
          </p:cNvSpPr>
          <p:nvPr/>
        </p:nvSpPr>
        <p:spPr>
          <a:xfrm>
            <a:off x="5610225" y="298132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0.0800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5B3CBE-1B8C-4CA8-B7D1-526434EFE0B5}"/>
              </a:ext>
            </a:extLst>
          </p:cNvPr>
          <p:cNvSpPr>
            <a:spLocks noGrp="1"/>
          </p:cNvSpPr>
          <p:nvPr/>
        </p:nvSpPr>
        <p:spPr>
          <a:xfrm>
            <a:off x="6610350" y="298132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0.817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082B8E-013A-44E2-B21A-EDF350B327DC}"/>
              </a:ext>
            </a:extLst>
          </p:cNvPr>
          <p:cNvSpPr>
            <a:spLocks noGrp="1"/>
          </p:cNvSpPr>
          <p:nvPr/>
        </p:nvSpPr>
        <p:spPr>
          <a:xfrm>
            <a:off x="7753350" y="2981325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7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0.0327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4235E2-CD85-4D42-9D66-538429B662D0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219075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581F36-B618-4EC9-B9CF-90B0D5ABDD33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47625" cy="10668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3C3E4B-5950-4530-97E9-83DF3EA29370}"/>
              </a:ext>
            </a:extLst>
          </p:cNvPr>
          <p:cNvSpPr>
            <a:spLocks noGrp="1"/>
          </p:cNvSpPr>
          <p:nvPr/>
        </p:nvSpPr>
        <p:spPr>
          <a:xfrm>
            <a:off x="1314450" y="38481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TEST RMSE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78EAD1-1077-46FA-AD21-2318804BDAA0}"/>
              </a:ext>
            </a:extLst>
          </p:cNvPr>
          <p:cNvSpPr>
            <a:spLocks noGrp="1"/>
          </p:cNvSpPr>
          <p:nvPr/>
        </p:nvSpPr>
        <p:spPr>
          <a:xfrm>
            <a:off x="1314450" y="405765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0.1161 → 0.1127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6B4689-C23A-48F3-8EBC-C8872079A732}"/>
              </a:ext>
            </a:extLst>
          </p:cNvPr>
          <p:cNvSpPr>
            <a:spLocks noGrp="1"/>
          </p:cNvSpPr>
          <p:nvPr/>
        </p:nvSpPr>
        <p:spPr>
          <a:xfrm>
            <a:off x="1314450" y="4410075"/>
            <a:ext cx="19240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held-out reward prediction error decreased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B95259-9FF8-4D0A-B55F-639EFDEEF844}"/>
              </a:ext>
            </a:extLst>
          </p:cNvPr>
          <p:cNvSpPr>
            <a:spLocks noGrp="1"/>
          </p:cNvSpPr>
          <p:nvPr/>
        </p:nvSpPr>
        <p:spPr>
          <a:xfrm>
            <a:off x="3667125" y="3714750"/>
            <a:ext cx="219075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A2A15D-1F78-404D-8C65-0DF1C7103DC3}"/>
              </a:ext>
            </a:extLst>
          </p:cNvPr>
          <p:cNvSpPr>
            <a:spLocks noGrp="1"/>
          </p:cNvSpPr>
          <p:nvPr/>
        </p:nvSpPr>
        <p:spPr>
          <a:xfrm>
            <a:off x="3667125" y="3714750"/>
            <a:ext cx="47625" cy="10668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2DF354-A5A6-49F6-BE20-3CE1CCB09443}"/>
              </a:ext>
            </a:extLst>
          </p:cNvPr>
          <p:cNvSpPr>
            <a:spLocks noGrp="1"/>
          </p:cNvSpPr>
          <p:nvPr/>
        </p:nvSpPr>
        <p:spPr>
          <a:xfrm>
            <a:off x="3838575" y="38481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PEARSON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3C18B1-EA42-481E-AC25-E75375B262EE}"/>
              </a:ext>
            </a:extLst>
          </p:cNvPr>
          <p:cNvSpPr>
            <a:spLocks noGrp="1"/>
          </p:cNvSpPr>
          <p:nvPr/>
        </p:nvSpPr>
        <p:spPr>
          <a:xfrm>
            <a:off x="3838575" y="405765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0.804 → 0.817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7974CF-C28C-42BE-8208-3FE7E2218863}"/>
              </a:ext>
            </a:extLst>
          </p:cNvPr>
          <p:cNvSpPr>
            <a:spLocks noGrp="1"/>
          </p:cNvSpPr>
          <p:nvPr/>
        </p:nvSpPr>
        <p:spPr>
          <a:xfrm>
            <a:off x="3838575" y="4410075"/>
            <a:ext cx="19240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prediction ranking aligns better with reward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FF6F2B-242C-4926-BCE3-87D782C7ACC7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219075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0571E7-78B7-4BA6-912B-4172A7A6C6A7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47625" cy="1066800"/>
          </a:xfrm>
          <a:prstGeom prst="rect">
            <a:avLst/>
          </a:prstGeom>
          <a:solidFill>
            <a:srgbClr val="D6A4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30EB2B3-6E2B-4085-B2C1-887BC4250EBE}"/>
              </a:ext>
            </a:extLst>
          </p:cNvPr>
          <p:cNvSpPr>
            <a:spLocks noGrp="1"/>
          </p:cNvSpPr>
          <p:nvPr/>
        </p:nvSpPr>
        <p:spPr>
          <a:xfrm>
            <a:off x="6362700" y="38481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OVERFIT GAP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6FF3DC1-B508-4776-952F-324005722CC9}"/>
              </a:ext>
            </a:extLst>
          </p:cNvPr>
          <p:cNvSpPr>
            <a:spLocks noGrp="1"/>
          </p:cNvSpPr>
          <p:nvPr/>
        </p:nvSpPr>
        <p:spPr>
          <a:xfrm>
            <a:off x="6362700" y="4057650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0.0408 → 0.0327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1382610-2D21-4A4D-A6AB-A9B6FFC8B83B}"/>
              </a:ext>
            </a:extLst>
          </p:cNvPr>
          <p:cNvSpPr>
            <a:spLocks noGrp="1"/>
          </p:cNvSpPr>
          <p:nvPr/>
        </p:nvSpPr>
        <p:spPr>
          <a:xfrm>
            <a:off x="6362700" y="4410075"/>
            <a:ext cx="19240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test RMSE minus train RMSE shrank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711D5DA-7460-4192-9E1D-C44F94A650C9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5C6EFE4-716D-4C7F-B32F-E589A03E9723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61076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ECFC1D9-6C5F-43EC-99E7-7D1BACB482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D2EF9766-5432-466F-A950-3E557CC02C62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60D152D6-D380-4FC2-85A1-61FF2A63F565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09 / DOWNSTREAM EFFECT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820C7C-8407-4570-A558-61FCAD3F6E62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learned concat-PCA 的下游收益主要体现在 MIPS point estimate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BDDB0-7C69-495C-A46C-406BC72E8E78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two-tower 的价值不是替代所有 estimator，而是给 MIPS 的 embedding-space density ratio 更有 reward 信息的表示。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F48E89-450D-4D41-8486-B9DD06C78CE8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MIPS RMSE before / after learned </a:t>
            </a:r>
            <a:r>
              <a:rPr sz="1275" b="1" dirty="0" err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concat</a:t>
            </a:r>
            <a:r>
              <a:rPr sz="1275" b="1" dirty="0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-PCA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BD80AD-6E53-445C-BFB0-2646432C4F7C}"/>
              </a:ext>
            </a:extLst>
          </p:cNvPr>
          <p:cNvSpPr>
            <a:spLocks noGrp="1"/>
          </p:cNvSpPr>
          <p:nvPr/>
        </p:nvSpPr>
        <p:spPr>
          <a:xfrm>
            <a:off x="914400" y="261937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Mixed Sonnet / BGE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64F44-6569-4BF6-937B-AB68BE938201}"/>
              </a:ext>
            </a:extLst>
          </p:cNvPr>
          <p:cNvSpPr>
            <a:spLocks noGrp="1"/>
          </p:cNvSpPr>
          <p:nvPr/>
        </p:nvSpPr>
        <p:spPr>
          <a:xfrm>
            <a:off x="2867025" y="2657475"/>
            <a:ext cx="25717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5D114-F153-4DC3-85E8-FCF035E49385}"/>
              </a:ext>
            </a:extLst>
          </p:cNvPr>
          <p:cNvSpPr>
            <a:spLocks noGrp="1"/>
          </p:cNvSpPr>
          <p:nvPr/>
        </p:nvSpPr>
        <p:spPr>
          <a:xfrm>
            <a:off x="2867025" y="2657475"/>
            <a:ext cx="1510903" cy="857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E67979-D506-41B6-BA2E-FC72F5794090}"/>
              </a:ext>
            </a:extLst>
          </p:cNvPr>
          <p:cNvSpPr>
            <a:spLocks noGrp="1"/>
          </p:cNvSpPr>
          <p:nvPr/>
        </p:nvSpPr>
        <p:spPr>
          <a:xfrm>
            <a:off x="5534025" y="26098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0.0705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441A7C-BB1C-4169-92E3-7BD3C840A22C}"/>
              </a:ext>
            </a:extLst>
          </p:cNvPr>
          <p:cNvSpPr>
            <a:spLocks noGrp="1"/>
          </p:cNvSpPr>
          <p:nvPr/>
        </p:nvSpPr>
        <p:spPr>
          <a:xfrm>
            <a:off x="914400" y="29813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Mixed Sonnet / learned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2C2AFD-0380-4FFA-8898-1DFBD6170574}"/>
              </a:ext>
            </a:extLst>
          </p:cNvPr>
          <p:cNvSpPr>
            <a:spLocks noGrp="1"/>
          </p:cNvSpPr>
          <p:nvPr/>
        </p:nvSpPr>
        <p:spPr>
          <a:xfrm>
            <a:off x="2867025" y="3019425"/>
            <a:ext cx="25717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FD897A-8140-45B7-AC8D-73ED5121317E}"/>
              </a:ext>
            </a:extLst>
          </p:cNvPr>
          <p:cNvSpPr>
            <a:spLocks noGrp="1"/>
          </p:cNvSpPr>
          <p:nvPr/>
        </p:nvSpPr>
        <p:spPr>
          <a:xfrm>
            <a:off x="2867025" y="3019425"/>
            <a:ext cx="1444466" cy="85725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5DA1F0-F6A2-48A6-9937-15AE4332F985}"/>
              </a:ext>
            </a:extLst>
          </p:cNvPr>
          <p:cNvSpPr>
            <a:spLocks noGrp="1"/>
          </p:cNvSpPr>
          <p:nvPr/>
        </p:nvSpPr>
        <p:spPr>
          <a:xfrm>
            <a:off x="5534025" y="29718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0.0674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190940-8BA6-49FA-9160-C6E954FF4360}"/>
              </a:ext>
            </a:extLst>
          </p:cNvPr>
          <p:cNvSpPr>
            <a:spLocks noGrp="1"/>
          </p:cNvSpPr>
          <p:nvPr/>
        </p:nvSpPr>
        <p:spPr>
          <a:xfrm>
            <a:off x="914400" y="35623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CounselBench GPT4 / BGE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45D60D-6D21-4CF5-A367-5DA39003B8B1}"/>
              </a:ext>
            </a:extLst>
          </p:cNvPr>
          <p:cNvSpPr>
            <a:spLocks noGrp="1"/>
          </p:cNvSpPr>
          <p:nvPr/>
        </p:nvSpPr>
        <p:spPr>
          <a:xfrm>
            <a:off x="2867025" y="3600450"/>
            <a:ext cx="25717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2C03BB-82D6-45C1-ABA5-3B393ACBFEC9}"/>
              </a:ext>
            </a:extLst>
          </p:cNvPr>
          <p:cNvSpPr>
            <a:spLocks noGrp="1"/>
          </p:cNvSpPr>
          <p:nvPr/>
        </p:nvSpPr>
        <p:spPr>
          <a:xfrm>
            <a:off x="2867025" y="3600450"/>
            <a:ext cx="2488168" cy="857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ED37AB-D657-487F-82DF-6B7439EBB6A0}"/>
              </a:ext>
            </a:extLst>
          </p:cNvPr>
          <p:cNvSpPr>
            <a:spLocks noGrp="1"/>
          </p:cNvSpPr>
          <p:nvPr/>
        </p:nvSpPr>
        <p:spPr>
          <a:xfrm>
            <a:off x="5534025" y="35528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0.1161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52CFA5-ED98-4243-9315-1C1987AE30E7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CounselBench GPT4 / learned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4C32F4-B532-4DD1-AF64-2D1E6CBE241D}"/>
              </a:ext>
            </a:extLst>
          </p:cNvPr>
          <p:cNvSpPr>
            <a:spLocks noGrp="1"/>
          </p:cNvSpPr>
          <p:nvPr/>
        </p:nvSpPr>
        <p:spPr>
          <a:xfrm>
            <a:off x="2867025" y="3962400"/>
            <a:ext cx="25717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DC53F6-1C5E-433D-B17E-298923CA4863}"/>
              </a:ext>
            </a:extLst>
          </p:cNvPr>
          <p:cNvSpPr>
            <a:spLocks noGrp="1"/>
          </p:cNvSpPr>
          <p:nvPr/>
        </p:nvSpPr>
        <p:spPr>
          <a:xfrm>
            <a:off x="2867025" y="3962400"/>
            <a:ext cx="1354455" cy="85725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8F2687-E2D0-4AF0-83A6-2F099F485434}"/>
              </a:ext>
            </a:extLst>
          </p:cNvPr>
          <p:cNvSpPr>
            <a:spLocks noGrp="1"/>
          </p:cNvSpPr>
          <p:nvPr/>
        </p:nvSpPr>
        <p:spPr>
          <a:xfrm>
            <a:off x="5534025" y="391477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0.0632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4E9C43-2306-49F3-BB2E-26B20B284E77}"/>
              </a:ext>
            </a:extLst>
          </p:cNvPr>
          <p:cNvSpPr>
            <a:spLocks noGrp="1"/>
          </p:cNvSpPr>
          <p:nvPr/>
        </p:nvSpPr>
        <p:spPr>
          <a:xfrm>
            <a:off x="914400" y="45053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AskDocs quality / BGE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D4D54F-A6BE-4F41-9B2D-570649456A9A}"/>
              </a:ext>
            </a:extLst>
          </p:cNvPr>
          <p:cNvSpPr>
            <a:spLocks noGrp="1"/>
          </p:cNvSpPr>
          <p:nvPr/>
        </p:nvSpPr>
        <p:spPr>
          <a:xfrm>
            <a:off x="2867025" y="4543425"/>
            <a:ext cx="25717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681CFB-0248-4B44-9BA5-0DC09522E439}"/>
              </a:ext>
            </a:extLst>
          </p:cNvPr>
          <p:cNvSpPr>
            <a:spLocks noGrp="1"/>
          </p:cNvSpPr>
          <p:nvPr/>
        </p:nvSpPr>
        <p:spPr>
          <a:xfrm>
            <a:off x="2867025" y="4543425"/>
            <a:ext cx="1311593" cy="85725"/>
          </a:xfrm>
          <a:prstGeom prst="rect">
            <a:avLst/>
          </a:prstGeom>
          <a:solidFill>
            <a:srgbClr val="3D5A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863D63-80DC-4749-B8D3-9F5578BC3A9C}"/>
              </a:ext>
            </a:extLst>
          </p:cNvPr>
          <p:cNvSpPr>
            <a:spLocks noGrp="1"/>
          </p:cNvSpPr>
          <p:nvPr/>
        </p:nvSpPr>
        <p:spPr>
          <a:xfrm>
            <a:off x="5534025" y="449580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0.0612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198236-C5F0-4568-ADD2-AC6E4F04E639}"/>
              </a:ext>
            </a:extLst>
          </p:cNvPr>
          <p:cNvSpPr>
            <a:spLocks noGrp="1"/>
          </p:cNvSpPr>
          <p:nvPr/>
        </p:nvSpPr>
        <p:spPr>
          <a:xfrm>
            <a:off x="914400" y="486727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63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AskDocs quality / learned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771FD6-A9C4-40DC-9367-ECDEE431CAB2}"/>
              </a:ext>
            </a:extLst>
          </p:cNvPr>
          <p:cNvSpPr>
            <a:spLocks noGrp="1"/>
          </p:cNvSpPr>
          <p:nvPr/>
        </p:nvSpPr>
        <p:spPr>
          <a:xfrm>
            <a:off x="2867025" y="4905375"/>
            <a:ext cx="2571750" cy="85725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9EC2DD-388B-4AD8-9F00-5CBF35C42AE3}"/>
              </a:ext>
            </a:extLst>
          </p:cNvPr>
          <p:cNvSpPr>
            <a:spLocks noGrp="1"/>
          </p:cNvSpPr>
          <p:nvPr/>
        </p:nvSpPr>
        <p:spPr>
          <a:xfrm>
            <a:off x="2867025" y="4905375"/>
            <a:ext cx="777954" cy="85725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E4B08F-D158-46D1-A937-5D19D3F7856D}"/>
              </a:ext>
            </a:extLst>
          </p:cNvPr>
          <p:cNvSpPr>
            <a:spLocks noGrp="1"/>
          </p:cNvSpPr>
          <p:nvPr/>
        </p:nvSpPr>
        <p:spPr>
          <a:xfrm>
            <a:off x="5534025" y="48577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0.0363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EE9FB7-703B-41F6-830E-8B7D8384B9E8}"/>
              </a:ext>
            </a:extLst>
          </p:cNvPr>
          <p:cNvSpPr>
            <a:spLocks noGrp="1"/>
          </p:cNvSpPr>
          <p:nvPr/>
        </p:nvSpPr>
        <p:spPr>
          <a:xfrm>
            <a:off x="7334250" y="2362200"/>
            <a:ext cx="2476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818526-A20B-4B5E-9284-B41243F7E552}"/>
              </a:ext>
            </a:extLst>
          </p:cNvPr>
          <p:cNvSpPr>
            <a:spLocks noGrp="1"/>
          </p:cNvSpPr>
          <p:nvPr/>
        </p:nvSpPr>
        <p:spPr>
          <a:xfrm>
            <a:off x="7334250" y="2362200"/>
            <a:ext cx="47625" cy="10668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69C4FA-2302-4101-9184-1F9EA4B88D73}"/>
              </a:ext>
            </a:extLst>
          </p:cNvPr>
          <p:cNvSpPr>
            <a:spLocks noGrp="1"/>
          </p:cNvSpPr>
          <p:nvPr/>
        </p:nvSpPr>
        <p:spPr>
          <a:xfrm>
            <a:off x="7505700" y="24955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BEST MIXED / SONNET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F539CC-B2CE-4D0A-9902-BC5D54767764}"/>
              </a:ext>
            </a:extLst>
          </p:cNvPr>
          <p:cNvSpPr>
            <a:spLocks noGrp="1"/>
          </p:cNvSpPr>
          <p:nvPr/>
        </p:nvSpPr>
        <p:spPr>
          <a:xfrm>
            <a:off x="7505700" y="270510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RMSE 0.0674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1CF0F3-C045-4BD4-8A9A-E58FF880E4A0}"/>
              </a:ext>
            </a:extLst>
          </p:cNvPr>
          <p:cNvSpPr>
            <a:spLocks noGrp="1"/>
          </p:cNvSpPr>
          <p:nvPr/>
        </p:nvSpPr>
        <p:spPr>
          <a:xfrm>
            <a:off x="7505700" y="3057525"/>
            <a:ext cx="22098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BGE-M3 + learned concat-PCA + MIPS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18F42B-ACEA-45A7-927C-CAC6F3A8B1C1}"/>
              </a:ext>
            </a:extLst>
          </p:cNvPr>
          <p:cNvSpPr>
            <a:spLocks noGrp="1"/>
          </p:cNvSpPr>
          <p:nvPr/>
        </p:nvSpPr>
        <p:spPr>
          <a:xfrm>
            <a:off x="7334250" y="3619500"/>
            <a:ext cx="2476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40DC78-DD41-45C1-841B-662898A41F00}"/>
              </a:ext>
            </a:extLst>
          </p:cNvPr>
          <p:cNvSpPr>
            <a:spLocks noGrp="1"/>
          </p:cNvSpPr>
          <p:nvPr/>
        </p:nvSpPr>
        <p:spPr>
          <a:xfrm>
            <a:off x="7334250" y="3619500"/>
            <a:ext cx="47625" cy="1066800"/>
          </a:xfrm>
          <a:prstGeom prst="rect">
            <a:avLst/>
          </a:prstGeom>
          <a:solidFill>
            <a:srgbClr val="3F7D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1A2241-8752-4D20-80E8-26A7AFCA2E06}"/>
              </a:ext>
            </a:extLst>
          </p:cNvPr>
          <p:cNvSpPr>
            <a:spLocks noGrp="1"/>
          </p:cNvSpPr>
          <p:nvPr/>
        </p:nvSpPr>
        <p:spPr>
          <a:xfrm>
            <a:off x="7505700" y="37528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BEST COUNSELBENCH-GPT4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26023C-A3C8-4E79-A0D0-7BAE26015A93}"/>
              </a:ext>
            </a:extLst>
          </p:cNvPr>
          <p:cNvSpPr>
            <a:spLocks noGrp="1"/>
          </p:cNvSpPr>
          <p:nvPr/>
        </p:nvSpPr>
        <p:spPr>
          <a:xfrm>
            <a:off x="7505700" y="396240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RMSE 0.0632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C47B04-5DFF-4C49-BC3A-40B66CBB9697}"/>
              </a:ext>
            </a:extLst>
          </p:cNvPr>
          <p:cNvSpPr>
            <a:spLocks noGrp="1"/>
          </p:cNvSpPr>
          <p:nvPr/>
        </p:nvSpPr>
        <p:spPr>
          <a:xfrm>
            <a:off x="7505700" y="4314825"/>
            <a:ext cx="22098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largest transfer gain in current summary table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FA1F34-84F0-4715-9BF3-DCEF25E37068}"/>
              </a:ext>
            </a:extLst>
          </p:cNvPr>
          <p:cNvSpPr>
            <a:spLocks noGrp="1"/>
          </p:cNvSpPr>
          <p:nvPr/>
        </p:nvSpPr>
        <p:spPr>
          <a:xfrm>
            <a:off x="7334250" y="4876800"/>
            <a:ext cx="247650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2EE87D-935F-40A4-B68F-974F0189F7BF}"/>
              </a:ext>
            </a:extLst>
          </p:cNvPr>
          <p:cNvSpPr>
            <a:spLocks noGrp="1"/>
          </p:cNvSpPr>
          <p:nvPr/>
        </p:nvSpPr>
        <p:spPr>
          <a:xfrm>
            <a:off x="7334250" y="4876800"/>
            <a:ext cx="47625" cy="10668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0A2C29-6EE2-4852-A288-59D310B1E88F}"/>
              </a:ext>
            </a:extLst>
          </p:cNvPr>
          <p:cNvSpPr>
            <a:spLocks noGrp="1"/>
          </p:cNvSpPr>
          <p:nvPr/>
        </p:nvSpPr>
        <p:spPr>
          <a:xfrm>
            <a:off x="7505700" y="50101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LIMITATION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250610-5253-4932-B81A-F043D277532E}"/>
              </a:ext>
            </a:extLst>
          </p:cNvPr>
          <p:cNvSpPr>
            <a:spLocks noGrp="1"/>
          </p:cNvSpPr>
          <p:nvPr/>
        </p:nvSpPr>
        <p:spPr>
          <a:xfrm>
            <a:off x="7505700" y="521970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CI still misses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97608D-0115-4AAD-9B10-948363E8366C}"/>
              </a:ext>
            </a:extLst>
          </p:cNvPr>
          <p:cNvSpPr>
            <a:spLocks noGrp="1"/>
          </p:cNvSpPr>
          <p:nvPr/>
        </p:nvSpPr>
        <p:spPr>
          <a:xfrm>
            <a:off x="7505700" y="5572125"/>
            <a:ext cx="22098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most plain bootstrap CIs still fail to cover V_agent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B136E4-71E3-4919-8D40-A57EC4F6539B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BC5BCC1-1A61-4454-BDBA-ED03099D38B8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786142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592CC221-D709-484C-9FCD-90E60259D6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80AC5BA0-31C5-4C59-BBE1-36F45E942CA1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7EAE1C87-7D3E-45C1-AAD0-6150F57175F9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10 / MDR ESTIMATOR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8C0B96-5783-4C82-95B3-13D927F08E0A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MDR 被实现为未 self-normalized 的 doubly robust 对照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9C6EB-0162-4868-AA10-3DA50813E185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它和当前 real-data OffCEM 的核心差异，是 residual correction 是否除以 sum_i w_i。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41E352-58E9-4E80-A90E-EAEDD39DF5CA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4953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F6550A-CED3-4AE2-90D5-CAC83F8B1F1A}"/>
              </a:ext>
            </a:extLst>
          </p:cNvPr>
          <p:cNvSpPr>
            <a:spLocks noGrp="1"/>
          </p:cNvSpPr>
          <p:nvPr/>
        </p:nvSpPr>
        <p:spPr>
          <a:xfrm>
            <a:off x="933450" y="24193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rPr>
              <a:t>MDR correction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9C5299-28B8-4C03-B60E-ABBE30631739}"/>
              </a:ext>
            </a:extLst>
          </p:cNvPr>
          <p:cNvSpPr>
            <a:spLocks noGrp="1"/>
          </p:cNvSpPr>
          <p:nvPr/>
        </p:nvSpPr>
        <p:spPr>
          <a:xfrm>
            <a:off x="933450" y="3476625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3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未归一化：保留 1/n Σ w_i residual_i 的原始 DR correction。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D503A5-6ED4-4574-B4EB-B0B41B451AAA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4953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70679C-D9B1-48A7-879E-49281AA04653}"/>
              </a:ext>
            </a:extLst>
          </p:cNvPr>
          <p:cNvSpPr>
            <a:spLocks noGrp="1"/>
          </p:cNvSpPr>
          <p:nvPr/>
        </p:nvSpPr>
        <p:spPr>
          <a:xfrm>
            <a:off x="6838950" y="24193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rPr>
              <a:t>Current OffCEM-style correction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10E130-9E71-4DC3-A05A-C8FDFE6DDFED}"/>
              </a:ext>
            </a:extLst>
          </p:cNvPr>
          <p:cNvSpPr>
            <a:spLocks noGrp="1"/>
          </p:cNvSpPr>
          <p:nvPr/>
        </p:nvSpPr>
        <p:spPr>
          <a:xfrm>
            <a:off x="6838950" y="3476625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38" b="0" dirty="0" err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self-normalized：更稳，但改变</a:t>
            </a:r>
            <a:r>
              <a:rPr sz="938" b="0" dirty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 finite-sample bias / variance tradeoff。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DE95F3-C676-4E1B-A1E1-01BAB695A374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B90E19-6F28-47A6-B781-C6D572193D05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10/12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EB2B984-EE09-7F6B-002D-1FE4719EF4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2746375"/>
            <a:ext cx="4741197" cy="54407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F79AA40-72F9-4219-DC18-E5DDEB912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550" y="2657475"/>
            <a:ext cx="4838700" cy="7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73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BE4A884C-CC46-4C85-A04B-74AA657F2D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0822D30C-6D16-4FD1-A514-2C51EEBE780C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" cy="381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0652CC44-8860-4BDF-A83A-677A50737292}"/>
              </a:ext>
            </a:extLst>
          </p:cNvPr>
          <p:cNvSpPr>
            <a:spLocks noGrp="1"/>
          </p:cNvSpPr>
          <p:nvPr/>
        </p:nvSpPr>
        <p:spPr>
          <a:xfrm>
            <a:off x="914400" y="2571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11 / MDR 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A53E16-4029-4AC6-B768-8B406759B7A3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1057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MDR 是有价值的 challenger，但 matched comparison 中 0/10 胜出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E35901-4A03-4CD0-BE25-8C1480924385}"/>
              </a:ext>
            </a:extLst>
          </p:cNvPr>
          <p:cNvSpPr>
            <a:spLocks noGrp="1"/>
          </p:cNvSpPr>
          <p:nvPr/>
        </p:nvSpPr>
        <p:spPr>
          <a:xfrm>
            <a:off x="3086100" y="263842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F7C763-7811-4541-948C-D0F28A63348D}"/>
              </a:ext>
            </a:extLst>
          </p:cNvPr>
          <p:cNvSpPr>
            <a:spLocks noGrp="1"/>
          </p:cNvSpPr>
          <p:nvPr/>
        </p:nvSpPr>
        <p:spPr>
          <a:xfrm>
            <a:off x="3086100" y="2638425"/>
            <a:ext cx="633857" cy="952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28E1BD-1B01-46B1-A5DC-590161A565F0}"/>
              </a:ext>
            </a:extLst>
          </p:cNvPr>
          <p:cNvSpPr>
            <a:spLocks noGrp="1"/>
          </p:cNvSpPr>
          <p:nvPr/>
        </p:nvSpPr>
        <p:spPr>
          <a:xfrm>
            <a:off x="5353050" y="260032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0.087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625E65-6D1F-4D3E-8275-4F7E6BFD3D62}"/>
              </a:ext>
            </a:extLst>
          </p:cNvPr>
          <p:cNvSpPr>
            <a:spLocks noGrp="1"/>
          </p:cNvSpPr>
          <p:nvPr/>
        </p:nvSpPr>
        <p:spPr>
          <a:xfrm>
            <a:off x="3086100" y="280987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8003D-F3D3-4F1E-88FA-40CF5F631B3A}"/>
              </a:ext>
            </a:extLst>
          </p:cNvPr>
          <p:cNvSpPr>
            <a:spLocks noGrp="1"/>
          </p:cNvSpPr>
          <p:nvPr/>
        </p:nvSpPr>
        <p:spPr>
          <a:xfrm>
            <a:off x="3086100" y="2809875"/>
            <a:ext cx="781368" cy="9525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2EB157-5365-478B-8F4E-5B2CC5ADCABD}"/>
              </a:ext>
            </a:extLst>
          </p:cNvPr>
          <p:cNvSpPr>
            <a:spLocks noGrp="1"/>
          </p:cNvSpPr>
          <p:nvPr/>
        </p:nvSpPr>
        <p:spPr>
          <a:xfrm>
            <a:off x="5353050" y="277177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0.107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22B7A5-AE36-41B1-A53F-A7C009156CDC}"/>
              </a:ext>
            </a:extLst>
          </p:cNvPr>
          <p:cNvSpPr>
            <a:spLocks noGrp="1"/>
          </p:cNvSpPr>
          <p:nvPr/>
        </p:nvSpPr>
        <p:spPr>
          <a:xfrm>
            <a:off x="3086100" y="319087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F9CAF1-6999-472D-9ED0-0B9F405FA717}"/>
              </a:ext>
            </a:extLst>
          </p:cNvPr>
          <p:cNvSpPr>
            <a:spLocks noGrp="1"/>
          </p:cNvSpPr>
          <p:nvPr/>
        </p:nvSpPr>
        <p:spPr>
          <a:xfrm>
            <a:off x="3086100" y="3190875"/>
            <a:ext cx="660876" cy="952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21551A-C65F-49D5-B969-3F0656A4C84B}"/>
              </a:ext>
            </a:extLst>
          </p:cNvPr>
          <p:cNvSpPr>
            <a:spLocks noGrp="1"/>
          </p:cNvSpPr>
          <p:nvPr/>
        </p:nvSpPr>
        <p:spPr>
          <a:xfrm>
            <a:off x="5353050" y="315277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0.090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C0C8A0-84E9-4DF4-8530-5A3E2B35F610}"/>
              </a:ext>
            </a:extLst>
          </p:cNvPr>
          <p:cNvSpPr>
            <a:spLocks noGrp="1"/>
          </p:cNvSpPr>
          <p:nvPr/>
        </p:nvSpPr>
        <p:spPr>
          <a:xfrm>
            <a:off x="3086100" y="336232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06B94D-DB25-4CAB-B676-3982CA804CC0}"/>
              </a:ext>
            </a:extLst>
          </p:cNvPr>
          <p:cNvSpPr>
            <a:spLocks noGrp="1"/>
          </p:cNvSpPr>
          <p:nvPr/>
        </p:nvSpPr>
        <p:spPr>
          <a:xfrm>
            <a:off x="3086100" y="3362325"/>
            <a:ext cx="1213675" cy="9525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B79285-C1BA-4838-A730-DD6F305CAF76}"/>
              </a:ext>
            </a:extLst>
          </p:cNvPr>
          <p:cNvSpPr>
            <a:spLocks noGrp="1"/>
          </p:cNvSpPr>
          <p:nvPr/>
        </p:nvSpPr>
        <p:spPr>
          <a:xfrm>
            <a:off x="5353050" y="332422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0.166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BDF047-43EC-49B5-B797-ECC001872E47}"/>
              </a:ext>
            </a:extLst>
          </p:cNvPr>
          <p:cNvSpPr>
            <a:spLocks noGrp="1"/>
          </p:cNvSpPr>
          <p:nvPr/>
        </p:nvSpPr>
        <p:spPr>
          <a:xfrm>
            <a:off x="3086100" y="374332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916CF4-1D15-46F3-8960-D9EC50897171}"/>
              </a:ext>
            </a:extLst>
          </p:cNvPr>
          <p:cNvSpPr>
            <a:spLocks noGrp="1"/>
          </p:cNvSpPr>
          <p:nvPr/>
        </p:nvSpPr>
        <p:spPr>
          <a:xfrm>
            <a:off x="3086100" y="3743325"/>
            <a:ext cx="821531" cy="952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D00B2A-6F19-4A79-A7BE-FE58A1BC3763}"/>
              </a:ext>
            </a:extLst>
          </p:cNvPr>
          <p:cNvSpPr>
            <a:spLocks noGrp="1"/>
          </p:cNvSpPr>
          <p:nvPr/>
        </p:nvSpPr>
        <p:spPr>
          <a:xfrm>
            <a:off x="5353050" y="370522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0.113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0EACBD-B8A3-477B-B0E2-1510B406FE93}"/>
              </a:ext>
            </a:extLst>
          </p:cNvPr>
          <p:cNvSpPr>
            <a:spLocks noGrp="1"/>
          </p:cNvSpPr>
          <p:nvPr/>
        </p:nvSpPr>
        <p:spPr>
          <a:xfrm>
            <a:off x="3086100" y="391477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53F1DA-5368-4F0C-A586-290849C31966}"/>
              </a:ext>
            </a:extLst>
          </p:cNvPr>
          <p:cNvSpPr>
            <a:spLocks noGrp="1"/>
          </p:cNvSpPr>
          <p:nvPr/>
        </p:nvSpPr>
        <p:spPr>
          <a:xfrm>
            <a:off x="3086100" y="3914775"/>
            <a:ext cx="1228280" cy="9525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577BE2-92BE-4AFE-956B-E260D1661908}"/>
              </a:ext>
            </a:extLst>
          </p:cNvPr>
          <p:cNvSpPr>
            <a:spLocks noGrp="1"/>
          </p:cNvSpPr>
          <p:nvPr/>
        </p:nvSpPr>
        <p:spPr>
          <a:xfrm>
            <a:off x="5353050" y="387667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0.168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DE798F-4EAE-44C1-8230-570AD4D3F6B0}"/>
              </a:ext>
            </a:extLst>
          </p:cNvPr>
          <p:cNvSpPr>
            <a:spLocks noGrp="1"/>
          </p:cNvSpPr>
          <p:nvPr/>
        </p:nvSpPr>
        <p:spPr>
          <a:xfrm>
            <a:off x="3086100" y="429577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3D8156-8CED-493A-BC00-7AFB80341F6A}"/>
              </a:ext>
            </a:extLst>
          </p:cNvPr>
          <p:cNvSpPr>
            <a:spLocks noGrp="1"/>
          </p:cNvSpPr>
          <p:nvPr/>
        </p:nvSpPr>
        <p:spPr>
          <a:xfrm>
            <a:off x="3086100" y="4295775"/>
            <a:ext cx="1000443" cy="952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B4F3AC-B014-4C4A-9B23-BA4CD1E0890E}"/>
              </a:ext>
            </a:extLst>
          </p:cNvPr>
          <p:cNvSpPr>
            <a:spLocks noGrp="1"/>
          </p:cNvSpPr>
          <p:nvPr/>
        </p:nvSpPr>
        <p:spPr>
          <a:xfrm>
            <a:off x="5353050" y="425767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0.137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AB4A3B-8B86-46BB-9431-CD02EAB97C30}"/>
              </a:ext>
            </a:extLst>
          </p:cNvPr>
          <p:cNvSpPr>
            <a:spLocks noGrp="1"/>
          </p:cNvSpPr>
          <p:nvPr/>
        </p:nvSpPr>
        <p:spPr>
          <a:xfrm>
            <a:off x="3086100" y="446722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0E4F38-2257-4281-9E4B-9C36A9BD8CCC}"/>
              </a:ext>
            </a:extLst>
          </p:cNvPr>
          <p:cNvSpPr>
            <a:spLocks noGrp="1"/>
          </p:cNvSpPr>
          <p:nvPr/>
        </p:nvSpPr>
        <p:spPr>
          <a:xfrm>
            <a:off x="3086100" y="4467225"/>
            <a:ext cx="1915446" cy="9525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1F6FA3-79B1-433F-9728-F85DF77373F3}"/>
              </a:ext>
            </a:extLst>
          </p:cNvPr>
          <p:cNvSpPr>
            <a:spLocks noGrp="1"/>
          </p:cNvSpPr>
          <p:nvPr/>
        </p:nvSpPr>
        <p:spPr>
          <a:xfrm>
            <a:off x="5353050" y="442912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0.262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1B2BB94-F547-4D6A-8059-77684E4F926A}"/>
              </a:ext>
            </a:extLst>
          </p:cNvPr>
          <p:cNvSpPr>
            <a:spLocks noGrp="1"/>
          </p:cNvSpPr>
          <p:nvPr/>
        </p:nvSpPr>
        <p:spPr>
          <a:xfrm>
            <a:off x="3086100" y="484822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734B43-4223-489B-B487-7C27F70069E4}"/>
              </a:ext>
            </a:extLst>
          </p:cNvPr>
          <p:cNvSpPr>
            <a:spLocks noGrp="1"/>
          </p:cNvSpPr>
          <p:nvPr/>
        </p:nvSpPr>
        <p:spPr>
          <a:xfrm>
            <a:off x="5353050" y="481012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0.279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B0169D-E149-4FF1-8D04-F167874AE2BC}"/>
              </a:ext>
            </a:extLst>
          </p:cNvPr>
          <p:cNvSpPr>
            <a:spLocks noGrp="1"/>
          </p:cNvSpPr>
          <p:nvPr/>
        </p:nvSpPr>
        <p:spPr>
          <a:xfrm>
            <a:off x="3086100" y="5019675"/>
            <a:ext cx="2190750" cy="952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A6BBFB-0AF4-4D53-955D-59FF05AF9AFF}"/>
              </a:ext>
            </a:extLst>
          </p:cNvPr>
          <p:cNvSpPr>
            <a:spLocks noGrp="1"/>
          </p:cNvSpPr>
          <p:nvPr/>
        </p:nvSpPr>
        <p:spPr>
          <a:xfrm>
            <a:off x="5353050" y="498157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3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0.283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D45BF6-E938-4159-B677-002F407235E8}"/>
              </a:ext>
            </a:extLst>
          </p:cNvPr>
          <p:cNvSpPr>
            <a:spLocks noGrp="1"/>
          </p:cNvSpPr>
          <p:nvPr/>
        </p:nvSpPr>
        <p:spPr>
          <a:xfrm>
            <a:off x="3095625" y="5219700"/>
            <a:ext cx="152400" cy="9525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63389E-155B-4A3F-8C2A-6173C072C697}"/>
              </a:ext>
            </a:extLst>
          </p:cNvPr>
          <p:cNvSpPr>
            <a:spLocks noGrp="1"/>
          </p:cNvSpPr>
          <p:nvPr/>
        </p:nvSpPr>
        <p:spPr>
          <a:xfrm>
            <a:off x="3314700" y="5181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previous best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7683CCB-E2EA-48E1-84E3-763B4B344BE3}"/>
              </a:ext>
            </a:extLst>
          </p:cNvPr>
          <p:cNvSpPr>
            <a:spLocks noGrp="1"/>
          </p:cNvSpPr>
          <p:nvPr/>
        </p:nvSpPr>
        <p:spPr>
          <a:xfrm>
            <a:off x="4476750" y="5219700"/>
            <a:ext cx="152400" cy="9525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CAB826-9D7D-4473-9472-88D3FBE50461}"/>
              </a:ext>
            </a:extLst>
          </p:cNvPr>
          <p:cNvSpPr>
            <a:spLocks noGrp="1"/>
          </p:cNvSpPr>
          <p:nvPr/>
        </p:nvSpPr>
        <p:spPr>
          <a:xfrm>
            <a:off x="4695825" y="51816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MDR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14D7E8-9312-47E6-AA04-4E141886B404}"/>
              </a:ext>
            </a:extLst>
          </p:cNvPr>
          <p:cNvSpPr>
            <a:spLocks noGrp="1"/>
          </p:cNvSpPr>
          <p:nvPr/>
        </p:nvSpPr>
        <p:spPr>
          <a:xfrm>
            <a:off x="7429500" y="2333625"/>
            <a:ext cx="219075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9EA9F2-308C-401F-9A90-2A8501A8C759}"/>
              </a:ext>
            </a:extLst>
          </p:cNvPr>
          <p:cNvSpPr>
            <a:spLocks noGrp="1"/>
          </p:cNvSpPr>
          <p:nvPr/>
        </p:nvSpPr>
        <p:spPr>
          <a:xfrm>
            <a:off x="7429500" y="2333625"/>
            <a:ext cx="47625" cy="1066800"/>
          </a:xfrm>
          <a:prstGeom prst="rect">
            <a:avLst/>
          </a:prstGeom>
          <a:solidFill>
            <a:srgbClr val="C855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D4B92E1-D823-418B-AFF0-C029B5373D8E}"/>
              </a:ext>
            </a:extLst>
          </p:cNvPr>
          <p:cNvSpPr>
            <a:spLocks noGrp="1"/>
          </p:cNvSpPr>
          <p:nvPr/>
        </p:nvSpPr>
        <p:spPr>
          <a:xfrm>
            <a:off x="7600950" y="2466975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HEADLINE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D89BF3-F797-490D-949B-DB5B73DC687C}"/>
              </a:ext>
            </a:extLst>
          </p:cNvPr>
          <p:cNvSpPr>
            <a:spLocks noGrp="1"/>
          </p:cNvSpPr>
          <p:nvPr/>
        </p:nvSpPr>
        <p:spPr>
          <a:xfrm>
            <a:off x="7600950" y="2676525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10/10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0BC6AE5-6C2E-499E-AC58-4CA4A57C1C38}"/>
              </a:ext>
            </a:extLst>
          </p:cNvPr>
          <p:cNvSpPr>
            <a:spLocks noGrp="1"/>
          </p:cNvSpPr>
          <p:nvPr/>
        </p:nvSpPr>
        <p:spPr>
          <a:xfrm>
            <a:off x="7600950" y="3028950"/>
            <a:ext cx="19240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Previous best wins every matched cell; MDR never reduces absolute bias.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540E50-A437-4034-B69B-3C24442C8BE1}"/>
              </a:ext>
            </a:extLst>
          </p:cNvPr>
          <p:cNvSpPr>
            <a:spLocks noGrp="1"/>
          </p:cNvSpPr>
          <p:nvPr/>
        </p:nvSpPr>
        <p:spPr>
          <a:xfrm>
            <a:off x="7429500" y="3590925"/>
            <a:ext cx="2190750" cy="1066800"/>
          </a:xfrm>
          <a:prstGeom prst="rect">
            <a:avLst/>
          </a:prstGeom>
          <a:solidFill>
            <a:srgbClr val="FBFAF7"/>
          </a:solidFill>
          <a:ln w="9525">
            <a:solidFill>
              <a:srgbClr val="DED7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F0884E2-14E9-4262-9475-22504BD14376}"/>
              </a:ext>
            </a:extLst>
          </p:cNvPr>
          <p:cNvSpPr>
            <a:spLocks noGrp="1"/>
          </p:cNvSpPr>
          <p:nvPr/>
        </p:nvSpPr>
        <p:spPr>
          <a:xfrm>
            <a:off x="7429500" y="3590925"/>
            <a:ext cx="47625" cy="1066800"/>
          </a:xfrm>
          <a:prstGeom prst="rect">
            <a:avLst/>
          </a:prstGeom>
          <a:solidFill>
            <a:srgbClr val="2F6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B20B662-0A3C-4B7C-B656-CE280137EDA8}"/>
              </a:ext>
            </a:extLst>
          </p:cNvPr>
          <p:cNvSpPr>
            <a:spLocks noGrp="1"/>
          </p:cNvSpPr>
          <p:nvPr/>
        </p:nvSpPr>
        <p:spPr>
          <a:xfrm>
            <a:off x="7600950" y="3724275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1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OLD WINNERS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A3C775-8C25-4A16-8E91-F820740BC2AE}"/>
              </a:ext>
            </a:extLst>
          </p:cNvPr>
          <p:cNvSpPr>
            <a:spLocks noGrp="1"/>
          </p:cNvSpPr>
          <p:nvPr/>
        </p:nvSpPr>
        <p:spPr>
          <a:xfrm>
            <a:off x="7600950" y="3933825"/>
            <a:ext cx="1924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MIPS 9/10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43A1C8-99C5-4426-9F3D-FA3EF96CF945}"/>
              </a:ext>
            </a:extLst>
          </p:cNvPr>
          <p:cNvSpPr>
            <a:spLocks noGrp="1"/>
          </p:cNvSpPr>
          <p:nvPr/>
        </p:nvSpPr>
        <p:spPr>
          <a:xfrm>
            <a:off x="7600950" y="4286250"/>
            <a:ext cx="19240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90" b="0">
                <a:solidFill>
                  <a:srgbClr val="5B6470"/>
                </a:solidFill>
                <a:latin typeface="Arial Unicode MS"/>
                <a:ea typeface="Arial Unicode MS"/>
                <a:cs typeface="Arial Unicode MS"/>
              </a:rPr>
              <a:t>Only PriMock57 + learned concat-PCA selected DM.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869A23C-6C3E-4AEF-AF47-A7DFFDD6C2BB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1009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95" b="1">
                <a:solidFill>
                  <a:srgbClr val="17202A"/>
                </a:solidFill>
                <a:latin typeface="Arial Unicode MS"/>
                <a:ea typeface="Arial Unicode MS"/>
                <a:cs typeface="Arial Unicode MS"/>
              </a:rPr>
              <a:t>Interpretation: MDR helps clarify the role of self-normalization, but current data/features still favor MIPS-style weighting; MDR's unnormalized correction tends to under-estimate V_agent more strongly.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BBCD57D-1DBB-4809-BBB8-A7E2EC62DA1C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11163300" cy="9525"/>
          </a:xfrm>
          <a:prstGeom prst="rect">
            <a:avLst/>
          </a:prstGeom>
          <a:solidFill>
            <a:srgbClr val="DE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D1E8F4-B4DD-4D59-883D-4A834643B3F9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8" b="0">
                <a:solidFill>
                  <a:srgbClr val="7D756D"/>
                </a:solidFill>
                <a:latin typeface="Arial Unicode MS"/>
                <a:ea typeface="Arial Unicode MS"/>
                <a:cs typeface="Arial Unicode MS"/>
              </a:rPr>
              <a:t>11/12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3C5B35CA-D768-A844-A602-63E34B6B6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62" y="1783019"/>
            <a:ext cx="10522575" cy="373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15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1227</Words>
  <Application>Microsoft Macintosh PowerPoint</Application>
  <DocSecurity>0</DocSecurity>
  <PresentationFormat>Widescreen</PresentationFormat>
  <Paragraphs>295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Unicode MS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 Wei</cp:lastModifiedBy>
  <cp:revision>9</cp:revision>
  <dcterms:created xsi:type="dcterms:W3CDTF">2026-06-05T04:19:06Z</dcterms:created>
  <dcterms:modified xsi:type="dcterms:W3CDTF">2026-06-05T05:39:54Z</dcterms:modified>
</cp:coreProperties>
</file>