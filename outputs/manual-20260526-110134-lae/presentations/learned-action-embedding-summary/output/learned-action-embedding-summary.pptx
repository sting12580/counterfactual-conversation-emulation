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a00ec4de574bbe" /><Relationship Type="http://schemas.openxmlformats.org/officeDocument/2006/relationships/extended-properties" Target="/docProps/app.xml" Id="R5fb5ab315bcd4043" /><Relationship Type="http://schemas.openxmlformats.org/officeDocument/2006/relationships/officeDocument" Target="/ppt/presentation.xml" Id="R70d732d91d53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fa6972d680434c"/>
  </p:sldMasterIdLst>
  <p:notesMasterIdLst>
    <p:notesMasterId xmlns:r="http://schemas.openxmlformats.org/officeDocument/2006/relationships" r:id="R1c536c5a66654630"/>
  </p:notesMasterIdLst>
  <p:sldIdLst>
    <p:sldId xmlns:r="http://schemas.openxmlformats.org/officeDocument/2006/relationships" id="256" r:id="R30cdd527ac1f4a25"/>
    <p:sldId xmlns:r="http://schemas.openxmlformats.org/officeDocument/2006/relationships" id="257" r:id="R0df0eafba3c340c1"/>
    <p:sldId xmlns:r="http://schemas.openxmlformats.org/officeDocument/2006/relationships" id="258" r:id="Rd527e19f21124948"/>
    <p:sldId xmlns:r="http://schemas.openxmlformats.org/officeDocument/2006/relationships" id="259" r:id="Rbbcd25aeac864fc9"/>
    <p:sldId xmlns:r="http://schemas.openxmlformats.org/officeDocument/2006/relationships" id="260" r:id="R4426d2f69838432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a6972d680434c" /><Relationship Type="http://schemas.openxmlformats.org/officeDocument/2006/relationships/theme" Target="/ppt/theme/theme1.xml" Id="Rdbb29511e91b417c" /><Relationship Type="http://schemas.openxmlformats.org/officeDocument/2006/relationships/notesMaster" Target="/ppt/notesMasters/notesMaster1.xml" Id="R1c536c5a66654630" /><Relationship Type="http://schemas.openxmlformats.org/officeDocument/2006/relationships/presProps" Target="/ppt/presProps.xml" Id="R518eb8422f794cf7" /><Relationship Type="http://schemas.openxmlformats.org/officeDocument/2006/relationships/viewProps" Target="/ppt/viewProps.xml" Id="Rf202805102fe493b" /><Relationship Type="http://schemas.openxmlformats.org/officeDocument/2006/relationships/tableStyles" Target="/ppt/tableStyles.xml" Id="Re7fb0fade51a4f07" /><Relationship Type="http://schemas.openxmlformats.org/officeDocument/2006/relationships/slide" Target="/ppt/slides/slide1.xml" Id="R30cdd527ac1f4a25" /><Relationship Type="http://schemas.openxmlformats.org/officeDocument/2006/relationships/slide" Target="/ppt/slides/slide2.xml" Id="R0df0eafba3c340c1" /><Relationship Type="http://schemas.openxmlformats.org/officeDocument/2006/relationships/slide" Target="/ppt/slides/slide3.xml" Id="Rd527e19f21124948" /><Relationship Type="http://schemas.openxmlformats.org/officeDocument/2006/relationships/slide" Target="/ppt/slides/slide4.xml" Id="Rbbcd25aeac864fc9" /><Relationship Type="http://schemas.openxmlformats.org/officeDocument/2006/relationships/slide" Target="/ppt/slides/slide5.xml" Id="R4426d2f6983843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e2c034409f240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b9c74f811d47b8" /><Relationship Type="http://schemas.openxmlformats.org/officeDocument/2006/relationships/notesMaster" Target="/ppt/notesMasters/notesMaster1.xml" Id="R6e97e2e273c74d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bd0e2631c5423f" /><Relationship Type="http://schemas.openxmlformats.org/officeDocument/2006/relationships/notesMaster" Target="/ppt/notesMasters/notesMaster1.xml" Id="R3b15794139d74c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c0632d7b184c8c" /><Relationship Type="http://schemas.openxmlformats.org/officeDocument/2006/relationships/notesMaster" Target="/ppt/notesMasters/notesMaster1.xml" Id="Rbc60de061156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d24ec390e94ef1" /><Relationship Type="http://schemas.openxmlformats.org/officeDocument/2006/relationships/notesMaster" Target="/ppt/notesMasters/notesMaster1.xml" Id="R78f31380803345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b9ed81a36f4ce9" /><Relationship Type="http://schemas.openxmlformats.org/officeDocument/2006/relationships/notesMaster" Target="/ppt/notesMasters/notesMaster1.xml" Id="Rae2ca76f6deb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6f726fe94b49e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06121ba25a644ac" /><Relationship Type="http://schemas.openxmlformats.org/officeDocument/2006/relationships/slideLayout" Target="/ppt/slideLayouts/slideLayout2.xml" Id="R4d9a545329e6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9a545329e6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56f1889c7a4545" /><Relationship Type="http://schemas.openxmlformats.org/officeDocument/2006/relationships/notesSlide" Target="/ppt/notesSlides/notesSlide1.xml" Id="Rf562de565be249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74e96a8b4488f" /><Relationship Type="http://schemas.openxmlformats.org/officeDocument/2006/relationships/notesSlide" Target="/ppt/notesSlides/notesSlide2.xml" Id="R9b05fbd1f45f4b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9a41a4fa3742c8" /><Relationship Type="http://schemas.openxmlformats.org/officeDocument/2006/relationships/notesSlide" Target="/ppt/notesSlides/notesSlide3.xml" Id="R9964fc5e802445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87e21121c24d30" /><Relationship Type="http://schemas.openxmlformats.org/officeDocument/2006/relationships/notesSlide" Target="/ppt/notesSlides/notesSlide4.xml" Id="R9f4df6d822c94c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973ab9bf564d67" /><Relationship Type="http://schemas.openxmlformats.org/officeDocument/2006/relationships/notesSlide" Target="/ppt/notesSlides/notesSlide5.xml" Id="Re0d2ca85506d4f2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AC2284-D797-46B5-B3D8-4D01881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943524-74AE-4202-8ABA-0C9B7062C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16FB8-35B0-4A40-98E5-A71F7257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01 /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9C9B8-11EE-4054-ACBC-03A1D4E6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learned concat-PCA 是当前最强的 point-estimation embedding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B5B92-8D6A-4DED-AC5C-FC5CF10B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核心不是替换 BGE-M3，而是在保留 BGE-M3 主信号的基础上加入 reward-informed correction。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0EA9E-22AA-42AF-9005-8121E2B4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445F9-8FD0-4510-B0DC-CD60E5D3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C6E029-690E-425E-8829-7D494B02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BEST MIXED / SONNET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8977C-061A-4C41-ACCA-48A0FEFD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RMSE 0.0674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78A83-EA33-4BD7-802D-A14C8FA1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BGE-M3 learned concat-PCA + MIPS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9CD50-197D-4F84-B21D-2CA28E20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FCA0C-FAA1-4653-A943-B2F62B2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7C894-3B5A-40CB-989C-5EEF2E9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288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RELATIVE BIAS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2C9DEC-B95C-469B-8AEB-DF2F339C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384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-8.34%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B62A3A-8AA3-4F2E-91A0-A151A640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baseline BGE-M3 MIPS was -8.97%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A651B-33B6-4D98-B39C-A925E69F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FD246F-AA66-4734-9451-92FD274E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40CCB-C36A-4B44-B490-6D530FD0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288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DIRECTION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232EAD-B0C3-47B4-965E-24ECE1A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384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7AC121-9E15-4B54-A039-6FFBC7BE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622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all bootstrap samples recover agent &gt; clinician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7F34EE-8641-487D-95B1-D18E0163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1BC97-98C4-456B-B160-D8E1A1AF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955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74BD8-88ED-4A8E-A6E6-DA24AE7A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2885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LIMITATION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BF6664-87E9-4655-BD41-8E4E9084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38400"/>
            <a:ext cx="2209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CI miss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D53280-8F2F-44CD-A0EA-31A00346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62250"/>
            <a:ext cx="2209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upper CI 0.7994 &lt; truth 0.8413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503EC5-7B90-426A-84C7-3968D475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23016A-06E5-4459-9ABB-3E2F61B5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6DF5B9-C625-4A48-BCCD-0902D66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1. Frozen BGE-M3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F4FB85-4938-46ED-8AC3-17C821AD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Text is first embedded by BGE-M3 into 1024-dimensional vectors for context and actions.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2AFE98-5DF1-4B85-A0A9-49D06C9A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577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3549B0-EA25-4B74-9EF9-C86D69368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10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6150C6-F58F-44B8-84BC-1A2667A9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657463-5FA2-4139-BEB0-AA389627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6D2BD0-7B20-4F2B-81DC-9573A84E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67175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2. Conservative learned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3A762-6467-46CE-8119-21467C38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3815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PCA(BGE) to keep geometry and learned projection to add reward-informed signal.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54E1B4-4E78-4889-9D2F-AF5E9CD8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577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882D6-3806-47BF-B0C7-15116E79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0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577180-3265-4894-B253-C472A466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571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0AD4B0-A7D2-4F98-BC1D-F0F532114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571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10BBB5-3EAE-4FF5-9D82-145223A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067175"/>
            <a:ext cx="2266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3. Re-run estimators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9F6582-AA6A-437D-96F4-80718C6A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81500"/>
            <a:ext cx="2266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the same [context; action; interaction] features for DM, MIPS and OffCEM.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ABA69E-5C11-4A15-8BD4-2B998703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00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Takeaway: learned embedding helps only when it is used as a supplement to BGE-M3, not as a full replacement.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96D9CA-DA69-42AB-A2B1-F4753396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703DC4-7B18-46D6-BA28-FBC00E98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</p:spTree>
    <p:extLst>
      <p:ext uri="{BB962C8B-B14F-4D97-AF65-F5344CB8AC3E}">
        <p14:creationId xmlns:p14="http://schemas.microsoft.com/office/powerpoint/2010/main" val="14799514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D5216C-12E4-4736-9F70-547A67D4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89CAE-F2ED-4B00-BB66-6DFCFAE3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32FE9-8713-4AD7-8721-7FAF980B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02 / PURE LEARNED VERSION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D8441-9CDA-40C6-B188-0F6C35E9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第一版 pure learned 128 维把 BGE-M3 替换掉，结果反而更差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AEEB9C-9F05-4292-8DEC-F02692FE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这一版冻结 BGE-M3，只用 clinician logged tuples 学 projection；训练后再把同一个 action projector 应用到 agent action。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EA89BA-D479-40B9-837B-36B5AE65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952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2C006-37A3-4C9A-ABC5-AFA6BA1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95500"/>
            <a:ext cx="1952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5C83C-371A-41A7-8A2A-88BCDE2B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57425"/>
            <a:ext cx="1647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frozen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9FFCC0-0585-4D27-8817-CC4727AE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6478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phi_x, phi_a_clinician, phi_a_agent are fixed 1024-d vectors.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34948-781E-45F2-B670-9AADB69C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6479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9E1D1-DFD3-4835-98E2-A4D5864B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00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576A1-3B72-474E-83A2-861726F7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2383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8A97B5-FDB4-4A76-B3FB-117682A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F4A40-55E5-4B2C-80A4-4A345F65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57425"/>
            <a:ext cx="1933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Train projection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27D798-423D-458B-8F6F-C31C8A49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9335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only (phi_x, phi_a_clinician) -&gt; y_score. Agent reward is not used.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EB462C-4A26-4AC7-96D2-742333F6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479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B58145-0F0A-42AE-B54F-52EFFAA2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00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AF3FE-167B-4722-BD98-413DED0B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095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F4CB6B-6B93-4929-8365-4E1BDB43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AD0B74-8F23-4418-8B48-91775E33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57425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Replace features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70802-84FA-486F-A13B-248B20CF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571750"/>
            <a:ext cx="1790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z_x = f(phi_x), z_a = g(phi_a). Feature becomes [z_x; z_a; z_x*z_a].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47AED2-3A30-43D0-B141-FACD2451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552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7C6C00-8E6E-4A2B-B365-EA66F86D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03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FC6B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DF0E61-3D73-4499-9F97-F9B9AA01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0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310DEE-F5C3-4A7C-AFDC-062B131A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95500"/>
            <a:ext cx="2000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A9DCF0-1A41-4A6E-9857-2C5ABCA9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5742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Run 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1C5B5E-9BA0-497D-A801-799197BE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571750"/>
            <a:ext cx="1695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DM, MIPS, OffCEM are re-run on 384-d estimator features.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1F5BFB-7AD4-4B81-A18C-EBBB11E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4810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4E24AF-D4E7-4A6E-B228-69A17399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construction in pure learned mode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C21208-E85A-400D-9456-9517E408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05300"/>
            <a:ext cx="4333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clinician feature = [z_x ; z_a_clinician ; z_x * z_a_clinician]</a:t>
            </a:r>
          </a:p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agent feature     = [z_x ; z_a_agent ; z_x * z_a_agent]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learned_dim = 128  →  estimator feature dim = 128 × 3 = 384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2BA02-6316-4117-BB63-8AC7697B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1666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592BA7-C1CA-49D9-A7A1-D225A445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6AB73D-8373-4F08-80EC-6B3305C1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67150"/>
            <a:ext cx="1400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MIPS V_hat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303CD2-9EAA-46AD-AE35-C73FD325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1400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0.7193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F481BE4-7610-49C2-8A4C-B01B488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1400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truth = 0.8413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FFF733-BEB1-49ED-B036-F4E2325F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1666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3343FF-1453-4093-A062-80613709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33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DEAC48-04AF-41EF-B596-546FFDB0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867150"/>
            <a:ext cx="1400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 BIAS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9F4DB2-7323-48E2-8421-5963760A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076700"/>
            <a:ext cx="1400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-14.50%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F120F8-9008-4FB6-B9AF-79DE3142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00550"/>
            <a:ext cx="1400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worse than BGE-M3 baseline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A2F0536-A3B8-4C85-9893-626DA55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1666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939565-5902-40EE-AD7F-39891789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7338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7C886B-2932-4FB0-9A3C-E2F22CCC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867150"/>
            <a:ext cx="14001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5383BF8-079F-4ECD-AE57-23351A4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076700"/>
            <a:ext cx="14001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0.1134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7F587A-D57D-41D3-AEAE-05F6FD55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400550"/>
            <a:ext cx="14001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larger error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360C02F-19D7-4E66-A137-B2DB9291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1038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Interpretation: the projection learns reward-informed structure, but full replacement likely overfits and suppresses BGE-M3's original semantic/OPE signal.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CCAB87-D72F-4367-A3D3-5B41C3CE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9830D4-16F3-4228-B009-18610770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</p:spTree>
    <p:extLst>
      <p:ext uri="{BB962C8B-B14F-4D97-AF65-F5344CB8AC3E}">
        <p14:creationId xmlns:p14="http://schemas.microsoft.com/office/powerpoint/2010/main" val="884558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F76AC-F661-4967-8109-623D8C20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E54EB-F20A-40E0-9416-A8641A036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84759-38D6-4472-A8EF-E53B79DD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03 / CONSERVATIVE REVISION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69776-742F-4CF0-9F29-2B223C5F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concat-PCA 的改动：保留 BGE 主信号，只让 learned embedding 做补充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DE653-9A38-4F07-9820-D6D61776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我们从 replace 改为 concat，把 PCA(BGE) 和 learned projection 拼在一起，降低破坏原始语义几何的风险。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D0270-2D5A-4C1F-899E-8C2A1DE1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CCE48-CA9F-463F-84C7-59FBDDF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Before: replace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1FE38-5CE5-4B40-8B32-152F1F0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 = learned_projection(BGE)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717D0-20DF-4228-8FCC-4C787BB8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004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B958AC-310A-46D8-84F6-9A386A3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152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F28983-6A90-4F8E-B014-C1E95760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67125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= [z_x ; z_a ; z_x * z_a]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7AAC2-D043-4F1D-BAD2-E394EF2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672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Problem: learned representation完全替换 BGE-M3，容易压掉原本有用的 semantic geometry。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DBDF1-683A-44AD-8C9A-2789272E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95500"/>
            <a:ext cx="4762500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DDA27-8267-488A-8D3A-A6B7A232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0505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After: concat-PCA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3E97A2-F701-45AE-8EB2-73DD8E8E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813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 = [PCA(BGE) ; learned_projection(BGE)]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AF2749-63B6-47D2-BA38-C42DDE94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00400"/>
            <a:ext cx="123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134C68-BED3-4402-BC21-D3621881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527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03E67-83E8-4217-A4E8-57C20C38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3524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feature = [z_x ; z_a ; z_x * z_a]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8F3DA9-2EB3-4DB7-ACBA-1EC7B833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67200"/>
            <a:ext cx="3714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Benefit: PCA(BGE) keeps original BGE-M3 geometry; learned projection contributes reward-informed correction.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89882E-B168-470F-95AC-7B310E99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59E1A-806F-4DBF-BAE9-33900DB1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81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A17554-131D-49C7-AC9F-7793F250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543550"/>
            <a:ext cx="1933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PCA dim = 128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744D09-2FB8-4257-9369-F7CC57BC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85787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Unsupervised compression of BGE-M3 1024-d signal.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B6E308-E610-45F4-B0C7-39FFB4188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DE42F0-A7E3-4842-849C-4D5D59D8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81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40F707-F57D-4BA6-A943-884A23466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543550"/>
            <a:ext cx="1933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learned dim = 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171DF8-B1C8-4D75-9B85-270BD7EC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85787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Reward-informed low-dimensional correction.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A65DC3-D7D9-4BE7-99B6-1BC6232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2238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E6CA8B-156C-4779-91B4-BB5AAC13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81625"/>
            <a:ext cx="2238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79B72B-1452-4C0B-83CC-07ED8B49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43550"/>
            <a:ext cx="19335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final dim = 192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BA9120-10AC-4892-AA94-31768CC2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57875"/>
            <a:ext cx="19335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Estimator feature dim = 192 × 3 = 576.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80D83B-7FA4-4122-90DD-9A4DE9D5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005CA3-50E0-45DF-A28C-41432E7CD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Phase 5 / learned action embedding summary</a:t>
            </a:r>
          </a:p>
        </p:txBody>
      </p:sp>
    </p:spTree>
    <p:extLst>
      <p:ext uri="{BB962C8B-B14F-4D97-AF65-F5344CB8AC3E}">
        <p14:creationId xmlns:p14="http://schemas.microsoft.com/office/powerpoint/2010/main" val="5100972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E4E6B1-F774-45DB-B4AB-1EB1A124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9ECCB-B629-435E-9FB5-2D0E5A89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61ED2-D66D-440B-A289-BE82E754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04 / RESULTS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583B9-B6D9-428E-958D-41DF41FB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concat-PCA 带来小幅但一致的 point-estimation 提升；CI 仍然不覆盖 truth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62A07-6F9F-4106-8D18-A0EA3672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当前结论是：BGE-M3 learned concat-PCA + MIPS 是最好的点估计方案，但 plain bootstrap CI 仍然偏低。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954FEA-2094-45A2-A06D-F157E17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76450"/>
            <a:ext cx="11096625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A7F72-1027-42C5-A5C1-EAD88E85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0B7CF5-32B6-4011-984C-E346936B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0505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Estimator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6ED1D8-5C89-49AD-AE4E-126EA1A6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05050"/>
            <a:ext cx="90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4906AA-0678-4384-8695-5EC04039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05050"/>
            <a:ext cx="1095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RelBias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11547-5072-4587-B848-9755EB65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05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7A695E-2CBC-4F7C-84F0-DB298C72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0505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Dir%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13B7E6-B76C-4CA3-B62B-74C759B7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3050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2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FE762-4430-497C-B710-EBFD3997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C4F5B6-8F71-4BB3-8375-4C0C1F0D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2F3CE-129B-479C-A479-1CE33133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575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45C98-CF86-4602-A2C2-B36803877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90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0.7659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9949E-D5A8-4404-B98C-4A37B3FC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857500"/>
            <a:ext cx="1095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-8.97%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4EC28-FE00-4247-989D-A826D86E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575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0.0705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D3B90-7E20-4C5A-BD40-5DD15DC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7ADF28-4C55-4C3F-858F-2136662E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8575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[0.750, 0.793]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9CBFD-AAEC-49AC-9087-57255AC9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Pure learned 128d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A7471C-4E8B-4353-B627-984411B0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147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200344-946C-481E-A233-6FB3DA17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14700"/>
            <a:ext cx="90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0.7193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D215F8-BF01-407D-88E1-2FCEF3548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4700"/>
            <a:ext cx="1095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-14.50%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FDCA6E-CE64-49D1-A571-889202F2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147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0.1134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B22C92-A445-4331-AA00-B571E85B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1470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8918B6-A30F-4937-BCB0-2282587B8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3147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A3CB2F-01D7-4591-B28E-08EAA4E9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95700"/>
            <a:ext cx="10810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886151-BA96-49D0-9FCD-ECF922AA7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BGE-M3 learned concat-PCA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FAB114-A81D-4DCF-86C3-EE2FD0D8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719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MIPS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FFB1E7-B412-45FC-A3B7-19BA833C0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71900"/>
            <a:ext cx="904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0.7711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3FCB1E-7292-464D-BFD9-88E056F6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71900"/>
            <a:ext cx="1095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-8.34%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DB0CB3-4A2B-41FA-B1B2-9331FFFF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77190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0.0674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FF699A-FBFC-4110-8CF7-432D8066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71900"/>
            <a:ext cx="10001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100%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46EFB5-4FFF-442D-B19B-E83A510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7719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[0.751, 0.799]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EB3C0A-826B-4E51-AB7C-DEF21985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510193-D51C-48F3-8478-1417B424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57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Improvement vs BGE baseline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5E3761D-3068-4F03-A65D-D7B8A2F2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543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V_hat: 0.7659 → 0.7711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RMSE: 0.0705 → 0.0674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9F82E-3879-475A-9677-F7BE1871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059647-B393-4758-86E1-2CAB2773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257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Still underestimates value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D058310-B708-4B3E-B80A-3C1FB7FA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543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V_true_agent = 0.8413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best V_hat = 0.7711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643551-F31C-4545-87C3-9957937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95875"/>
            <a:ext cx="3000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F11F81-D740-407F-BC71-BFB4CAEA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2578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050" b="1">
                <a:solidFill>
                  <a:srgbClr val="C8553D"/>
                </a:solidFill>
                <a:latin typeface="Arial Unicode MS"/>
                <a:ea typeface="Arial Unicode MS"/>
                <a:cs typeface="Arial Unicode MS"/>
              </a:rPr>
              <a:t>Plain CI misses truth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EF3D93-91CD-4087-A3CF-E7FDE947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5435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CI upper = 0.7994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truth gap ≈ 0.0419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9EF9E7-6458-4195-B878-925B5263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CF2ECE-213B-414B-ADBB-A22F16BB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Mixed/Sonnet46 Phase 5 full bootstrap results; n=397, n_boot=100</a:t>
            </a:r>
          </a:p>
        </p:txBody>
      </p:sp>
    </p:spTree>
    <p:extLst>
      <p:ext uri="{BB962C8B-B14F-4D97-AF65-F5344CB8AC3E}">
        <p14:creationId xmlns:p14="http://schemas.microsoft.com/office/powerpoint/2010/main" val="16107335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FDDAB1-FF11-467B-BEB7-D47E8C9F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3FCCE0-9A17-47DF-BEF4-B5F021E3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5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B45D5-C950-46FD-B98D-4CF2B876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05 / MODEL DETAIL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E4199-0961-4D7A-8950-6AE41D24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287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Projection 模型是一个 two-tower reward predictor，只用 clinician reward 训练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BA20F-2B6C-4D6A-AD83-BB1D962A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009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它学习 context projector 和 action projector；训练完成后，同一个 action projector 被应用到 agent action。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9CCD8-C49B-4E33-9229-672F63FAB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DEE60F-619C-483E-97F7-BF7DD8EA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F9B540-E668-40B3-8394-612BC935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Context tower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0C9DD-2DA0-40B1-AE3E-7FC1A0C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1462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phi_x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1024-d BGE-M3 vector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2713B-9AFC-4AB9-BF5A-E20A4C18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BF263-E45B-4B45-BE3E-F32FD4B05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41153-455C-47D2-897B-B32632B6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7A695F-CBC9-480C-9ED0-929886E5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10F0D0-9A91-45B0-BD4D-C0A668C5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Projector MLP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4802FB-0891-4731-BDA2-C2DB84EC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ReLU → Linear → Tanh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L2 normalize after projection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FAB061-548B-44F2-8523-8B05EA15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05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1A9814-D212-4359-A75C-6DA7C53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9B33D-5359-42ED-A29C-4F4329F1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103F5-B7F4-4F8C-B550-40DE10BBC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5A8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6E34C3-9BFF-45A0-BD2D-10C3D2AC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8162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FA41B6-B6E8-40E5-88E9-EB4F871F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959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 latent representation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0B5E35-3984-4C15-81A9-F267D4B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19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45D84-06BC-4B93-BCCF-E715DD4E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5DF33-DF42-4402-904E-91AFF628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00300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Action tower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CD4779-C4F4-49D9-8AF5-C472EAF3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14625"/>
            <a:ext cx="1885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phi_a_clinician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1024-d BGE-M3 vector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7DB3B-F3AB-40F4-9997-2035263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337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1440C4-9A79-494F-9F5C-7A3EB8F6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8612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CC1C9F-3D84-4F9C-8FB5-0D9B5415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C91B00-7C37-4DD9-8941-9B933258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968D8F-22F9-4FF2-BBC1-F1B6D282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8142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Projector MLP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856157-28A4-47BC-8E02-346D0CF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95750"/>
            <a:ext cx="1885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ReLU → Linear → Tanh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L2 normalize after projection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B90EEE-9BD6-4373-AA4E-EE578B57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905375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9CC6F1-EB90-4A3F-9E0C-B3848AF0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857750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183A8D-959E-46F3-88ED-D3A32E9A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09ABB7-6FF9-4E52-A4DC-579D6572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19700"/>
            <a:ext cx="2190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F8508E1-642F-4C1A-8DAD-E0CD63D37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381625"/>
            <a:ext cx="1885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z_a_clinician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946F49-9440-4CD0-A252-AD62DC61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959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learned latent representation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39AEBB-F3D7-44B0-B980-3D6FA92A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33625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E5CF52-E519-4415-A41B-DC760744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3365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Reward head input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0956CE-0F72-4238-AD17-2ACA5F71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9560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[z_x ; z_a_clinician ; z_x * z_a_clinician]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54896C-5EAD-4F36-A7B7-CBAA08EA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957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0E5D4C3-BA7C-4355-A7C5-A49F474A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48075"/>
            <a:ext cx="11430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6A4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079289-1F69-4F34-A3A9-3FDFF4F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00500"/>
            <a:ext cx="2476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DDD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58F058-B829-48CE-BC1D-295D0E40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00525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Reward predictor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55E1D07-CF9A-42F1-9EA8-2BAF55F4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529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Linear → ReLU → Linear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prediction target = y_score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CBD1D5-72C9-4387-9098-2501D7A3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38375"/>
            <a:ext cx="2190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E2C97E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4F8C3C-DF3F-49B4-9FBE-98F7A230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57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A43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D6A43C"/>
                </a:solidFill>
                <a:latin typeface="Arial Unicode MS"/>
                <a:ea typeface="Arial Unicode MS"/>
                <a:cs typeface="Arial Unicode MS"/>
              </a:rPr>
              <a:t>Training signal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B5314F-2927-4177-A072-FE060E1C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003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Use only:</a:t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(phi_x, phi_a_clinician) → y_score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Do not use y_agent_score.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D29999-9629-4BDF-BBBE-5331CB3E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052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7"/>
          </a:solidFill>
          <a:ln xmlns:a="http://schemas.openxmlformats.org/drawingml/2006/main" w="9525">
            <a:solidFill>
              <a:srgbClr val="9AC5C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E0BEFB-0363-45C2-A040-01C902B44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24325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F6F73"/>
                </a:solidFill>
                <a:latin typeface="Arial Unicode MS"/>
                <a:ea typeface="Arial Unicode MS"/>
                <a:cs typeface="Arial Unicode MS"/>
              </a:rPr>
              <a:t>Apply after training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80C1EB-EF49-4485-9884-43E86C48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4767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z_a_agent = action_projector(phi_a_agent)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5D6470"/>
                </a:solidFill>
                <a:latin typeface="Arial Unicode MS"/>
                <a:ea typeface="Arial Unicode MS"/>
                <a:cs typeface="Arial Unicode MS"/>
              </a:rPr>
              <a:t>Then run DM / MIPS / OffCEM using the learned or concat-PCA features.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38DDC9D-A68A-43A0-886A-FE9A1845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43625"/>
            <a:ext cx="1000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1B1E27"/>
                </a:solidFill>
                <a:latin typeface="Arial Unicode MS"/>
                <a:ea typeface="Arial Unicode MS"/>
                <a:cs typeface="Arial Unicode MS"/>
              </a:rPr>
              <a:t>In concat-PCA mode, the learned outputs are appended to PCA(BGE): final embedding = [PCA(BGE) ; learned_projection(BGE)].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53BBF2-B7CC-4A97-9BE0-84A1F6306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38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D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732A88-AE19-4936-AC49-32ECFE065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34150"/>
            <a:ext cx="819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7E766C"/>
                </a:solidFill>
                <a:latin typeface="Arial Unicode MS"/>
                <a:ea typeface="Arial Unicode MS"/>
                <a:cs typeface="Arial Unicode MS"/>
              </a:rPr>
              <a:t>Implementation: src/cce_data/estimators/learned_embedding.py</a:t>
            </a:r>
          </a:p>
        </p:txBody>
      </p:sp>
    </p:spTree>
    <p:extLst>
      <p:ext uri="{BB962C8B-B14F-4D97-AF65-F5344CB8AC3E}">
        <p14:creationId xmlns:p14="http://schemas.microsoft.com/office/powerpoint/2010/main" val="14612155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2026-05-26T18:06:05.2890000Z</dcterms:created>
  <dcterms:modified xsi:type="dcterms:W3CDTF">2026-05-26T18:06:05.2890000Z</dcterms:modified>
</coreProperties>
</file>