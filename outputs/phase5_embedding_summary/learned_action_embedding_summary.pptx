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9AC2284-D797-46B5-B3D8-4D01881375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943524-74AE-4202-8ABA-0C9B7062CBD1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0480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916FB8-35B0-4A40-98E5-A71F7257FC97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01 / THESIS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A9C9B8-11EE-4054-ACBC-03A1D4E6C03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287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learned concat-PCA 是当前最强的 point-estimation embedding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5B5B92-8D6A-4DED-AC5C-FC5CF10B639F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核心不是替换 BGE-M3，而是在保留 BGE-M3 主信号的基础上加入 reward-informed correction。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80EA9E-22AA-42AF-9005-8121E2B44F7E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2476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7445F9-8FD0-4510-B0DC-CD60E5D3D8BB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6E029-690E-425E-8829-7D494B0261EF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BEST MIXED / SONNET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88977C-061A-4C41-ACCA-48A0FEFDD75C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RMSE 0.0674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C78A83-EA33-4BD7-802D-A14C8FA1070C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BGE-M3 learned concat-PCA + MIPS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9CD50-197D-4F84-B21D-2CA28E20AD3A}"/>
              </a:ext>
            </a:extLst>
          </p:cNvPr>
          <p:cNvSpPr>
            <a:spLocks noGrp="1"/>
          </p:cNvSpPr>
          <p:nvPr/>
        </p:nvSpPr>
        <p:spPr>
          <a:xfrm>
            <a:off x="3238500" y="2095500"/>
            <a:ext cx="2476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FCA0C-FAA1-4653-A943-B2F62B257C89}"/>
              </a:ext>
            </a:extLst>
          </p:cNvPr>
          <p:cNvSpPr>
            <a:spLocks noGrp="1"/>
          </p:cNvSpPr>
          <p:nvPr/>
        </p:nvSpPr>
        <p:spPr>
          <a:xfrm>
            <a:off x="3238500" y="2095500"/>
            <a:ext cx="47625" cy="1066800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E7C894-3B5A-40CB-989C-5EEF2E9DCF47}"/>
              </a:ext>
            </a:extLst>
          </p:cNvPr>
          <p:cNvSpPr>
            <a:spLocks noGrp="1"/>
          </p:cNvSpPr>
          <p:nvPr/>
        </p:nvSpPr>
        <p:spPr>
          <a:xfrm>
            <a:off x="3409950" y="222885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RELATIVE BIAS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2C9DEC-B95C-469B-8AEB-DF2F339C328D}"/>
              </a:ext>
            </a:extLst>
          </p:cNvPr>
          <p:cNvSpPr>
            <a:spLocks noGrp="1"/>
          </p:cNvSpPr>
          <p:nvPr/>
        </p:nvSpPr>
        <p:spPr>
          <a:xfrm>
            <a:off x="3409950" y="243840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-8.34%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B62A3A-8AA3-4F2E-91A0-A151A6404C98}"/>
              </a:ext>
            </a:extLst>
          </p:cNvPr>
          <p:cNvSpPr>
            <a:spLocks noGrp="1"/>
          </p:cNvSpPr>
          <p:nvPr/>
        </p:nvSpPr>
        <p:spPr>
          <a:xfrm>
            <a:off x="3409950" y="27622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baseline BGE-M3 MIPS was -8.97%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DA651B-33B6-4D98-B39C-A925E69FABC2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2476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FD246F-AA66-4734-9451-92FD274ECA68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47625" cy="10668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640CCB-C36A-4B44-B490-6D530FD0E05D}"/>
              </a:ext>
            </a:extLst>
          </p:cNvPr>
          <p:cNvSpPr>
            <a:spLocks noGrp="1"/>
          </p:cNvSpPr>
          <p:nvPr/>
        </p:nvSpPr>
        <p:spPr>
          <a:xfrm>
            <a:off x="6076950" y="222885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DIRECTION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32EAD-B0C3-47B4-965E-24ECE1A065CF}"/>
              </a:ext>
            </a:extLst>
          </p:cNvPr>
          <p:cNvSpPr>
            <a:spLocks noGrp="1"/>
          </p:cNvSpPr>
          <p:nvPr/>
        </p:nvSpPr>
        <p:spPr>
          <a:xfrm>
            <a:off x="6076950" y="243840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7AC121-9E15-4B54-A039-6FFBC7BE458E}"/>
              </a:ext>
            </a:extLst>
          </p:cNvPr>
          <p:cNvSpPr>
            <a:spLocks noGrp="1"/>
          </p:cNvSpPr>
          <p:nvPr/>
        </p:nvSpPr>
        <p:spPr>
          <a:xfrm>
            <a:off x="6076950" y="27622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all bootstrap samples recover agent &gt; clinician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7F34EE-8641-487D-95B1-D18E01632C91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41BC97-98C4-456B-B160-D8E1A1AF7FDD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74BD8-88ED-4A8E-A6E6-DA24AE7AFD0E}"/>
              </a:ext>
            </a:extLst>
          </p:cNvPr>
          <p:cNvSpPr>
            <a:spLocks noGrp="1"/>
          </p:cNvSpPr>
          <p:nvPr/>
        </p:nvSpPr>
        <p:spPr>
          <a:xfrm>
            <a:off x="8743950" y="222885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LIMITATION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6664-87E9-4655-BD41-8E4E908431E4}"/>
              </a:ext>
            </a:extLst>
          </p:cNvPr>
          <p:cNvSpPr>
            <a:spLocks noGrp="1"/>
          </p:cNvSpPr>
          <p:nvPr/>
        </p:nvSpPr>
        <p:spPr>
          <a:xfrm>
            <a:off x="8743950" y="243840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CI miss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D53280-8F2F-44CD-A0EA-31A00346928D}"/>
              </a:ext>
            </a:extLst>
          </p:cNvPr>
          <p:cNvSpPr>
            <a:spLocks noGrp="1"/>
          </p:cNvSpPr>
          <p:nvPr/>
        </p:nvSpPr>
        <p:spPr>
          <a:xfrm>
            <a:off x="8743950" y="27622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upper CI 0.7994 &lt; truth 0.8413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503EC5-7B90-426A-84C7-3968D47510A1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2571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23016A-06E5-4459-9ABB-3E2F61B5EC77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2571750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6DF5B9-C625-4A48-BCCD-0902D667B169}"/>
              </a:ext>
            </a:extLst>
          </p:cNvPr>
          <p:cNvSpPr>
            <a:spLocks noGrp="1"/>
          </p:cNvSpPr>
          <p:nvPr/>
        </p:nvSpPr>
        <p:spPr>
          <a:xfrm>
            <a:off x="914400" y="406717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1. Frozen BGE-M3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F4FB85-4938-46ED-8AC3-17C821ADEBC5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Text is first embedded by BGE-M3 into 1024-dimensional vectors for context and actions.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2AFE98-5DF1-4B85-A0A9-49D06C9A0FE4}"/>
              </a:ext>
            </a:extLst>
          </p:cNvPr>
          <p:cNvSpPr>
            <a:spLocks noGrp="1"/>
          </p:cNvSpPr>
          <p:nvPr/>
        </p:nvSpPr>
        <p:spPr>
          <a:xfrm>
            <a:off x="3429000" y="4457700"/>
            <a:ext cx="857250" cy="19050"/>
          </a:xfrm>
          <a:prstGeom prst="rect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E33549B0-EA25-4B74-9EF9-C86D6936886A}"/>
              </a:ext>
            </a:extLst>
          </p:cNvPr>
          <p:cNvSpPr>
            <a:spLocks noGrp="1"/>
          </p:cNvSpPr>
          <p:nvPr/>
        </p:nvSpPr>
        <p:spPr>
          <a:xfrm rot="5400000">
            <a:off x="4267200" y="4410075"/>
            <a:ext cx="114300" cy="114300"/>
          </a:xfrm>
          <a:prstGeom prst="triangle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6150C6-F58F-44B8-84BC-1A2667A9951A}"/>
              </a:ext>
            </a:extLst>
          </p:cNvPr>
          <p:cNvSpPr>
            <a:spLocks noGrp="1"/>
          </p:cNvSpPr>
          <p:nvPr/>
        </p:nvSpPr>
        <p:spPr>
          <a:xfrm>
            <a:off x="4476750" y="3905250"/>
            <a:ext cx="2571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657463-5FA2-4139-BEB0-AA389627E2D8}"/>
              </a:ext>
            </a:extLst>
          </p:cNvPr>
          <p:cNvSpPr>
            <a:spLocks noGrp="1"/>
          </p:cNvSpPr>
          <p:nvPr/>
        </p:nvSpPr>
        <p:spPr>
          <a:xfrm>
            <a:off x="4476750" y="3905250"/>
            <a:ext cx="2571750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6D2BD0-7B20-4F2B-81DC-9573A84E5B40}"/>
              </a:ext>
            </a:extLst>
          </p:cNvPr>
          <p:cNvSpPr>
            <a:spLocks noGrp="1"/>
          </p:cNvSpPr>
          <p:nvPr/>
        </p:nvSpPr>
        <p:spPr>
          <a:xfrm>
            <a:off x="4629150" y="406717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2. Conservative learned layer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63A762-6467-46CE-8119-21467C3824E1}"/>
              </a:ext>
            </a:extLst>
          </p:cNvPr>
          <p:cNvSpPr>
            <a:spLocks noGrp="1"/>
          </p:cNvSpPr>
          <p:nvPr/>
        </p:nvSpPr>
        <p:spPr>
          <a:xfrm>
            <a:off x="4629150" y="438150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PCA(BGE) to keep geometry and learned projection to add reward-informed signal.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4E1B4-4E78-4889-9D2F-AF5E9CD83819}"/>
              </a:ext>
            </a:extLst>
          </p:cNvPr>
          <p:cNvSpPr>
            <a:spLocks noGrp="1"/>
          </p:cNvSpPr>
          <p:nvPr/>
        </p:nvSpPr>
        <p:spPr>
          <a:xfrm>
            <a:off x="7143750" y="4457700"/>
            <a:ext cx="857250" cy="19050"/>
          </a:xfrm>
          <a:prstGeom prst="rect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E66882D6-3806-47BF-B0C7-15116E79BE10}"/>
              </a:ext>
            </a:extLst>
          </p:cNvPr>
          <p:cNvSpPr>
            <a:spLocks noGrp="1"/>
          </p:cNvSpPr>
          <p:nvPr/>
        </p:nvSpPr>
        <p:spPr>
          <a:xfrm rot="5400000">
            <a:off x="7981950" y="4410075"/>
            <a:ext cx="114300" cy="114300"/>
          </a:xfrm>
          <a:prstGeom prst="triangle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577180-3265-4894-B253-C472A46689BF}"/>
              </a:ext>
            </a:extLst>
          </p:cNvPr>
          <p:cNvSpPr>
            <a:spLocks noGrp="1"/>
          </p:cNvSpPr>
          <p:nvPr/>
        </p:nvSpPr>
        <p:spPr>
          <a:xfrm>
            <a:off x="8191500" y="3905250"/>
            <a:ext cx="2571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0AD4B0-A7D2-4F98-BC1D-F0F532114221}"/>
              </a:ext>
            </a:extLst>
          </p:cNvPr>
          <p:cNvSpPr>
            <a:spLocks noGrp="1"/>
          </p:cNvSpPr>
          <p:nvPr/>
        </p:nvSpPr>
        <p:spPr>
          <a:xfrm>
            <a:off x="8191500" y="3905250"/>
            <a:ext cx="2571750" cy="476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10BBB5-3EAE-4FF5-9D82-145223AB27A8}"/>
              </a:ext>
            </a:extLst>
          </p:cNvPr>
          <p:cNvSpPr>
            <a:spLocks noGrp="1"/>
          </p:cNvSpPr>
          <p:nvPr/>
        </p:nvSpPr>
        <p:spPr>
          <a:xfrm>
            <a:off x="8343900" y="406717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3. Re-run estimators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9F6582-AA6A-437D-96F4-80718C6A737B}"/>
              </a:ext>
            </a:extLst>
          </p:cNvPr>
          <p:cNvSpPr>
            <a:spLocks noGrp="1"/>
          </p:cNvSpPr>
          <p:nvPr/>
        </p:nvSpPr>
        <p:spPr>
          <a:xfrm>
            <a:off x="8343900" y="438150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the same [context; action; interaction] features for DM, MIPS and OffCEM.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ABA69E-5C11-4A15-8BD4-2B9987039B0D}"/>
              </a:ext>
            </a:extLst>
          </p:cNvPr>
          <p:cNvSpPr>
            <a:spLocks noGrp="1"/>
          </p:cNvSpPr>
          <p:nvPr/>
        </p:nvSpPr>
        <p:spPr>
          <a:xfrm>
            <a:off x="857250" y="5572125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Takeaway: learned embedding helps only when it is used as a supplement to BGE-M3, not as a full replacement.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96D9CA-DA69-42AB-A2B1-F4753396A7C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E5DD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703DC4-7B18-46D6-BA28-FBC00E980CEE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Phase 5 / learned action embedding summary</a:t>
            </a:r>
          </a:p>
        </p:txBody>
      </p:sp>
    </p:spTree>
    <p:extLst>
      <p:ext uri="{BB962C8B-B14F-4D97-AF65-F5344CB8AC3E}">
        <p14:creationId xmlns:p14="http://schemas.microsoft.com/office/powerpoint/2010/main" val="147995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8D5216C-12E4-4736-9F70-547A67D48E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C89CAE-F2ED-4B00-BB66-6DFCFAE3C3D5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0480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32FE9-8713-4AD7-8721-7FAF980B90BA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02 / PURE LEARNED 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9D8441-9CDA-40C6-B188-0F6C35E92F3A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287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第一版 pure learned 128 维把 BGE-M3 替换掉，结果反而更差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AEEB9C-9F05-4292-8DEC-F02692FE51A5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这一版冻结 BGE-M3，只用 clinician logged tuples 学 projection；训练后再把同一个 action projector 应用到 agent action。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A89BA-D479-40B9-837B-36B5AE659879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95262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52C006-37A3-4C9A-ABC5-AFA6BA1B3470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952625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E5C83C-371A-41A7-8A2A-88BCDE2B7FE8}"/>
              </a:ext>
            </a:extLst>
          </p:cNvPr>
          <p:cNvSpPr>
            <a:spLocks noGrp="1"/>
          </p:cNvSpPr>
          <p:nvPr/>
        </p:nvSpPr>
        <p:spPr>
          <a:xfrm>
            <a:off x="723900" y="2257425"/>
            <a:ext cx="16478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frozen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9FFCC0-0585-4D27-8817-CC4727AE2628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16478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phi_x, phi_a_clinician, phi_a_agent are fixed 1024-d vectors.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34948-781E-45F2-B670-9AADB69C573D}"/>
              </a:ext>
            </a:extLst>
          </p:cNvPr>
          <p:cNvSpPr>
            <a:spLocks noGrp="1"/>
          </p:cNvSpPr>
          <p:nvPr/>
        </p:nvSpPr>
        <p:spPr>
          <a:xfrm>
            <a:off x="2628900" y="2647950"/>
            <a:ext cx="552450" cy="19050"/>
          </a:xfrm>
          <a:prstGeom prst="rect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4519E1D1-DFD3-4835-98E2-A4D5864B818C}"/>
              </a:ext>
            </a:extLst>
          </p:cNvPr>
          <p:cNvSpPr>
            <a:spLocks noGrp="1"/>
          </p:cNvSpPr>
          <p:nvPr/>
        </p:nvSpPr>
        <p:spPr>
          <a:xfrm rot="5400000">
            <a:off x="3162300" y="2600325"/>
            <a:ext cx="114300" cy="114300"/>
          </a:xfrm>
          <a:prstGeom prst="triangle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576A1-3B72-474E-83A2-861726F7362E}"/>
              </a:ext>
            </a:extLst>
          </p:cNvPr>
          <p:cNvSpPr>
            <a:spLocks noGrp="1"/>
          </p:cNvSpPr>
          <p:nvPr/>
        </p:nvSpPr>
        <p:spPr>
          <a:xfrm>
            <a:off x="3333750" y="2095500"/>
            <a:ext cx="223837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A97B5-FDB4-4A76-B3FB-117682A838C7}"/>
              </a:ext>
            </a:extLst>
          </p:cNvPr>
          <p:cNvSpPr>
            <a:spLocks noGrp="1"/>
          </p:cNvSpPr>
          <p:nvPr/>
        </p:nvSpPr>
        <p:spPr>
          <a:xfrm>
            <a:off x="3333750" y="2095500"/>
            <a:ext cx="2238375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CF4A40-55E5-4B2C-80A4-4A345F65E815}"/>
              </a:ext>
            </a:extLst>
          </p:cNvPr>
          <p:cNvSpPr>
            <a:spLocks noGrp="1"/>
          </p:cNvSpPr>
          <p:nvPr/>
        </p:nvSpPr>
        <p:spPr>
          <a:xfrm>
            <a:off x="3486150" y="2257425"/>
            <a:ext cx="19335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Train projection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27D798-423D-458B-8F6F-C31C8A49F4A8}"/>
              </a:ext>
            </a:extLst>
          </p:cNvPr>
          <p:cNvSpPr>
            <a:spLocks noGrp="1"/>
          </p:cNvSpPr>
          <p:nvPr/>
        </p:nvSpPr>
        <p:spPr>
          <a:xfrm>
            <a:off x="3486150" y="2571750"/>
            <a:ext cx="19335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only (phi_x, phi_a_clinician) -&gt; y_score. Agent reward is not used.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B462C-4A26-4AC7-96D2-742333F6704C}"/>
              </a:ext>
            </a:extLst>
          </p:cNvPr>
          <p:cNvSpPr>
            <a:spLocks noGrp="1"/>
          </p:cNvSpPr>
          <p:nvPr/>
        </p:nvSpPr>
        <p:spPr>
          <a:xfrm>
            <a:off x="5676900" y="2647950"/>
            <a:ext cx="552450" cy="19050"/>
          </a:xfrm>
          <a:prstGeom prst="rect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43B58145-0F0A-42AE-B54F-52EFFAA277BE}"/>
              </a:ext>
            </a:extLst>
          </p:cNvPr>
          <p:cNvSpPr>
            <a:spLocks noGrp="1"/>
          </p:cNvSpPr>
          <p:nvPr/>
        </p:nvSpPr>
        <p:spPr>
          <a:xfrm rot="5400000">
            <a:off x="6210300" y="2600325"/>
            <a:ext cx="114300" cy="114300"/>
          </a:xfrm>
          <a:prstGeom prst="triangle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CAF3FE-167B-4722-BD98-413DED0B7EA8}"/>
              </a:ext>
            </a:extLst>
          </p:cNvPr>
          <p:cNvSpPr>
            <a:spLocks noGrp="1"/>
          </p:cNvSpPr>
          <p:nvPr/>
        </p:nvSpPr>
        <p:spPr>
          <a:xfrm>
            <a:off x="6381750" y="2095500"/>
            <a:ext cx="2095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F4CB6B-6B93-4929-8365-4E1BDB43C49D}"/>
              </a:ext>
            </a:extLst>
          </p:cNvPr>
          <p:cNvSpPr>
            <a:spLocks noGrp="1"/>
          </p:cNvSpPr>
          <p:nvPr/>
        </p:nvSpPr>
        <p:spPr>
          <a:xfrm>
            <a:off x="6381750" y="2095500"/>
            <a:ext cx="2095500" cy="476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AD0B74-8F23-4418-8B48-91775E33132F}"/>
              </a:ext>
            </a:extLst>
          </p:cNvPr>
          <p:cNvSpPr>
            <a:spLocks noGrp="1"/>
          </p:cNvSpPr>
          <p:nvPr/>
        </p:nvSpPr>
        <p:spPr>
          <a:xfrm>
            <a:off x="6534150" y="2257425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Replace features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B70802-84FA-486F-A13B-248B20CFAD99}"/>
              </a:ext>
            </a:extLst>
          </p:cNvPr>
          <p:cNvSpPr>
            <a:spLocks noGrp="1"/>
          </p:cNvSpPr>
          <p:nvPr/>
        </p:nvSpPr>
        <p:spPr>
          <a:xfrm>
            <a:off x="6534150" y="2571750"/>
            <a:ext cx="1790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z_x = f(phi_x), z_a = g(phi_a). Feature becomes [z_x; z_a; z_x*z_a].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47AED2-3A30-43D0-B141-FACD24519CF3}"/>
              </a:ext>
            </a:extLst>
          </p:cNvPr>
          <p:cNvSpPr>
            <a:spLocks noGrp="1"/>
          </p:cNvSpPr>
          <p:nvPr/>
        </p:nvSpPr>
        <p:spPr>
          <a:xfrm>
            <a:off x="8572500" y="2647950"/>
            <a:ext cx="552450" cy="19050"/>
          </a:xfrm>
          <a:prstGeom prst="rect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067C6C00-8E6E-4A2B-B365-EA66F86D5EA4}"/>
              </a:ext>
            </a:extLst>
          </p:cNvPr>
          <p:cNvSpPr>
            <a:spLocks noGrp="1"/>
          </p:cNvSpPr>
          <p:nvPr/>
        </p:nvSpPr>
        <p:spPr>
          <a:xfrm rot="5400000">
            <a:off x="9105900" y="2600325"/>
            <a:ext cx="114300" cy="114300"/>
          </a:xfrm>
          <a:prstGeom prst="triangle">
            <a:avLst/>
          </a:prstGeom>
          <a:solidFill>
            <a:srgbClr val="CFC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DF0E61-3D73-4499-9F97-F9B9AA01C63B}"/>
              </a:ext>
            </a:extLst>
          </p:cNvPr>
          <p:cNvSpPr>
            <a:spLocks noGrp="1"/>
          </p:cNvSpPr>
          <p:nvPr/>
        </p:nvSpPr>
        <p:spPr>
          <a:xfrm>
            <a:off x="9286875" y="2095500"/>
            <a:ext cx="2000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310DEE-F5C3-4A7C-AFDC-062B131AE40D}"/>
              </a:ext>
            </a:extLst>
          </p:cNvPr>
          <p:cNvSpPr>
            <a:spLocks noGrp="1"/>
          </p:cNvSpPr>
          <p:nvPr/>
        </p:nvSpPr>
        <p:spPr>
          <a:xfrm>
            <a:off x="9286875" y="2095500"/>
            <a:ext cx="2000250" cy="476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A9DCF0-1A41-4A6E-9857-2C5ABCA976B2}"/>
              </a:ext>
            </a:extLst>
          </p:cNvPr>
          <p:cNvSpPr>
            <a:spLocks noGrp="1"/>
          </p:cNvSpPr>
          <p:nvPr/>
        </p:nvSpPr>
        <p:spPr>
          <a:xfrm>
            <a:off x="9439275" y="2257425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Run OPE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1C5B5E-9BA0-497D-A801-799197BE61CB}"/>
              </a:ext>
            </a:extLst>
          </p:cNvPr>
          <p:cNvSpPr>
            <a:spLocks noGrp="1"/>
          </p:cNvSpPr>
          <p:nvPr/>
        </p:nvSpPr>
        <p:spPr>
          <a:xfrm>
            <a:off x="9439275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DM, MIPS, OffCEM are re-run on 384-d estimator features.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1F5BFB-7AD4-4B81-A18C-EBBB11EAD00E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4810125" cy="142875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4E24AF-D4E7-4A6E-B228-69A173992FFB}"/>
              </a:ext>
            </a:extLst>
          </p:cNvPr>
          <p:cNvSpPr>
            <a:spLocks noGrp="1"/>
          </p:cNvSpPr>
          <p:nvPr/>
        </p:nvSpPr>
        <p:spPr>
          <a:xfrm>
            <a:off x="895350" y="3952875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Feature construction in pure learned mode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C21208-E85A-400D-9456-9517E408E3F6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433387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clinician feature = [z_x ; z_a_clinician ; z_x * z_a_clinician]</a:t>
            </a:r>
          </a:p>
          <a:p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agent feature     = [z_x ; z_a_agent ; z_x * z_a_agent]</a:t>
            </a:r>
          </a:p>
          <a:p>
            <a:endParaRPr sz="975" b="0">
              <a:solidFill>
                <a:srgbClr val="5D6470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learned_dim = 128  →  estimator feature dim = 128 × 3 = 384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32BA02-6316-4117-BB63-8AC7697B16D3}"/>
              </a:ext>
            </a:extLst>
          </p:cNvPr>
          <p:cNvSpPr>
            <a:spLocks noGrp="1"/>
          </p:cNvSpPr>
          <p:nvPr/>
        </p:nvSpPr>
        <p:spPr>
          <a:xfrm>
            <a:off x="6096000" y="3733800"/>
            <a:ext cx="1666875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592BA7-C1CA-49D9-A7A1-D225A4450D7E}"/>
              </a:ext>
            </a:extLst>
          </p:cNvPr>
          <p:cNvSpPr>
            <a:spLocks noGrp="1"/>
          </p:cNvSpPr>
          <p:nvPr/>
        </p:nvSpPr>
        <p:spPr>
          <a:xfrm>
            <a:off x="6096000" y="3733800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6AB73D-8373-4F08-80EC-6B3305C15A10}"/>
              </a:ext>
            </a:extLst>
          </p:cNvPr>
          <p:cNvSpPr>
            <a:spLocks noGrp="1"/>
          </p:cNvSpPr>
          <p:nvPr/>
        </p:nvSpPr>
        <p:spPr>
          <a:xfrm>
            <a:off x="6267450" y="3867150"/>
            <a:ext cx="14001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MIPS V_hat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303CD2-9EAA-46AD-AE35-C73FD325974D}"/>
              </a:ext>
            </a:extLst>
          </p:cNvPr>
          <p:cNvSpPr>
            <a:spLocks noGrp="1"/>
          </p:cNvSpPr>
          <p:nvPr/>
        </p:nvSpPr>
        <p:spPr>
          <a:xfrm>
            <a:off x="6267450" y="4076700"/>
            <a:ext cx="1400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0.7193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481BE4-7610-49C2-8A4C-B01B4883E51D}"/>
              </a:ext>
            </a:extLst>
          </p:cNvPr>
          <p:cNvSpPr>
            <a:spLocks noGrp="1"/>
          </p:cNvSpPr>
          <p:nvPr/>
        </p:nvSpPr>
        <p:spPr>
          <a:xfrm>
            <a:off x="6267450" y="4400550"/>
            <a:ext cx="14001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truth = 0.8413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FFF733-BEB1-49ED-B036-F4E2325FCBD9}"/>
              </a:ext>
            </a:extLst>
          </p:cNvPr>
          <p:cNvSpPr>
            <a:spLocks noGrp="1"/>
          </p:cNvSpPr>
          <p:nvPr/>
        </p:nvSpPr>
        <p:spPr>
          <a:xfrm>
            <a:off x="7953375" y="3733800"/>
            <a:ext cx="1666875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3343FF-1453-4093-A062-80613709E288}"/>
              </a:ext>
            </a:extLst>
          </p:cNvPr>
          <p:cNvSpPr>
            <a:spLocks noGrp="1"/>
          </p:cNvSpPr>
          <p:nvPr/>
        </p:nvSpPr>
        <p:spPr>
          <a:xfrm>
            <a:off x="7953375" y="3733800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DEAC48-04AF-41EF-B596-546FFDB0617F}"/>
              </a:ext>
            </a:extLst>
          </p:cNvPr>
          <p:cNvSpPr>
            <a:spLocks noGrp="1"/>
          </p:cNvSpPr>
          <p:nvPr/>
        </p:nvSpPr>
        <p:spPr>
          <a:xfrm>
            <a:off x="8124825" y="3867150"/>
            <a:ext cx="14001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REL BIAS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9F4DB2-7323-48E2-8421-5963760AD2FA}"/>
              </a:ext>
            </a:extLst>
          </p:cNvPr>
          <p:cNvSpPr>
            <a:spLocks noGrp="1"/>
          </p:cNvSpPr>
          <p:nvPr/>
        </p:nvSpPr>
        <p:spPr>
          <a:xfrm>
            <a:off x="8124825" y="4076700"/>
            <a:ext cx="1400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-14.50%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F120F8-9008-4FB6-B9AF-79DE3142F862}"/>
              </a:ext>
            </a:extLst>
          </p:cNvPr>
          <p:cNvSpPr>
            <a:spLocks noGrp="1"/>
          </p:cNvSpPr>
          <p:nvPr/>
        </p:nvSpPr>
        <p:spPr>
          <a:xfrm>
            <a:off x="8124825" y="4400550"/>
            <a:ext cx="14001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worse than BGE-M3 baseline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2F0536-A3B8-4C85-9893-626DA5545133}"/>
              </a:ext>
            </a:extLst>
          </p:cNvPr>
          <p:cNvSpPr>
            <a:spLocks noGrp="1"/>
          </p:cNvSpPr>
          <p:nvPr/>
        </p:nvSpPr>
        <p:spPr>
          <a:xfrm>
            <a:off x="9810750" y="3733800"/>
            <a:ext cx="1666875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939565-5902-40EE-AD7F-398917893ADB}"/>
              </a:ext>
            </a:extLst>
          </p:cNvPr>
          <p:cNvSpPr>
            <a:spLocks noGrp="1"/>
          </p:cNvSpPr>
          <p:nvPr/>
        </p:nvSpPr>
        <p:spPr>
          <a:xfrm>
            <a:off x="9810750" y="3733800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7C886B-2932-4FB0-9A3C-E2F22CCCDEE7}"/>
              </a:ext>
            </a:extLst>
          </p:cNvPr>
          <p:cNvSpPr>
            <a:spLocks noGrp="1"/>
          </p:cNvSpPr>
          <p:nvPr/>
        </p:nvSpPr>
        <p:spPr>
          <a:xfrm>
            <a:off x="9982200" y="3867150"/>
            <a:ext cx="14001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RMSE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383BF8-079F-4ECD-AE57-23351A4F7955}"/>
              </a:ext>
            </a:extLst>
          </p:cNvPr>
          <p:cNvSpPr>
            <a:spLocks noGrp="1"/>
          </p:cNvSpPr>
          <p:nvPr/>
        </p:nvSpPr>
        <p:spPr>
          <a:xfrm>
            <a:off x="9982200" y="4076700"/>
            <a:ext cx="1400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0.1134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7F587A-D57D-41D3-AEAE-05F6FD5525B9}"/>
              </a:ext>
            </a:extLst>
          </p:cNvPr>
          <p:cNvSpPr>
            <a:spLocks noGrp="1"/>
          </p:cNvSpPr>
          <p:nvPr/>
        </p:nvSpPr>
        <p:spPr>
          <a:xfrm>
            <a:off x="9982200" y="4400550"/>
            <a:ext cx="14001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larger error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60C02F-19D7-4E66-A137-B2DB92918185}"/>
              </a:ext>
            </a:extLst>
          </p:cNvPr>
          <p:cNvSpPr>
            <a:spLocks noGrp="1"/>
          </p:cNvSpPr>
          <p:nvPr/>
        </p:nvSpPr>
        <p:spPr>
          <a:xfrm>
            <a:off x="857250" y="5572125"/>
            <a:ext cx="1038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Interpretation: the projection learns reward-informed structure, but full replacement likely overfits and suppresses BGE-M3's original semantic/OPE signal.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1CCAB87-D72F-4367-A3D3-5B41C3CEEA47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E5DD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E9830D4-16F3-4228-B009-1861077068DC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Phase 5 / learned action embedding summary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684C04C-CFE9-AFE1-7D78-38083AEF1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377311"/>
            <a:ext cx="4517508" cy="25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5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B7F76AC-F661-4967-8109-623D8C206B15}"/>
              </a:ext>
            </a:extLst>
          </p:cNvPr>
          <p:cNvSpPr>
            <a:spLocks noGrp="1"/>
          </p:cNvSpPr>
          <p:nvPr/>
        </p:nvSpPr>
        <p:spPr>
          <a:xfrm>
            <a:off x="0" y="1983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E54EB-F20A-40E0-9416-A8641A036A33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0480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84759-38D6-4472-A8EF-E53B79DD7884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03 / CONSERVATIVE REVISION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9776-742F-4CF0-9F29-2B223C5F0E1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287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concat-PCA 的改动：保留 BGE 主信号，只让 learned embedding 做补充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DE653-9A38-4F07-9820-D6D617769517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我们从 replace 改为 concat，把 PCA(BGE) 和 learned projection 拼在一起，降低破坏原始语义几何的风险。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DD0270-2D5A-4C1F-899E-8C2A1DE136B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762500" cy="2905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6CCE48-CA9F-463F-84C7-59FBDDFE97D3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rPr>
              <a:t>Before: replace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A1FE38-5CE5-4B40-8B32-152F1F09D5E9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 = learned_projection(BGE)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2717D0-20DF-4228-8FCC-4C787BB8BD11}"/>
              </a:ext>
            </a:extLst>
          </p:cNvPr>
          <p:cNvSpPr>
            <a:spLocks noGrp="1"/>
          </p:cNvSpPr>
          <p:nvPr/>
        </p:nvSpPr>
        <p:spPr>
          <a:xfrm>
            <a:off x="2000250" y="3200400"/>
            <a:ext cx="1238250" cy="1905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AEB958AC-310A-46D8-84F6-9A386A3DB7E1}"/>
              </a:ext>
            </a:extLst>
          </p:cNvPr>
          <p:cNvSpPr>
            <a:spLocks noGrp="1"/>
          </p:cNvSpPr>
          <p:nvPr/>
        </p:nvSpPr>
        <p:spPr>
          <a:xfrm rot="5400000">
            <a:off x="3219450" y="3152775"/>
            <a:ext cx="114300" cy="114300"/>
          </a:xfrm>
          <a:prstGeom prst="triangle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F28983-6A90-4F8E-B014-C1E957605D78}"/>
              </a:ext>
            </a:extLst>
          </p:cNvPr>
          <p:cNvSpPr>
            <a:spLocks noGrp="1"/>
          </p:cNvSpPr>
          <p:nvPr/>
        </p:nvSpPr>
        <p:spPr>
          <a:xfrm>
            <a:off x="3238500" y="3348037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feature = [z_x ; z_a ; z_x * z_a]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D7AAC2-D043-4F1D-BAD2-E394EF232030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3714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Problem: learned representation完全替换 BGE-M3，容易压掉原本有用的 semantic geometry。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9DBDF1-683A-44AD-8C9A-2789272E6C7F}"/>
              </a:ext>
            </a:extLst>
          </p:cNvPr>
          <p:cNvSpPr>
            <a:spLocks noGrp="1"/>
          </p:cNvSpPr>
          <p:nvPr/>
        </p:nvSpPr>
        <p:spPr>
          <a:xfrm>
            <a:off x="6762750" y="2095500"/>
            <a:ext cx="4762500" cy="2905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2DDA27-8267-488A-8D3A-A6B7A2326504}"/>
              </a:ext>
            </a:extLst>
          </p:cNvPr>
          <p:cNvSpPr>
            <a:spLocks noGrp="1"/>
          </p:cNvSpPr>
          <p:nvPr/>
        </p:nvSpPr>
        <p:spPr>
          <a:xfrm>
            <a:off x="7048500" y="230505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rPr>
              <a:t>After: concat-PCA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3E97A2-F701-45AE-8EB2-73DD8E8E1220}"/>
              </a:ext>
            </a:extLst>
          </p:cNvPr>
          <p:cNvSpPr>
            <a:spLocks noGrp="1"/>
          </p:cNvSpPr>
          <p:nvPr/>
        </p:nvSpPr>
        <p:spPr>
          <a:xfrm>
            <a:off x="7048500" y="278130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 = [PCA(BGE) ; learned_projection(BGE)]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AF2749-63B6-47D2-BA38-C42DDE94BFE3}"/>
              </a:ext>
            </a:extLst>
          </p:cNvPr>
          <p:cNvSpPr>
            <a:spLocks noGrp="1"/>
          </p:cNvSpPr>
          <p:nvPr/>
        </p:nvSpPr>
        <p:spPr>
          <a:xfrm>
            <a:off x="8096250" y="3200400"/>
            <a:ext cx="12382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9A134C68-BED3-4402-BC21-D36218814A1D}"/>
              </a:ext>
            </a:extLst>
          </p:cNvPr>
          <p:cNvSpPr>
            <a:spLocks noGrp="1"/>
          </p:cNvSpPr>
          <p:nvPr/>
        </p:nvSpPr>
        <p:spPr>
          <a:xfrm rot="5400000">
            <a:off x="9315450" y="3152775"/>
            <a:ext cx="114300" cy="114300"/>
          </a:xfrm>
          <a:prstGeom prst="triangle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203E67-83E8-4217-A4E8-57C20C388092}"/>
              </a:ext>
            </a:extLst>
          </p:cNvPr>
          <p:cNvSpPr>
            <a:spLocks noGrp="1"/>
          </p:cNvSpPr>
          <p:nvPr/>
        </p:nvSpPr>
        <p:spPr>
          <a:xfrm>
            <a:off x="9370828" y="3348037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feature = [</a:t>
            </a:r>
            <a:r>
              <a:rPr sz="1200" b="0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z_x</a:t>
            </a:r>
            <a:r>
              <a:rPr sz="1200" b="0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 ; </a:t>
            </a:r>
            <a:r>
              <a:rPr sz="1200" b="0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z_a</a:t>
            </a:r>
            <a:r>
              <a:rPr sz="1200" b="0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 ; </a:t>
            </a:r>
            <a:r>
              <a:rPr sz="1200" b="0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z_x</a:t>
            </a:r>
            <a:r>
              <a:rPr sz="1200" b="0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 * </a:t>
            </a:r>
            <a:r>
              <a:rPr sz="1200" b="0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z_a</a:t>
            </a:r>
            <a:r>
              <a:rPr sz="1200" b="0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8F3DA9-2EB3-4DB7-ACBA-1EC7B83398AA}"/>
              </a:ext>
            </a:extLst>
          </p:cNvPr>
          <p:cNvSpPr>
            <a:spLocks noGrp="1"/>
          </p:cNvSpPr>
          <p:nvPr/>
        </p:nvSpPr>
        <p:spPr>
          <a:xfrm>
            <a:off x="7048500" y="4267200"/>
            <a:ext cx="3714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Benefit: PCA(BGE) keeps original BGE-M3 geometry; learned projection contributes reward-informed correction.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9882E-B168-470F-95AC-7B310E9953CA}"/>
              </a:ext>
            </a:extLst>
          </p:cNvPr>
          <p:cNvSpPr>
            <a:spLocks noGrp="1"/>
          </p:cNvSpPr>
          <p:nvPr/>
        </p:nvSpPr>
        <p:spPr>
          <a:xfrm>
            <a:off x="2000250" y="5381625"/>
            <a:ext cx="22383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559E1A-806F-4DBF-BAE9-33900DB16DF7}"/>
              </a:ext>
            </a:extLst>
          </p:cNvPr>
          <p:cNvSpPr>
            <a:spLocks noGrp="1"/>
          </p:cNvSpPr>
          <p:nvPr/>
        </p:nvSpPr>
        <p:spPr>
          <a:xfrm>
            <a:off x="2000250" y="5381625"/>
            <a:ext cx="2238375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A17554-131D-49C7-AC9F-7793F250E03B}"/>
              </a:ext>
            </a:extLst>
          </p:cNvPr>
          <p:cNvSpPr>
            <a:spLocks noGrp="1"/>
          </p:cNvSpPr>
          <p:nvPr/>
        </p:nvSpPr>
        <p:spPr>
          <a:xfrm>
            <a:off x="2152650" y="5543550"/>
            <a:ext cx="19335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PCA dim = 128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744D09-2FB8-4257-9369-F7CC57BC2A54}"/>
              </a:ext>
            </a:extLst>
          </p:cNvPr>
          <p:cNvSpPr>
            <a:spLocks noGrp="1"/>
          </p:cNvSpPr>
          <p:nvPr/>
        </p:nvSpPr>
        <p:spPr>
          <a:xfrm>
            <a:off x="2152650" y="5857875"/>
            <a:ext cx="1933575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Unsupervised compression of BGE-M3 1024-d signal.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B6E308-E610-45F4-B0C7-39FFB4188F06}"/>
              </a:ext>
            </a:extLst>
          </p:cNvPr>
          <p:cNvSpPr>
            <a:spLocks noGrp="1"/>
          </p:cNvSpPr>
          <p:nvPr/>
        </p:nvSpPr>
        <p:spPr>
          <a:xfrm>
            <a:off x="4953000" y="5381624"/>
            <a:ext cx="2238375" cy="819149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DE42F0-A7E3-4842-849C-4D5D59D84A41}"/>
              </a:ext>
            </a:extLst>
          </p:cNvPr>
          <p:cNvSpPr>
            <a:spLocks noGrp="1"/>
          </p:cNvSpPr>
          <p:nvPr/>
        </p:nvSpPr>
        <p:spPr>
          <a:xfrm>
            <a:off x="4953000" y="5381625"/>
            <a:ext cx="2238375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40F707-F57D-4BA6-A943-884A2346698A}"/>
              </a:ext>
            </a:extLst>
          </p:cNvPr>
          <p:cNvSpPr>
            <a:spLocks noGrp="1"/>
          </p:cNvSpPr>
          <p:nvPr/>
        </p:nvSpPr>
        <p:spPr>
          <a:xfrm>
            <a:off x="5105400" y="5543550"/>
            <a:ext cx="19335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learned dim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171DF8-B1C8-4D75-9B85-270BD7EC75D7}"/>
              </a:ext>
            </a:extLst>
          </p:cNvPr>
          <p:cNvSpPr>
            <a:spLocks noGrp="1"/>
          </p:cNvSpPr>
          <p:nvPr/>
        </p:nvSpPr>
        <p:spPr>
          <a:xfrm>
            <a:off x="5105400" y="5857875"/>
            <a:ext cx="1933575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Reward-informed low-dimensional correction.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65DC3-D7D9-4BE7-99B6-1BC6232F71D6}"/>
              </a:ext>
            </a:extLst>
          </p:cNvPr>
          <p:cNvSpPr>
            <a:spLocks noGrp="1"/>
          </p:cNvSpPr>
          <p:nvPr/>
        </p:nvSpPr>
        <p:spPr>
          <a:xfrm>
            <a:off x="7905750" y="5381624"/>
            <a:ext cx="2238375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E6CA8B-156C-4779-91B4-BB5AAC135356}"/>
              </a:ext>
            </a:extLst>
          </p:cNvPr>
          <p:cNvSpPr>
            <a:spLocks noGrp="1"/>
          </p:cNvSpPr>
          <p:nvPr/>
        </p:nvSpPr>
        <p:spPr>
          <a:xfrm>
            <a:off x="7905750" y="5381625"/>
            <a:ext cx="2238375" cy="476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79B72B-1452-4C0B-83CC-07ED8B49B9A9}"/>
              </a:ext>
            </a:extLst>
          </p:cNvPr>
          <p:cNvSpPr>
            <a:spLocks noGrp="1"/>
          </p:cNvSpPr>
          <p:nvPr/>
        </p:nvSpPr>
        <p:spPr>
          <a:xfrm>
            <a:off x="8058150" y="5543550"/>
            <a:ext cx="19335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final dim = 192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BA9120-10AC-4892-AA94-31768CC29A8C}"/>
              </a:ext>
            </a:extLst>
          </p:cNvPr>
          <p:cNvSpPr>
            <a:spLocks noGrp="1"/>
          </p:cNvSpPr>
          <p:nvPr/>
        </p:nvSpPr>
        <p:spPr>
          <a:xfrm>
            <a:off x="8058150" y="5857875"/>
            <a:ext cx="1933575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Estimator feature dim = 192 × 3 = 576.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80D83B-7FA4-4122-90DD-9A4DE9D53B9B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E5DD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005CA3-50E0-45DF-A28C-41432E7CDD4D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Phase 5 / learned action embedding summary</a:t>
            </a:r>
          </a:p>
        </p:txBody>
      </p:sp>
    </p:spTree>
    <p:extLst>
      <p:ext uri="{BB962C8B-B14F-4D97-AF65-F5344CB8AC3E}">
        <p14:creationId xmlns:p14="http://schemas.microsoft.com/office/powerpoint/2010/main" val="5100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1E4E6B1-F774-45DB-B4AB-1EB1A124CF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39ECCB-B629-435E-9FB5-2D0E5A89C96E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0480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C61ED2-D66D-440B-A289-BE82E754A1F7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04 /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583B9-B6D9-428E-958D-41DF41FB8A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287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concat-PCA 带来小幅但一致的 point-estimation 提升；CI 仍然不覆盖 truth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C62A07-6F9F-4106-8D18-A0EA3672054C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当前结论是：BGE-M3 learned concat-PCA + MIPS 是最好的点估计方案，但 plain bootstrap CI 仍然偏低。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54FEA-2094-45A2-A06D-F157E179BA10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11096625" cy="2619375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7A7F72-1027-42C5-A5C1-EAD88E8563D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Setup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B7CF5-32B6-4011-984C-E346936B8553}"/>
              </a:ext>
            </a:extLst>
          </p:cNvPr>
          <p:cNvSpPr>
            <a:spLocks noGrp="1"/>
          </p:cNvSpPr>
          <p:nvPr/>
        </p:nvSpPr>
        <p:spPr>
          <a:xfrm>
            <a:off x="3476625" y="23050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Estimator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ED1D8-5C89-49AD-AE4E-126EA1A6C027}"/>
              </a:ext>
            </a:extLst>
          </p:cNvPr>
          <p:cNvSpPr>
            <a:spLocks noGrp="1"/>
          </p:cNvSpPr>
          <p:nvPr/>
        </p:nvSpPr>
        <p:spPr>
          <a:xfrm>
            <a:off x="4953000" y="23050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V_hat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4906AA-0678-4384-8695-5EC040396575}"/>
              </a:ext>
            </a:extLst>
          </p:cNvPr>
          <p:cNvSpPr>
            <a:spLocks noGrp="1"/>
          </p:cNvSpPr>
          <p:nvPr/>
        </p:nvSpPr>
        <p:spPr>
          <a:xfrm>
            <a:off x="6238875" y="2305050"/>
            <a:ext cx="1095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RelBias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11547-5072-4587-B848-9755EB6541D0}"/>
              </a:ext>
            </a:extLst>
          </p:cNvPr>
          <p:cNvSpPr>
            <a:spLocks noGrp="1"/>
          </p:cNvSpPr>
          <p:nvPr/>
        </p:nvSpPr>
        <p:spPr>
          <a:xfrm>
            <a:off x="7667625" y="230505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RMSE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7A695E-2CBC-4F7C-84F0-DB298C72D1A8}"/>
              </a:ext>
            </a:extLst>
          </p:cNvPr>
          <p:cNvSpPr>
            <a:spLocks noGrp="1"/>
          </p:cNvSpPr>
          <p:nvPr/>
        </p:nvSpPr>
        <p:spPr>
          <a:xfrm>
            <a:off x="8953500" y="2305050"/>
            <a:ext cx="1000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Dir%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13B7E6-B76C-4CA3-B62B-74C759B7D052}"/>
              </a:ext>
            </a:extLst>
          </p:cNvPr>
          <p:cNvSpPr>
            <a:spLocks noGrp="1"/>
          </p:cNvSpPr>
          <p:nvPr/>
        </p:nvSpPr>
        <p:spPr>
          <a:xfrm>
            <a:off x="10239375" y="23050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FE762-4430-497C-B710-EBFD3997A18E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0763250" cy="9525"/>
          </a:xfrm>
          <a:prstGeom prst="rect">
            <a:avLst/>
          </a:prstGeom>
          <a:solidFill>
            <a:srgbClr val="E5DD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C4F5B6-8F71-4BB3-8375-4C0C1F0D162F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baseline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72F3CE-129B-479C-A479-1CE33133FFE8}"/>
              </a:ext>
            </a:extLst>
          </p:cNvPr>
          <p:cNvSpPr>
            <a:spLocks noGrp="1"/>
          </p:cNvSpPr>
          <p:nvPr/>
        </p:nvSpPr>
        <p:spPr>
          <a:xfrm>
            <a:off x="3476625" y="28575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45C98-CF86-4602-A2C2-B36803877620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0.7659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99949E-D5A8-4404-B98C-4A37B3FC3F53}"/>
              </a:ext>
            </a:extLst>
          </p:cNvPr>
          <p:cNvSpPr>
            <a:spLocks noGrp="1"/>
          </p:cNvSpPr>
          <p:nvPr/>
        </p:nvSpPr>
        <p:spPr>
          <a:xfrm>
            <a:off x="6238875" y="2857500"/>
            <a:ext cx="1095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-8.97%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94EC28-FE00-4247-989D-A826D86E1AEF}"/>
              </a:ext>
            </a:extLst>
          </p:cNvPr>
          <p:cNvSpPr>
            <a:spLocks noGrp="1"/>
          </p:cNvSpPr>
          <p:nvPr/>
        </p:nvSpPr>
        <p:spPr>
          <a:xfrm>
            <a:off x="7667625" y="285750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0.0705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5D3B90-7E20-4C5A-BD40-5DD15DC3BF6B}"/>
              </a:ext>
            </a:extLst>
          </p:cNvPr>
          <p:cNvSpPr>
            <a:spLocks noGrp="1"/>
          </p:cNvSpPr>
          <p:nvPr/>
        </p:nvSpPr>
        <p:spPr>
          <a:xfrm>
            <a:off x="8953500" y="2857500"/>
            <a:ext cx="1000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7ADF28-4C55-4C3F-858F-2136662E51DD}"/>
              </a:ext>
            </a:extLst>
          </p:cNvPr>
          <p:cNvSpPr>
            <a:spLocks noGrp="1"/>
          </p:cNvSpPr>
          <p:nvPr/>
        </p:nvSpPr>
        <p:spPr>
          <a:xfrm>
            <a:off x="10239375" y="28575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[0.750, 0.793]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F9CBFD-AAEC-49AC-9087-57255AC92773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Pure learned 128d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A7471C-4E8B-4353-B627-984411B01257}"/>
              </a:ext>
            </a:extLst>
          </p:cNvPr>
          <p:cNvSpPr>
            <a:spLocks noGrp="1"/>
          </p:cNvSpPr>
          <p:nvPr/>
        </p:nvSpPr>
        <p:spPr>
          <a:xfrm>
            <a:off x="3476625" y="33147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200344-946C-481E-A233-6FB3DA176A19}"/>
              </a:ext>
            </a:extLst>
          </p:cNvPr>
          <p:cNvSpPr>
            <a:spLocks noGrp="1"/>
          </p:cNvSpPr>
          <p:nvPr/>
        </p:nvSpPr>
        <p:spPr>
          <a:xfrm>
            <a:off x="4953000" y="33147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0.7193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D215F8-BF01-407D-88E1-2FCEF3548A8D}"/>
              </a:ext>
            </a:extLst>
          </p:cNvPr>
          <p:cNvSpPr>
            <a:spLocks noGrp="1"/>
          </p:cNvSpPr>
          <p:nvPr/>
        </p:nvSpPr>
        <p:spPr>
          <a:xfrm>
            <a:off x="6238875" y="3314700"/>
            <a:ext cx="1095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-14.50%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FDCA6E-CE64-49D1-A571-889202F232EA}"/>
              </a:ext>
            </a:extLst>
          </p:cNvPr>
          <p:cNvSpPr>
            <a:spLocks noGrp="1"/>
          </p:cNvSpPr>
          <p:nvPr/>
        </p:nvSpPr>
        <p:spPr>
          <a:xfrm>
            <a:off x="7667625" y="331470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0.1134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B22C92-A445-4331-AA00-B571E85B1D95}"/>
              </a:ext>
            </a:extLst>
          </p:cNvPr>
          <p:cNvSpPr>
            <a:spLocks noGrp="1"/>
          </p:cNvSpPr>
          <p:nvPr/>
        </p:nvSpPr>
        <p:spPr>
          <a:xfrm>
            <a:off x="8953500" y="3314700"/>
            <a:ext cx="1000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8918B6-A30F-4937-BCB0-2282587B8702}"/>
              </a:ext>
            </a:extLst>
          </p:cNvPr>
          <p:cNvSpPr>
            <a:spLocks noGrp="1"/>
          </p:cNvSpPr>
          <p:nvPr/>
        </p:nvSpPr>
        <p:spPr>
          <a:xfrm>
            <a:off x="10239375" y="33147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—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A3CB2F-01D7-4591-B28E-08EAA4E96173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0810875" cy="514350"/>
          </a:xfrm>
          <a:prstGeom prst="rect">
            <a:avLst/>
          </a:prstGeom>
          <a:solidFill>
            <a:srgbClr val="FFF2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886151-BA96-49D0-9FCD-ECF922AA71BF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learned concat-PCA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FAB114-A81D-4DCF-86C3-EE2FD0D82E09}"/>
              </a:ext>
            </a:extLst>
          </p:cNvPr>
          <p:cNvSpPr>
            <a:spLocks noGrp="1"/>
          </p:cNvSpPr>
          <p:nvPr/>
        </p:nvSpPr>
        <p:spPr>
          <a:xfrm>
            <a:off x="3476625" y="37719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FFB1E7-B412-45FC-A3B7-19BA833C0EFE}"/>
              </a:ext>
            </a:extLst>
          </p:cNvPr>
          <p:cNvSpPr>
            <a:spLocks noGrp="1"/>
          </p:cNvSpPr>
          <p:nvPr/>
        </p:nvSpPr>
        <p:spPr>
          <a:xfrm>
            <a:off x="4953000" y="37719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0.7711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3FCB1E-7292-464D-BFD9-88E056F6871F}"/>
              </a:ext>
            </a:extLst>
          </p:cNvPr>
          <p:cNvSpPr>
            <a:spLocks noGrp="1"/>
          </p:cNvSpPr>
          <p:nvPr/>
        </p:nvSpPr>
        <p:spPr>
          <a:xfrm>
            <a:off x="6238875" y="3771900"/>
            <a:ext cx="1095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-8.34%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DB0CB3-4A2B-41FA-B1B2-9331FFFF3C78}"/>
              </a:ext>
            </a:extLst>
          </p:cNvPr>
          <p:cNvSpPr>
            <a:spLocks noGrp="1"/>
          </p:cNvSpPr>
          <p:nvPr/>
        </p:nvSpPr>
        <p:spPr>
          <a:xfrm>
            <a:off x="7667625" y="377190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0.0674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FF699A-FBFC-4110-8CF7-432D8066D875}"/>
              </a:ext>
            </a:extLst>
          </p:cNvPr>
          <p:cNvSpPr>
            <a:spLocks noGrp="1"/>
          </p:cNvSpPr>
          <p:nvPr/>
        </p:nvSpPr>
        <p:spPr>
          <a:xfrm>
            <a:off x="8953500" y="3771900"/>
            <a:ext cx="1000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46EFB5-4FFF-442D-B19B-E83A510F2F94}"/>
              </a:ext>
            </a:extLst>
          </p:cNvPr>
          <p:cNvSpPr>
            <a:spLocks noGrp="1"/>
          </p:cNvSpPr>
          <p:nvPr/>
        </p:nvSpPr>
        <p:spPr>
          <a:xfrm>
            <a:off x="10239375" y="37719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[0.751, 0.799]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EB3C0A-826B-4E51-AB7C-DEF219856D5B}"/>
              </a:ext>
            </a:extLst>
          </p:cNvPr>
          <p:cNvSpPr>
            <a:spLocks noGrp="1"/>
          </p:cNvSpPr>
          <p:nvPr/>
        </p:nvSpPr>
        <p:spPr>
          <a:xfrm>
            <a:off x="876300" y="5095875"/>
            <a:ext cx="3000375" cy="8763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510193-D51C-48F3-8478-1417B424EEB4}"/>
              </a:ext>
            </a:extLst>
          </p:cNvPr>
          <p:cNvSpPr>
            <a:spLocks noGrp="1"/>
          </p:cNvSpPr>
          <p:nvPr/>
        </p:nvSpPr>
        <p:spPr>
          <a:xfrm>
            <a:off x="1066800" y="52578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rPr>
              <a:t>Improvement vs BGE baseline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E3761D-3068-4F03-A65D-D7B8A2F242B7}"/>
              </a:ext>
            </a:extLst>
          </p:cNvPr>
          <p:cNvSpPr>
            <a:spLocks noGrp="1"/>
          </p:cNvSpPr>
          <p:nvPr/>
        </p:nvSpPr>
        <p:spPr>
          <a:xfrm>
            <a:off x="1066800" y="5543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V_hat: 0.7659 → 0.7711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RMSE: 0.0705 → 0.0674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39F82E-3879-475A-9677-F7BE187108A4}"/>
              </a:ext>
            </a:extLst>
          </p:cNvPr>
          <p:cNvSpPr>
            <a:spLocks noGrp="1"/>
          </p:cNvSpPr>
          <p:nvPr/>
        </p:nvSpPr>
        <p:spPr>
          <a:xfrm>
            <a:off x="4591050" y="5095875"/>
            <a:ext cx="3000375" cy="8763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059647-B393-4758-86E1-2CAB27734C0D}"/>
              </a:ext>
            </a:extLst>
          </p:cNvPr>
          <p:cNvSpPr>
            <a:spLocks noGrp="1"/>
          </p:cNvSpPr>
          <p:nvPr/>
        </p:nvSpPr>
        <p:spPr>
          <a:xfrm>
            <a:off x="4781550" y="52578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rPr>
              <a:t>Still underestimates value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058310-B708-4B3E-B80A-3C1FB7FAA7A6}"/>
              </a:ext>
            </a:extLst>
          </p:cNvPr>
          <p:cNvSpPr>
            <a:spLocks noGrp="1"/>
          </p:cNvSpPr>
          <p:nvPr/>
        </p:nvSpPr>
        <p:spPr>
          <a:xfrm>
            <a:off x="4781550" y="5543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V_true_agent = 0.8413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best V_hat = 0.7711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643551-F31C-4545-87C3-9957937C1186}"/>
              </a:ext>
            </a:extLst>
          </p:cNvPr>
          <p:cNvSpPr>
            <a:spLocks noGrp="1"/>
          </p:cNvSpPr>
          <p:nvPr/>
        </p:nvSpPr>
        <p:spPr>
          <a:xfrm>
            <a:off x="8305800" y="5095875"/>
            <a:ext cx="3000375" cy="876300"/>
          </a:xfrm>
          <a:prstGeom prst="rect">
            <a:avLst/>
          </a:prstGeom>
          <a:solidFill>
            <a:srgbClr val="FBFAF7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F11F81-D740-407F-BC71-BFB4CAEA5A54}"/>
              </a:ext>
            </a:extLst>
          </p:cNvPr>
          <p:cNvSpPr>
            <a:spLocks noGrp="1"/>
          </p:cNvSpPr>
          <p:nvPr/>
        </p:nvSpPr>
        <p:spPr>
          <a:xfrm>
            <a:off x="8496300" y="52578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rPr>
              <a:t>Plain CI misses truth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EF3D93-91CD-4087-A3CF-E7FDE947FA6E}"/>
              </a:ext>
            </a:extLst>
          </p:cNvPr>
          <p:cNvSpPr>
            <a:spLocks noGrp="1"/>
          </p:cNvSpPr>
          <p:nvPr/>
        </p:nvSpPr>
        <p:spPr>
          <a:xfrm>
            <a:off x="8496300" y="5543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CI upper = 0.7994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truth gap ≈ 0.0419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9EF9E7-6458-4195-B878-925B5263B01B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E5DD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CF2ECE-213B-414B-ADBB-A22F16BB6D58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Mixed/Sonnet46 Phase 5 full bootstrap results; n=397, n_boot=100</a:t>
            </a:r>
          </a:p>
        </p:txBody>
      </p:sp>
    </p:spTree>
    <p:extLst>
      <p:ext uri="{BB962C8B-B14F-4D97-AF65-F5344CB8AC3E}">
        <p14:creationId xmlns:p14="http://schemas.microsoft.com/office/powerpoint/2010/main" val="161073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9FDDAB1-FF11-467B-BEB7-D47E8C9FE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3FCCE0-9A17-47DF-BEF4-B5F021E313A8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0480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2B45D5-C950-46FD-B98D-4CF2B87631EF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05 / MODEL DETAIL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E4199-0961-4D7A-8950-6AE41D24672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287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Projection </a:t>
            </a:r>
            <a:r>
              <a:rPr sz="2400" b="1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模型</a:t>
            </a:r>
            <a:r>
              <a:rPr lang="en-US" sz="2400" b="1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使用</a:t>
            </a:r>
            <a:r>
              <a:rPr sz="2400" b="1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 two-tower reward </a:t>
            </a:r>
            <a:r>
              <a:rPr sz="2400" b="1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predictor，只用</a:t>
            </a:r>
            <a:r>
              <a:rPr sz="2400" b="1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 clinician reward </a:t>
            </a:r>
            <a:r>
              <a:rPr sz="2400" b="1" dirty="0" err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训练</a:t>
            </a:r>
            <a:endParaRPr sz="2400" b="1" dirty="0">
              <a:solidFill>
                <a:srgbClr val="1B1E27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BA20F-2B6C-4D6A-AD83-BB1D962AF42C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它学习</a:t>
            </a:r>
            <a:r>
              <a:rPr sz="12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 context projector </a:t>
            </a:r>
            <a:r>
              <a:rPr sz="1200" b="0" dirty="0" err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和</a:t>
            </a:r>
            <a:r>
              <a:rPr sz="12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 action </a:t>
            </a:r>
            <a:r>
              <a:rPr sz="1200" b="0" dirty="0" err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projector；训练完成后，同一个</a:t>
            </a:r>
            <a:r>
              <a:rPr sz="12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 action projector </a:t>
            </a:r>
            <a:r>
              <a:rPr sz="1200" b="0" dirty="0" err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被应用到</a:t>
            </a:r>
            <a:r>
              <a:rPr sz="12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 agent action。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E9CCD8-C49B-4E33-9229-672F63FAB99E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EE60F-619C-483E-97F7-BF7DD8EA6E6A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190750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9B540-E668-40B3-8394-612BC9352F5E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dirty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Context tower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A0C9DD-2DA0-40B1-AE3E-7FC1A0C417B3}"/>
              </a:ext>
            </a:extLst>
          </p:cNvPr>
          <p:cNvSpPr>
            <a:spLocks noGrp="1"/>
          </p:cNvSpPr>
          <p:nvPr/>
        </p:nvSpPr>
        <p:spPr>
          <a:xfrm>
            <a:off x="819150" y="2714625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 err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phi_x</a:t>
            </a:r>
            <a:endParaRPr sz="900" b="0" dirty="0">
              <a:solidFill>
                <a:srgbClr val="5D6470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1024-d BGE-M3 vector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52713B-9AFC-4AB9-BF5A-E20A4C187CCD}"/>
              </a:ext>
            </a:extLst>
          </p:cNvPr>
          <p:cNvSpPr>
            <a:spLocks noGrp="1"/>
          </p:cNvSpPr>
          <p:nvPr/>
        </p:nvSpPr>
        <p:spPr>
          <a:xfrm>
            <a:off x="1381125" y="3333750"/>
            <a:ext cx="666750" cy="190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341153-455C-47D2-897B-B32632B6CFC1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190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7A695F-CBC9-480C-9ED0-929886E5CC5D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190750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10F0D0-9A91-45B0-BD4D-C0A668C5042A}"/>
              </a:ext>
            </a:extLst>
          </p:cNvPr>
          <p:cNvSpPr>
            <a:spLocks noGrp="1"/>
          </p:cNvSpPr>
          <p:nvPr/>
        </p:nvSpPr>
        <p:spPr>
          <a:xfrm>
            <a:off x="819150" y="3781425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Projector MLP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4802FB-0891-4731-BDA2-C2DB84ECB90D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885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Linear → </a:t>
            </a:r>
            <a:r>
              <a:rPr sz="900" b="0" dirty="0" err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ReLU</a:t>
            </a:r>
            <a:r>
              <a:rPr sz="900" b="0" dirty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 → Linear → Tanh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L2 normalize after projection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AB061-548B-44F2-8523-8B05EA15CAEF}"/>
              </a:ext>
            </a:extLst>
          </p:cNvPr>
          <p:cNvSpPr>
            <a:spLocks noGrp="1"/>
          </p:cNvSpPr>
          <p:nvPr/>
        </p:nvSpPr>
        <p:spPr>
          <a:xfrm>
            <a:off x="1381125" y="4905375"/>
            <a:ext cx="666750" cy="190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B9B33D-5359-42ED-A29C-4F4329F16712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2190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103F5-B7F4-4F8C-B550-40DE10BBCBB2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2190750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6E34C3-9BFF-45A0-BD2D-10C3D2AC1FFA}"/>
              </a:ext>
            </a:extLst>
          </p:cNvPr>
          <p:cNvSpPr>
            <a:spLocks noGrp="1"/>
          </p:cNvSpPr>
          <p:nvPr/>
        </p:nvSpPr>
        <p:spPr>
          <a:xfrm>
            <a:off x="819150" y="5381625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FA41B6-B6E8-40E5-88E9-EB4F871FCB19}"/>
              </a:ext>
            </a:extLst>
          </p:cNvPr>
          <p:cNvSpPr>
            <a:spLocks noGrp="1"/>
          </p:cNvSpPr>
          <p:nvPr/>
        </p:nvSpPr>
        <p:spPr>
          <a:xfrm>
            <a:off x="819150" y="5695950"/>
            <a:ext cx="18859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learned latent representation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0B5E35-3984-4C15-81A9-F267D4B7AB9F}"/>
              </a:ext>
            </a:extLst>
          </p:cNvPr>
          <p:cNvSpPr>
            <a:spLocks noGrp="1"/>
          </p:cNvSpPr>
          <p:nvPr/>
        </p:nvSpPr>
        <p:spPr>
          <a:xfrm>
            <a:off x="3333750" y="2238375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345D84-06BC-4B93-BCCF-E715DD4E29D2}"/>
              </a:ext>
            </a:extLst>
          </p:cNvPr>
          <p:cNvSpPr>
            <a:spLocks noGrp="1"/>
          </p:cNvSpPr>
          <p:nvPr/>
        </p:nvSpPr>
        <p:spPr>
          <a:xfrm>
            <a:off x="3333750" y="2238375"/>
            <a:ext cx="2190750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C5DF33-DF42-4402-904E-91AFF628F769}"/>
              </a:ext>
            </a:extLst>
          </p:cNvPr>
          <p:cNvSpPr>
            <a:spLocks noGrp="1"/>
          </p:cNvSpPr>
          <p:nvPr/>
        </p:nvSpPr>
        <p:spPr>
          <a:xfrm>
            <a:off x="3486150" y="240030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Action tower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CD4779-C4F4-49D9-8AF5-C472EAF3E73E}"/>
              </a:ext>
            </a:extLst>
          </p:cNvPr>
          <p:cNvSpPr>
            <a:spLocks noGrp="1"/>
          </p:cNvSpPr>
          <p:nvPr/>
        </p:nvSpPr>
        <p:spPr>
          <a:xfrm>
            <a:off x="3486150" y="2714625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phi_a_clinician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1024-d BGE-M3 vector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F7DB3B-F3AB-40F4-9997-203526341379}"/>
              </a:ext>
            </a:extLst>
          </p:cNvPr>
          <p:cNvSpPr>
            <a:spLocks noGrp="1"/>
          </p:cNvSpPr>
          <p:nvPr/>
        </p:nvSpPr>
        <p:spPr>
          <a:xfrm>
            <a:off x="4048125" y="3333750"/>
            <a:ext cx="6667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CC1C9F-3D84-4F9C-8FB5-0D9B5415EF3D}"/>
              </a:ext>
            </a:extLst>
          </p:cNvPr>
          <p:cNvSpPr>
            <a:spLocks noGrp="1"/>
          </p:cNvSpPr>
          <p:nvPr/>
        </p:nvSpPr>
        <p:spPr>
          <a:xfrm>
            <a:off x="3333750" y="3619500"/>
            <a:ext cx="2190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C91B00-7C37-4DD9-8941-9B93325874AF}"/>
              </a:ext>
            </a:extLst>
          </p:cNvPr>
          <p:cNvSpPr>
            <a:spLocks noGrp="1"/>
          </p:cNvSpPr>
          <p:nvPr/>
        </p:nvSpPr>
        <p:spPr>
          <a:xfrm>
            <a:off x="3333750" y="3619500"/>
            <a:ext cx="2190750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968D8F-22F9-4FF2-BBC1-F1B6D282DF75}"/>
              </a:ext>
            </a:extLst>
          </p:cNvPr>
          <p:cNvSpPr>
            <a:spLocks noGrp="1"/>
          </p:cNvSpPr>
          <p:nvPr/>
        </p:nvSpPr>
        <p:spPr>
          <a:xfrm>
            <a:off x="3486150" y="3781425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Projector MLP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856157-28A4-47BC-8E02-346D0CFC57F8}"/>
              </a:ext>
            </a:extLst>
          </p:cNvPr>
          <p:cNvSpPr>
            <a:spLocks noGrp="1"/>
          </p:cNvSpPr>
          <p:nvPr/>
        </p:nvSpPr>
        <p:spPr>
          <a:xfrm>
            <a:off x="3486150" y="4095750"/>
            <a:ext cx="1885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Linear → ReLU → Linear → Tanh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L2 normalize after projection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B90EEE-9BD6-4373-AA4E-EE578B57156C}"/>
              </a:ext>
            </a:extLst>
          </p:cNvPr>
          <p:cNvSpPr>
            <a:spLocks noGrp="1"/>
          </p:cNvSpPr>
          <p:nvPr/>
        </p:nvSpPr>
        <p:spPr>
          <a:xfrm>
            <a:off x="4048125" y="4905375"/>
            <a:ext cx="6667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183A8D-959E-46F3-88ED-D3A32E9AA46C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2190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09ABB7-6FF9-4E52-A4DC-579D657214BB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2190750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8508E1-642F-4C1A-8DAD-E0CD63D37903}"/>
              </a:ext>
            </a:extLst>
          </p:cNvPr>
          <p:cNvSpPr>
            <a:spLocks noGrp="1"/>
          </p:cNvSpPr>
          <p:nvPr/>
        </p:nvSpPr>
        <p:spPr>
          <a:xfrm>
            <a:off x="3486150" y="5381625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z_a_clinician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946F49-9440-4CD0-A252-AD62DC6162AE}"/>
              </a:ext>
            </a:extLst>
          </p:cNvPr>
          <p:cNvSpPr>
            <a:spLocks noGrp="1"/>
          </p:cNvSpPr>
          <p:nvPr/>
        </p:nvSpPr>
        <p:spPr>
          <a:xfrm>
            <a:off x="3486150" y="5695950"/>
            <a:ext cx="18859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learned latent representation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39AEBB-F3D7-44B0-B980-3D6FA92A2B12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2476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E5CF52-E519-4415-A41B-DC76074453B9}"/>
              </a:ext>
            </a:extLst>
          </p:cNvPr>
          <p:cNvSpPr>
            <a:spLocks noGrp="1"/>
          </p:cNvSpPr>
          <p:nvPr/>
        </p:nvSpPr>
        <p:spPr>
          <a:xfrm>
            <a:off x="6496050" y="2533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Reward head input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0956CE-0F72-4238-AD17-2ACA5F71A0EC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[z_x ; z_a_clinician ; z_x * z_a_clinician]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54896C-5EAD-4F36-A7B7-CBAA08EA1C57}"/>
              </a:ext>
            </a:extLst>
          </p:cNvPr>
          <p:cNvSpPr>
            <a:spLocks noGrp="1"/>
          </p:cNvSpPr>
          <p:nvPr/>
        </p:nvSpPr>
        <p:spPr>
          <a:xfrm>
            <a:off x="7181850" y="3695700"/>
            <a:ext cx="666750" cy="19050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079289-1F69-4F34-A3A9-3FDFF4F9F521}"/>
              </a:ext>
            </a:extLst>
          </p:cNvPr>
          <p:cNvSpPr>
            <a:spLocks noGrp="1"/>
          </p:cNvSpPr>
          <p:nvPr/>
        </p:nvSpPr>
        <p:spPr>
          <a:xfrm>
            <a:off x="6286500" y="4000500"/>
            <a:ext cx="2476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58F058-B829-48CE-BC1D-295D0E40F3A3}"/>
              </a:ext>
            </a:extLst>
          </p:cNvPr>
          <p:cNvSpPr>
            <a:spLocks noGrp="1"/>
          </p:cNvSpPr>
          <p:nvPr/>
        </p:nvSpPr>
        <p:spPr>
          <a:xfrm>
            <a:off x="6496050" y="420052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Reward predictor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5E1D07-CF9A-42F1-9EA8-2BAF55F470E4}"/>
              </a:ext>
            </a:extLst>
          </p:cNvPr>
          <p:cNvSpPr>
            <a:spLocks noGrp="1"/>
          </p:cNvSpPr>
          <p:nvPr/>
        </p:nvSpPr>
        <p:spPr>
          <a:xfrm>
            <a:off x="6496050" y="455295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Linear → ReLU → Linear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prediction target = y_score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CBD1D5-72C9-4387-9098-2501D7A3E814}"/>
              </a:ext>
            </a:extLst>
          </p:cNvPr>
          <p:cNvSpPr>
            <a:spLocks noGrp="1"/>
          </p:cNvSpPr>
          <p:nvPr/>
        </p:nvSpPr>
        <p:spPr>
          <a:xfrm>
            <a:off x="9191625" y="2238375"/>
            <a:ext cx="2190750" cy="1219200"/>
          </a:xfrm>
          <a:prstGeom prst="rect">
            <a:avLst/>
          </a:prstGeom>
          <a:solidFill>
            <a:srgbClr val="FFF8E8"/>
          </a:solidFill>
          <a:ln w="9525">
            <a:solidFill>
              <a:srgbClr val="E2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94F8C3C-DF3F-49B4-9FBE-98F7A2300505}"/>
              </a:ext>
            </a:extLst>
          </p:cNvPr>
          <p:cNvSpPr>
            <a:spLocks noGrp="1"/>
          </p:cNvSpPr>
          <p:nvPr/>
        </p:nvSpPr>
        <p:spPr>
          <a:xfrm>
            <a:off x="9391650" y="24574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6A4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6A43C"/>
                </a:solidFill>
                <a:latin typeface="Arial Unicode MS"/>
                <a:ea typeface="Arial Unicode MS"/>
                <a:cs typeface="Arial Unicode MS"/>
              </a:rPr>
              <a:t>Training signal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B5314F-2927-4177-A072-FE060E1CC5FF}"/>
              </a:ext>
            </a:extLst>
          </p:cNvPr>
          <p:cNvSpPr>
            <a:spLocks noGrp="1"/>
          </p:cNvSpPr>
          <p:nvPr/>
        </p:nvSpPr>
        <p:spPr>
          <a:xfrm>
            <a:off x="9391650" y="28003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only:</a:t>
            </a: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(phi_x, phi_a_clinician) → y_score</a:t>
            </a:r>
          </a:p>
          <a:p>
            <a:endParaRPr sz="900" b="0">
              <a:solidFill>
                <a:srgbClr val="5D6470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Do not use y_agent_score.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D29999-9629-4BDF-BBBE-5331CB3E141D}"/>
              </a:ext>
            </a:extLst>
          </p:cNvPr>
          <p:cNvSpPr>
            <a:spLocks noGrp="1"/>
          </p:cNvSpPr>
          <p:nvPr/>
        </p:nvSpPr>
        <p:spPr>
          <a:xfrm>
            <a:off x="9191625" y="3905250"/>
            <a:ext cx="2190750" cy="1428750"/>
          </a:xfrm>
          <a:prstGeom prst="rect">
            <a:avLst/>
          </a:prstGeom>
          <a:solidFill>
            <a:srgbClr val="F0F7F7"/>
          </a:solidFill>
          <a:ln w="9525">
            <a:solidFill>
              <a:srgbClr val="9AC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E0BEFB-0363-45C2-A040-01C902B447BD}"/>
              </a:ext>
            </a:extLst>
          </p:cNvPr>
          <p:cNvSpPr>
            <a:spLocks noGrp="1"/>
          </p:cNvSpPr>
          <p:nvPr/>
        </p:nvSpPr>
        <p:spPr>
          <a:xfrm>
            <a:off x="9391650" y="41243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rPr>
              <a:t>Apply after training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80C1EB-EF49-4485-9884-43E86C48F0E5}"/>
              </a:ext>
            </a:extLst>
          </p:cNvPr>
          <p:cNvSpPr>
            <a:spLocks noGrp="1"/>
          </p:cNvSpPr>
          <p:nvPr/>
        </p:nvSpPr>
        <p:spPr>
          <a:xfrm>
            <a:off x="9391650" y="4476750"/>
            <a:ext cx="171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z_a_agent = action_projector(phi_a_agent)</a:t>
            </a:r>
          </a:p>
          <a:p>
            <a:endParaRPr sz="900" b="0">
              <a:solidFill>
                <a:srgbClr val="5D6470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Then run DM / MIPS / OffCEM using the learned or concat-PCA features.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8DDC9D-A68A-43A0-886A-FE9A1845A0FD}"/>
              </a:ext>
            </a:extLst>
          </p:cNvPr>
          <p:cNvSpPr>
            <a:spLocks noGrp="1"/>
          </p:cNvSpPr>
          <p:nvPr/>
        </p:nvSpPr>
        <p:spPr>
          <a:xfrm>
            <a:off x="838200" y="6143625"/>
            <a:ext cx="1000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In concat-PCA mode, the learned outputs are appended to PCA(BGE): final embedding = [PCA(BGE) ; learned_projection(BGE)].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53BBF2-B7CC-4A97-9BE0-84A1F6306138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E5DD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732A88-AE19-4936-AC49-32ECFE065BE6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Implementation: src/cce_data/estimators/learned_embedding.py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563E18-745F-6897-8DE3-2B9017F6E89A}"/>
              </a:ext>
            </a:extLst>
          </p:cNvPr>
          <p:cNvSpPr txBox="1"/>
          <p:nvPr/>
        </p:nvSpPr>
        <p:spPr>
          <a:xfrm>
            <a:off x="3144579" y="2005223"/>
            <a:ext cx="28089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>
                <a:solidFill>
                  <a:srgbClr val="1A1C1F"/>
                </a:solidFill>
                <a:effectLst/>
                <a:latin typeface="-apple-system"/>
              </a:rPr>
              <a:t>这个 action 在当前任务 reward 上有用的表示</a:t>
            </a:r>
            <a:endParaRPr 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181CC1-478B-B7B9-8208-6BDBB38BDCD5}"/>
              </a:ext>
            </a:extLst>
          </p:cNvPr>
          <p:cNvSpPr txBox="1"/>
          <p:nvPr/>
        </p:nvSpPr>
        <p:spPr>
          <a:xfrm>
            <a:off x="716590" y="1995377"/>
            <a:ext cx="24279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 err="1">
                <a:solidFill>
                  <a:srgbClr val="1A1C1F"/>
                </a:solidFill>
                <a:effectLst/>
                <a:latin typeface="-apple-system"/>
              </a:rPr>
              <a:t>患者上下文中和</a:t>
            </a:r>
            <a:r>
              <a:rPr lang="en-US" sz="1000" b="0" i="0" dirty="0">
                <a:solidFill>
                  <a:srgbClr val="1A1C1F"/>
                </a:solidFill>
                <a:effectLst/>
                <a:latin typeface="-apple-system"/>
              </a:rPr>
              <a:t> reward </a:t>
            </a:r>
            <a:r>
              <a:rPr lang="en-US" sz="1000" b="0" i="0" dirty="0" err="1">
                <a:solidFill>
                  <a:srgbClr val="1A1C1F"/>
                </a:solidFill>
                <a:effectLst/>
                <a:latin typeface="-apple-system"/>
              </a:rPr>
              <a:t>有关的表示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612155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Macintosh PowerPoint</Application>
  <DocSecurity>0</DocSecurity>
  <PresentationFormat>Widescreen</PresentationFormat>
  <Paragraphs>146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-apple-system</vt:lpstr>
      <vt:lpstr>Arial Unicode MS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 Wei</cp:lastModifiedBy>
  <cp:revision>1</cp:revision>
  <dcterms:created xsi:type="dcterms:W3CDTF">2026-05-26T18:06:05Z</dcterms:created>
  <dcterms:modified xsi:type="dcterms:W3CDTF">2026-05-26T19:30:09Z</dcterms:modified>
</cp:coreProperties>
</file>