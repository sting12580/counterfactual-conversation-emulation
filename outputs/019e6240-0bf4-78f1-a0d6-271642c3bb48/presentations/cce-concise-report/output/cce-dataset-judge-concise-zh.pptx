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9" d="100"/>
          <a:sy n="119" d="100"/>
        </p:scale>
        <p:origin x="21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2C0FD96B-517E-4A0A-8EAA-245165FEFC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96C31E-0951-47AB-9D0A-AD582F3D7C73}"/>
              </a:ext>
            </a:extLst>
          </p:cNvPr>
          <p:cNvSpPr>
            <a:spLocks noGrp="1"/>
          </p:cNvSpPr>
          <p:nvPr/>
        </p:nvSpPr>
        <p:spPr>
          <a:xfrm>
            <a:off x="552450" y="523875"/>
            <a:ext cx="1047750" cy="5715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544B99-D22A-416A-9817-31235E0E35F9}"/>
              </a:ext>
            </a:extLst>
          </p:cNvPr>
          <p:cNvSpPr>
            <a:spLocks noGrp="1"/>
          </p:cNvSpPr>
          <p:nvPr/>
        </p:nvSpPr>
        <p:spPr>
          <a:xfrm>
            <a:off x="552450" y="895350"/>
            <a:ext cx="857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Counterfactual Conversation Emulation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601169-80A0-4CAC-83AE-10FC6BCC518D}"/>
              </a:ext>
            </a:extLst>
          </p:cNvPr>
          <p:cNvSpPr>
            <a:spLocks noGrp="1"/>
          </p:cNvSpPr>
          <p:nvPr/>
        </p:nvSpPr>
        <p:spPr>
          <a:xfrm>
            <a:off x="552450" y="1476375"/>
            <a:ext cx="8572500" cy="1190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4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数据集构造与 Judge 结果</a:t>
            </a:r>
          </a:p>
          <a:p>
            <a:pPr algn="l">
              <a:defRPr sz="34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精简汇报框架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C7068-C1CF-46BC-8ED9-01BD39FF6530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2333625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6A58FA-FB23-42E8-911D-60DE6A64A286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2333625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34A345-1405-41A2-A11E-F9580DDE7FA2}"/>
              </a:ext>
            </a:extLst>
          </p:cNvPr>
          <p:cNvSpPr>
            <a:spLocks noGrp="1"/>
          </p:cNvSpPr>
          <p:nvPr/>
        </p:nvSpPr>
        <p:spPr>
          <a:xfrm>
            <a:off x="838200" y="4543425"/>
            <a:ext cx="1990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397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BD51FE7-DEC4-4E2D-B200-AFBF344DE805}"/>
              </a:ext>
            </a:extLst>
          </p:cNvPr>
          <p:cNvSpPr>
            <a:spLocks noGrp="1"/>
          </p:cNvSpPr>
          <p:nvPr/>
        </p:nvSpPr>
        <p:spPr>
          <a:xfrm>
            <a:off x="838200" y="4943475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主医疗数据 rows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BA2A985-228E-43B1-9F24-E6894C406B30}"/>
              </a:ext>
            </a:extLst>
          </p:cNvPr>
          <p:cNvSpPr>
            <a:spLocks noGrp="1"/>
          </p:cNvSpPr>
          <p:nvPr/>
        </p:nvSpPr>
        <p:spPr>
          <a:xfrm>
            <a:off x="3286125" y="4333875"/>
            <a:ext cx="2333625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EB8F14-597B-4221-8C7C-D43DDB6ED9E1}"/>
              </a:ext>
            </a:extLst>
          </p:cNvPr>
          <p:cNvSpPr>
            <a:spLocks noGrp="1"/>
          </p:cNvSpPr>
          <p:nvPr/>
        </p:nvSpPr>
        <p:spPr>
          <a:xfrm>
            <a:off x="3286125" y="4333875"/>
            <a:ext cx="2333625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8729FE-8136-4745-9741-6C136A9B1FAA}"/>
              </a:ext>
            </a:extLst>
          </p:cNvPr>
          <p:cNvSpPr>
            <a:spLocks noGrp="1"/>
          </p:cNvSpPr>
          <p:nvPr/>
        </p:nvSpPr>
        <p:spPr>
          <a:xfrm>
            <a:off x="3457575" y="4543425"/>
            <a:ext cx="1990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E289E4-BCE8-4AF3-BDF8-FE35118BE0E4}"/>
              </a:ext>
            </a:extLst>
          </p:cNvPr>
          <p:cNvSpPr>
            <a:spLocks noGrp="1"/>
          </p:cNvSpPr>
          <p:nvPr/>
        </p:nvSpPr>
        <p:spPr>
          <a:xfrm>
            <a:off x="3457575" y="4943475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主来源数据集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540A4E3-320C-4503-B2AB-8844D2F0CDAC}"/>
              </a:ext>
            </a:extLst>
          </p:cNvPr>
          <p:cNvSpPr>
            <a:spLocks noGrp="1"/>
          </p:cNvSpPr>
          <p:nvPr/>
        </p:nvSpPr>
        <p:spPr>
          <a:xfrm>
            <a:off x="5905500" y="4333875"/>
            <a:ext cx="2333625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E613F9-CA29-44E1-AB56-BA1F99DBB704}"/>
              </a:ext>
            </a:extLst>
          </p:cNvPr>
          <p:cNvSpPr>
            <a:spLocks noGrp="1"/>
          </p:cNvSpPr>
          <p:nvPr/>
        </p:nvSpPr>
        <p:spPr>
          <a:xfrm>
            <a:off x="5905500" y="4333875"/>
            <a:ext cx="2333625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A58A1B-1EA3-46D4-B8DF-DB1E908F1CFD}"/>
              </a:ext>
            </a:extLst>
          </p:cNvPr>
          <p:cNvSpPr>
            <a:spLocks noGrp="1"/>
          </p:cNvSpPr>
          <p:nvPr/>
        </p:nvSpPr>
        <p:spPr>
          <a:xfrm>
            <a:off x="6076950" y="4543425"/>
            <a:ext cx="1990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0BE0439-58CB-4B4A-80C7-579AE9491364}"/>
              </a:ext>
            </a:extLst>
          </p:cNvPr>
          <p:cNvSpPr>
            <a:spLocks noGrp="1"/>
          </p:cNvSpPr>
          <p:nvPr/>
        </p:nvSpPr>
        <p:spPr>
          <a:xfrm>
            <a:off x="6076950" y="4943475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baseline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37B504-7A9A-401A-A248-BFAC3F8CBE2E}"/>
              </a:ext>
            </a:extLst>
          </p:cNvPr>
          <p:cNvSpPr>
            <a:spLocks noGrp="1"/>
          </p:cNvSpPr>
          <p:nvPr/>
        </p:nvSpPr>
        <p:spPr>
          <a:xfrm>
            <a:off x="8524875" y="4333875"/>
            <a:ext cx="2333625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5FABF3-D4D3-48F7-B1B4-F9B70B1326AB}"/>
              </a:ext>
            </a:extLst>
          </p:cNvPr>
          <p:cNvSpPr>
            <a:spLocks noGrp="1"/>
          </p:cNvSpPr>
          <p:nvPr/>
        </p:nvSpPr>
        <p:spPr>
          <a:xfrm>
            <a:off x="8524875" y="4333875"/>
            <a:ext cx="2333625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4BB6AD-CDF3-4989-9954-D06FA7DF2BD4}"/>
              </a:ext>
            </a:extLst>
          </p:cNvPr>
          <p:cNvSpPr>
            <a:spLocks noGrp="1"/>
          </p:cNvSpPr>
          <p:nvPr/>
        </p:nvSpPr>
        <p:spPr>
          <a:xfrm>
            <a:off x="8696325" y="4543425"/>
            <a:ext cx="19907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2+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B96F33D-62CE-43B9-A266-E937C9AE7CC3}"/>
              </a:ext>
            </a:extLst>
          </p:cNvPr>
          <p:cNvSpPr>
            <a:spLocks noGrp="1"/>
          </p:cNvSpPr>
          <p:nvPr/>
        </p:nvSpPr>
        <p:spPr>
          <a:xfrm>
            <a:off x="8696325" y="4943475"/>
            <a:ext cx="19907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judge 结果对照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19A4B5-C9D4-43F6-BA13-A67C90FF2654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CA5C43-331B-43DD-BEBF-05574E5DBE9A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30568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8BB402DE-3FA8-4979-BEA3-AF3CDC67CD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A5C917-DCDC-4405-AD7D-E9A5A6DFDB18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B36AE3-1778-4759-A7BB-2B74C19CC68D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DATA SOURCES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EBF4BA-48DB-4CE6-BC81-47F628087EBC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主实验数据来自 3 个 public dialogue-note datasets。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360E5A-4974-4666-A7F4-AF0C92DFBB36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31E677-2ABF-4FE2-9D20-15E81ECA1A2E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694251-743D-4A0D-BD75-E4A15904CDD1}"/>
              </a:ext>
            </a:extLst>
          </p:cNvPr>
          <p:cNvSpPr>
            <a:spLocks noGrp="1"/>
          </p:cNvSpPr>
          <p:nvPr/>
        </p:nvSpPr>
        <p:spPr>
          <a:xfrm>
            <a:off x="819150" y="2095500"/>
            <a:ext cx="20002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95F469-7550-4AFD-A224-0EAFF58354E9}"/>
              </a:ext>
            </a:extLst>
          </p:cNvPr>
          <p:cNvSpPr>
            <a:spLocks noGrp="1"/>
          </p:cNvSpPr>
          <p:nvPr/>
        </p:nvSpPr>
        <p:spPr>
          <a:xfrm>
            <a:off x="895350" y="2181225"/>
            <a:ext cx="1847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数据集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83B980-8493-49D6-838C-96E75B477F1E}"/>
              </a:ext>
            </a:extLst>
          </p:cNvPr>
          <p:cNvSpPr>
            <a:spLocks noGrp="1"/>
          </p:cNvSpPr>
          <p:nvPr/>
        </p:nvSpPr>
        <p:spPr>
          <a:xfrm>
            <a:off x="2819400" y="2095500"/>
            <a:ext cx="13335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06E55F-B0C8-4AE7-BC7F-A09EB477EBCE}"/>
              </a:ext>
            </a:extLst>
          </p:cNvPr>
          <p:cNvSpPr>
            <a:spLocks noGrp="1"/>
          </p:cNvSpPr>
          <p:nvPr/>
        </p:nvSpPr>
        <p:spPr>
          <a:xfrm>
            <a:off x="2895600" y="2181225"/>
            <a:ext cx="11811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使用数量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174EFB-AA28-435D-A7A1-82224701A005}"/>
              </a:ext>
            </a:extLst>
          </p:cNvPr>
          <p:cNvSpPr>
            <a:spLocks noGrp="1"/>
          </p:cNvSpPr>
          <p:nvPr/>
        </p:nvSpPr>
        <p:spPr>
          <a:xfrm>
            <a:off x="4152900" y="2095500"/>
            <a:ext cx="34290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3EC61D-309E-43C1-9BC9-A4E7B1A5D2C8}"/>
              </a:ext>
            </a:extLst>
          </p:cNvPr>
          <p:cNvSpPr>
            <a:spLocks noGrp="1"/>
          </p:cNvSpPr>
          <p:nvPr/>
        </p:nvSpPr>
        <p:spPr>
          <a:xfrm>
            <a:off x="4229100" y="2181225"/>
            <a:ext cx="3276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用途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387F75-7A55-4C67-83C4-E5184FBA54E6}"/>
              </a:ext>
            </a:extLst>
          </p:cNvPr>
          <p:cNvSpPr>
            <a:spLocks noGrp="1"/>
          </p:cNvSpPr>
          <p:nvPr/>
        </p:nvSpPr>
        <p:spPr>
          <a:xfrm>
            <a:off x="7581900" y="2095500"/>
            <a:ext cx="3476625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96932C-36B3-4286-BF34-DB4E4CFFD00F}"/>
              </a:ext>
            </a:extLst>
          </p:cNvPr>
          <p:cNvSpPr>
            <a:spLocks noGrp="1"/>
          </p:cNvSpPr>
          <p:nvPr/>
        </p:nvSpPr>
        <p:spPr>
          <a:xfrm>
            <a:off x="7658100" y="2181225"/>
            <a:ext cx="3324225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链接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272AC91-1C34-4976-A291-B022C9770F88}"/>
              </a:ext>
            </a:extLst>
          </p:cNvPr>
          <p:cNvSpPr>
            <a:spLocks noGrp="1"/>
          </p:cNvSpPr>
          <p:nvPr/>
        </p:nvSpPr>
        <p:spPr>
          <a:xfrm>
            <a:off x="819150" y="2495550"/>
            <a:ext cx="2000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943F12-B002-4E50-A399-F8FF711123C7}"/>
              </a:ext>
            </a:extLst>
          </p:cNvPr>
          <p:cNvSpPr>
            <a:spLocks noGrp="1"/>
          </p:cNvSpPr>
          <p:nvPr/>
        </p:nvSpPr>
        <p:spPr>
          <a:xfrm>
            <a:off x="895350" y="2571750"/>
            <a:ext cx="18478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DB3EF9-576D-4596-B9B0-5AC5AA3EFA0E}"/>
              </a:ext>
            </a:extLst>
          </p:cNvPr>
          <p:cNvSpPr>
            <a:spLocks noGrp="1"/>
          </p:cNvSpPr>
          <p:nvPr/>
        </p:nvSpPr>
        <p:spPr>
          <a:xfrm>
            <a:off x="2819400" y="2495550"/>
            <a:ext cx="1333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962223A-9C6D-4DDA-B3A8-1CA721456F5D}"/>
              </a:ext>
            </a:extLst>
          </p:cNvPr>
          <p:cNvSpPr>
            <a:spLocks noGrp="1"/>
          </p:cNvSpPr>
          <p:nvPr/>
        </p:nvSpPr>
        <p:spPr>
          <a:xfrm>
            <a:off x="2895600" y="2571750"/>
            <a:ext cx="1181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207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04DDA6-96E8-45DB-BC29-DD0BCAFC8447}"/>
              </a:ext>
            </a:extLst>
          </p:cNvPr>
          <p:cNvSpPr>
            <a:spLocks noGrp="1"/>
          </p:cNvSpPr>
          <p:nvPr/>
        </p:nvSpPr>
        <p:spPr>
          <a:xfrm>
            <a:off x="4152900" y="2495550"/>
            <a:ext cx="3429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44A2AE-F7F6-45C1-AFA0-EB73B97FEBCA}"/>
              </a:ext>
            </a:extLst>
          </p:cNvPr>
          <p:cNvSpPr>
            <a:spLocks noGrp="1"/>
          </p:cNvSpPr>
          <p:nvPr/>
        </p:nvSpPr>
        <p:spPr>
          <a:xfrm>
            <a:off x="4229100" y="2571750"/>
            <a:ext cx="3276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完整医疗对话 + clinical note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2C23526-5F37-4BA2-A3AD-31B852A97086}"/>
              </a:ext>
            </a:extLst>
          </p:cNvPr>
          <p:cNvSpPr>
            <a:spLocks noGrp="1"/>
          </p:cNvSpPr>
          <p:nvPr/>
        </p:nvSpPr>
        <p:spPr>
          <a:xfrm>
            <a:off x="7581900" y="2495550"/>
            <a:ext cx="34766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40D8B8-8C23-4791-AFE5-2281B89F1151}"/>
              </a:ext>
            </a:extLst>
          </p:cNvPr>
          <p:cNvSpPr>
            <a:spLocks noGrp="1"/>
          </p:cNvSpPr>
          <p:nvPr/>
        </p:nvSpPr>
        <p:spPr>
          <a:xfrm>
            <a:off x="7658100" y="2571750"/>
            <a:ext cx="33242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https://github.com/wyim/aci-bench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6DD30FD-A297-42D1-A783-080359C9C6B8}"/>
              </a:ext>
            </a:extLst>
          </p:cNvPr>
          <p:cNvSpPr>
            <a:spLocks noGrp="1"/>
          </p:cNvSpPr>
          <p:nvPr/>
        </p:nvSpPr>
        <p:spPr>
          <a:xfrm>
            <a:off x="819150" y="3276600"/>
            <a:ext cx="2000250" cy="7810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1F86BD7-5D9A-4721-B592-7445C11C3956}"/>
              </a:ext>
            </a:extLst>
          </p:cNvPr>
          <p:cNvSpPr>
            <a:spLocks noGrp="1"/>
          </p:cNvSpPr>
          <p:nvPr/>
        </p:nvSpPr>
        <p:spPr>
          <a:xfrm>
            <a:off x="895350" y="3352800"/>
            <a:ext cx="18478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C5B464-FC14-4418-AADA-37D2D90AE61D}"/>
              </a:ext>
            </a:extLst>
          </p:cNvPr>
          <p:cNvSpPr>
            <a:spLocks noGrp="1"/>
          </p:cNvSpPr>
          <p:nvPr/>
        </p:nvSpPr>
        <p:spPr>
          <a:xfrm>
            <a:off x="2819400" y="3276600"/>
            <a:ext cx="1333500" cy="7810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DB18839-EC16-45F7-8026-3F96FBF6BAC5}"/>
              </a:ext>
            </a:extLst>
          </p:cNvPr>
          <p:cNvSpPr>
            <a:spLocks noGrp="1"/>
          </p:cNvSpPr>
          <p:nvPr/>
        </p:nvSpPr>
        <p:spPr>
          <a:xfrm>
            <a:off x="2895600" y="3352800"/>
            <a:ext cx="1181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142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5C4E079-D65A-444E-8BB4-8A534C052C10}"/>
              </a:ext>
            </a:extLst>
          </p:cNvPr>
          <p:cNvSpPr>
            <a:spLocks noGrp="1"/>
          </p:cNvSpPr>
          <p:nvPr/>
        </p:nvSpPr>
        <p:spPr>
          <a:xfrm>
            <a:off x="4152900" y="3276600"/>
            <a:ext cx="3429000" cy="7810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B08844-FEDF-4F7F-8059-F34348BEC071}"/>
              </a:ext>
            </a:extLst>
          </p:cNvPr>
          <p:cNvSpPr>
            <a:spLocks noGrp="1"/>
          </p:cNvSpPr>
          <p:nvPr/>
        </p:nvSpPr>
        <p:spPr>
          <a:xfrm>
            <a:off x="4229100" y="3352800"/>
            <a:ext cx="3276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短对话 + section header/summary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0BC531-0703-404F-A045-AF8486A8F458}"/>
              </a:ext>
            </a:extLst>
          </p:cNvPr>
          <p:cNvSpPr>
            <a:spLocks noGrp="1"/>
          </p:cNvSpPr>
          <p:nvPr/>
        </p:nvSpPr>
        <p:spPr>
          <a:xfrm>
            <a:off x="7581900" y="3276600"/>
            <a:ext cx="3476625" cy="7810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331253-DD5F-491F-959B-BC26D68D39DF}"/>
              </a:ext>
            </a:extLst>
          </p:cNvPr>
          <p:cNvSpPr>
            <a:spLocks noGrp="1"/>
          </p:cNvSpPr>
          <p:nvPr/>
        </p:nvSpPr>
        <p:spPr>
          <a:xfrm>
            <a:off x="7658100" y="3352800"/>
            <a:ext cx="33242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https://github.com/abachaa/MTS-Dialog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4CC80F-214A-4A49-92DE-3FDDBC4C3ABE}"/>
              </a:ext>
            </a:extLst>
          </p:cNvPr>
          <p:cNvSpPr>
            <a:spLocks noGrp="1"/>
          </p:cNvSpPr>
          <p:nvPr/>
        </p:nvSpPr>
        <p:spPr>
          <a:xfrm>
            <a:off x="819150" y="4057650"/>
            <a:ext cx="200025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9D7A63-1D1E-48B5-B998-7778ACAC2522}"/>
              </a:ext>
            </a:extLst>
          </p:cNvPr>
          <p:cNvSpPr>
            <a:spLocks noGrp="1"/>
          </p:cNvSpPr>
          <p:nvPr/>
        </p:nvSpPr>
        <p:spPr>
          <a:xfrm>
            <a:off x="895350" y="4133850"/>
            <a:ext cx="18478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24A9C3-A142-48FB-9F13-12F374A76174}"/>
              </a:ext>
            </a:extLst>
          </p:cNvPr>
          <p:cNvSpPr>
            <a:spLocks noGrp="1"/>
          </p:cNvSpPr>
          <p:nvPr/>
        </p:nvSpPr>
        <p:spPr>
          <a:xfrm>
            <a:off x="2819400" y="4057650"/>
            <a:ext cx="13335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1775C3-7C5D-4595-A4F4-7F6A90A362B8}"/>
              </a:ext>
            </a:extLst>
          </p:cNvPr>
          <p:cNvSpPr>
            <a:spLocks noGrp="1"/>
          </p:cNvSpPr>
          <p:nvPr/>
        </p:nvSpPr>
        <p:spPr>
          <a:xfrm>
            <a:off x="2895600" y="4133850"/>
            <a:ext cx="11811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7E89B96-F5C2-4933-A9A2-C73BEFB98D70}"/>
              </a:ext>
            </a:extLst>
          </p:cNvPr>
          <p:cNvSpPr>
            <a:spLocks noGrp="1"/>
          </p:cNvSpPr>
          <p:nvPr/>
        </p:nvSpPr>
        <p:spPr>
          <a:xfrm>
            <a:off x="4152900" y="4057650"/>
            <a:ext cx="3429000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CE21845-C9CE-4B1A-AA07-9D87B94B299D}"/>
              </a:ext>
            </a:extLst>
          </p:cNvPr>
          <p:cNvSpPr>
            <a:spLocks noGrp="1"/>
          </p:cNvSpPr>
          <p:nvPr/>
        </p:nvSpPr>
        <p:spPr>
          <a:xfrm>
            <a:off x="4229100" y="4133850"/>
            <a:ext cx="327660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mock primary-care transcript + note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207405-045B-495F-B28D-889BB766628C}"/>
              </a:ext>
            </a:extLst>
          </p:cNvPr>
          <p:cNvSpPr>
            <a:spLocks noGrp="1"/>
          </p:cNvSpPr>
          <p:nvPr/>
        </p:nvSpPr>
        <p:spPr>
          <a:xfrm>
            <a:off x="7581900" y="4057650"/>
            <a:ext cx="3476625" cy="78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181A1CA-A5D4-4612-B54F-2AFFBBAD267A}"/>
              </a:ext>
            </a:extLst>
          </p:cNvPr>
          <p:cNvSpPr>
            <a:spLocks noGrp="1"/>
          </p:cNvSpPr>
          <p:nvPr/>
        </p:nvSpPr>
        <p:spPr>
          <a:xfrm>
            <a:off x="7658100" y="4133850"/>
            <a:ext cx="3324225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0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https://github.com/babylonhealth/primock57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F56DAB0-4612-4336-A954-3128E3FE0A02}"/>
              </a:ext>
            </a:extLst>
          </p:cNvPr>
          <p:cNvSpPr>
            <a:spLocks noGrp="1"/>
          </p:cNvSpPr>
          <p:nvPr/>
        </p:nvSpPr>
        <p:spPr>
          <a:xfrm>
            <a:off x="1000125" y="5143500"/>
            <a:ext cx="9810750" cy="457200"/>
          </a:xfrm>
          <a:prstGeom prst="rect">
            <a:avLst/>
          </a:prstGeom>
          <a:solidFill>
            <a:srgbClr val="DDEFEB"/>
          </a:solidFill>
          <a:ln w="0">
            <a:solidFill>
              <a:srgbClr val="DDEF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8174A95-18D6-421A-940E-12E21BAC6839}"/>
              </a:ext>
            </a:extLst>
          </p:cNvPr>
          <p:cNvSpPr>
            <a:spLocks noGrp="1"/>
          </p:cNvSpPr>
          <p:nvPr/>
        </p:nvSpPr>
        <p:spPr>
          <a:xfrm>
            <a:off x="1238250" y="5286375"/>
            <a:ext cx="933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合计：397 included rows。MedDialog 只作为 auxiliary candidate，没有进入主实验 freeze。</a:t>
            </a:r>
          </a:p>
        </p:txBody>
      </p:sp>
    </p:spTree>
    <p:extLst>
      <p:ext uri="{BB962C8B-B14F-4D97-AF65-F5344CB8AC3E}">
        <p14:creationId xmlns:p14="http://schemas.microsoft.com/office/powerpoint/2010/main" val="1701728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AD5E6E15-FBE6-4F8A-9281-1EA5FA0D10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B3D80A-A552-44BE-8145-685AA2D569AF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B6C458-6040-49F9-8963-1B5AC29ACFC8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INPUT / 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E71DE7-CFC2-482D-B275-35361A86EA8D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构造目标：把不同来源统一成 D = {(X, A, E, Y)}。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86C60-FC17-476A-BBB4-BCB1849640B6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AB1409-A76F-4541-92A5-085215DF0445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README.md Canonical Schema; src/cce_data/build.py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7511F25-6FE4-4C37-B130-5A8C90464946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64D00-36E8-4D03-AE92-65003EAE02E1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952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1C8140-40EB-441B-8195-685985DBE5B9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23850" cy="13811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D5B0D7-5096-4040-8D06-A59E7A6A87BF}"/>
              </a:ext>
            </a:extLst>
          </p:cNvPr>
          <p:cNvSpPr>
            <a:spLocks noGrp="1"/>
          </p:cNvSpPr>
          <p:nvPr/>
        </p:nvSpPr>
        <p:spPr>
          <a:xfrm>
            <a:off x="723900" y="22288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4729E2-604A-45D8-A7DA-633095EF5C3D}"/>
              </a:ext>
            </a:extLst>
          </p:cNvPr>
          <p:cNvSpPr>
            <a:spLocks noGrp="1"/>
          </p:cNvSpPr>
          <p:nvPr/>
        </p:nvSpPr>
        <p:spPr>
          <a:xfrm>
            <a:off x="1123950" y="22479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Raw source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502721-A6A1-4EB3-8F2B-FE12C53D270B}"/>
              </a:ext>
            </a:extLst>
          </p:cNvPr>
          <p:cNvSpPr>
            <a:spLocks noGrp="1"/>
          </p:cNvSpPr>
          <p:nvPr/>
        </p:nvSpPr>
        <p:spPr>
          <a:xfrm>
            <a:off x="1123950" y="2552700"/>
            <a:ext cx="138112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dialogue + note / section / transcript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2D57D3-954E-43F3-8B1E-D3E904F8D6AE}"/>
              </a:ext>
            </a:extLst>
          </p:cNvPr>
          <p:cNvSpPr>
            <a:spLocks noGrp="1"/>
          </p:cNvSpPr>
          <p:nvPr/>
        </p:nvSpPr>
        <p:spPr>
          <a:xfrm>
            <a:off x="2647950" y="2781300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59E6E6-BB37-4F9D-8506-20E2F4FAB0F8}"/>
              </a:ext>
            </a:extLst>
          </p:cNvPr>
          <p:cNvSpPr>
            <a:spLocks noGrp="1"/>
          </p:cNvSpPr>
          <p:nvPr/>
        </p:nvSpPr>
        <p:spPr>
          <a:xfrm>
            <a:off x="2809875" y="2095500"/>
            <a:ext cx="1952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C44F80B-275C-42A1-B0A0-B5C3FC5F73F2}"/>
              </a:ext>
            </a:extLst>
          </p:cNvPr>
          <p:cNvSpPr>
            <a:spLocks noGrp="1"/>
          </p:cNvSpPr>
          <p:nvPr/>
        </p:nvSpPr>
        <p:spPr>
          <a:xfrm>
            <a:off x="2809875" y="2095500"/>
            <a:ext cx="323850" cy="13811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D294BC-7318-41D5-9282-16D971134DA7}"/>
              </a:ext>
            </a:extLst>
          </p:cNvPr>
          <p:cNvSpPr>
            <a:spLocks noGrp="1"/>
          </p:cNvSpPr>
          <p:nvPr/>
        </p:nvSpPr>
        <p:spPr>
          <a:xfrm>
            <a:off x="2867025" y="22288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822A5D6-3F81-416D-B62D-DDF2174F31D2}"/>
              </a:ext>
            </a:extLst>
          </p:cNvPr>
          <p:cNvSpPr>
            <a:spLocks noGrp="1"/>
          </p:cNvSpPr>
          <p:nvPr/>
        </p:nvSpPr>
        <p:spPr>
          <a:xfrm>
            <a:off x="3267075" y="22479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Adapter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961F468-6D0D-402D-987E-13BEBF58B39D}"/>
              </a:ext>
            </a:extLst>
          </p:cNvPr>
          <p:cNvSpPr>
            <a:spLocks noGrp="1"/>
          </p:cNvSpPr>
          <p:nvPr/>
        </p:nvSpPr>
        <p:spPr>
          <a:xfrm>
            <a:off x="3267075" y="2552700"/>
            <a:ext cx="138112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按 source 抽取 X 与 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B530445-2242-4676-BAD2-1161F62832D9}"/>
              </a:ext>
            </a:extLst>
          </p:cNvPr>
          <p:cNvSpPr>
            <a:spLocks noGrp="1"/>
          </p:cNvSpPr>
          <p:nvPr/>
        </p:nvSpPr>
        <p:spPr>
          <a:xfrm>
            <a:off x="4791075" y="2781300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C120D9-BED1-49DE-A16B-CCC47304F3C4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1952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9CB271-FB75-4836-84D0-95610685B624}"/>
              </a:ext>
            </a:extLst>
          </p:cNvPr>
          <p:cNvSpPr>
            <a:spLocks noGrp="1"/>
          </p:cNvSpPr>
          <p:nvPr/>
        </p:nvSpPr>
        <p:spPr>
          <a:xfrm>
            <a:off x="4953000" y="2095500"/>
            <a:ext cx="323850" cy="13811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07AD40-66A5-4C0C-BFB2-EFE654D1F615}"/>
              </a:ext>
            </a:extLst>
          </p:cNvPr>
          <p:cNvSpPr>
            <a:spLocks noGrp="1"/>
          </p:cNvSpPr>
          <p:nvPr/>
        </p:nvSpPr>
        <p:spPr>
          <a:xfrm>
            <a:off x="5010150" y="22288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F363CA-591A-4144-9076-176EFAA9DF2C}"/>
              </a:ext>
            </a:extLst>
          </p:cNvPr>
          <p:cNvSpPr>
            <a:spLocks noGrp="1"/>
          </p:cNvSpPr>
          <p:nvPr/>
        </p:nvSpPr>
        <p:spPr>
          <a:xfrm>
            <a:off x="5410200" y="22479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Canonical row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6F8288-3A06-443D-831E-7A15F7DE4C37}"/>
              </a:ext>
            </a:extLst>
          </p:cNvPr>
          <p:cNvSpPr>
            <a:spLocks noGrp="1"/>
          </p:cNvSpPr>
          <p:nvPr/>
        </p:nvSpPr>
        <p:spPr>
          <a:xfrm>
            <a:off x="5410200" y="2552700"/>
            <a:ext cx="138112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X, A_b, E, Y, provenance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4D5407C-5053-4F70-9938-99B8EE4D4125}"/>
              </a:ext>
            </a:extLst>
          </p:cNvPr>
          <p:cNvSpPr>
            <a:spLocks noGrp="1"/>
          </p:cNvSpPr>
          <p:nvPr/>
        </p:nvSpPr>
        <p:spPr>
          <a:xfrm>
            <a:off x="6934200" y="2781300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236B26-59DA-4E9A-BBBA-02718A7A51A3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1952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02BC2A2-682A-4888-8154-645B186D5754}"/>
              </a:ext>
            </a:extLst>
          </p:cNvPr>
          <p:cNvSpPr>
            <a:spLocks noGrp="1"/>
          </p:cNvSpPr>
          <p:nvPr/>
        </p:nvSpPr>
        <p:spPr>
          <a:xfrm>
            <a:off x="7096125" y="2095500"/>
            <a:ext cx="323850" cy="13811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BF6D285-E091-4A60-B3F0-6966CB5E1CE2}"/>
              </a:ext>
            </a:extLst>
          </p:cNvPr>
          <p:cNvSpPr>
            <a:spLocks noGrp="1"/>
          </p:cNvSpPr>
          <p:nvPr/>
        </p:nvSpPr>
        <p:spPr>
          <a:xfrm>
            <a:off x="7153275" y="22288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10DECD6-D14C-4E7D-9EE5-5B5ACE7807F2}"/>
              </a:ext>
            </a:extLst>
          </p:cNvPr>
          <p:cNvSpPr>
            <a:spLocks noGrp="1"/>
          </p:cNvSpPr>
          <p:nvPr/>
        </p:nvSpPr>
        <p:spPr>
          <a:xfrm>
            <a:off x="7553325" y="22479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Scoring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65B235E-A17F-4B15-BBAF-92A529222810}"/>
              </a:ext>
            </a:extLst>
          </p:cNvPr>
          <p:cNvSpPr>
            <a:spLocks noGrp="1"/>
          </p:cNvSpPr>
          <p:nvPr/>
        </p:nvSpPr>
        <p:spPr>
          <a:xfrm>
            <a:off x="7553325" y="2552700"/>
            <a:ext cx="138112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/ RM / expert label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A16B79-A1EF-4E44-852B-CCD44CBD8DFD}"/>
              </a:ext>
            </a:extLst>
          </p:cNvPr>
          <p:cNvSpPr>
            <a:spLocks noGrp="1"/>
          </p:cNvSpPr>
          <p:nvPr/>
        </p:nvSpPr>
        <p:spPr>
          <a:xfrm>
            <a:off x="9077325" y="2781300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20A8A9A-71D7-4871-B8FF-A605C0A1DC47}"/>
              </a:ext>
            </a:extLst>
          </p:cNvPr>
          <p:cNvSpPr>
            <a:spLocks noGrp="1"/>
          </p:cNvSpPr>
          <p:nvPr/>
        </p:nvSpPr>
        <p:spPr>
          <a:xfrm>
            <a:off x="9239250" y="2095500"/>
            <a:ext cx="1952625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177D36-067D-4F00-9263-72C7C7ABC86C}"/>
              </a:ext>
            </a:extLst>
          </p:cNvPr>
          <p:cNvSpPr>
            <a:spLocks noGrp="1"/>
          </p:cNvSpPr>
          <p:nvPr/>
        </p:nvSpPr>
        <p:spPr>
          <a:xfrm>
            <a:off x="9239250" y="2095500"/>
            <a:ext cx="323850" cy="1381125"/>
          </a:xfrm>
          <a:prstGeom prst="rect">
            <a:avLst/>
          </a:prstGeom>
          <a:solidFill>
            <a:srgbClr val="3A7A4E"/>
          </a:solidFill>
          <a:ln w="0">
            <a:solidFill>
              <a:srgbClr val="3A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DA9A11A-5D7F-4A20-B307-3D8B56FCCAAD}"/>
              </a:ext>
            </a:extLst>
          </p:cNvPr>
          <p:cNvSpPr>
            <a:spLocks noGrp="1"/>
          </p:cNvSpPr>
          <p:nvPr/>
        </p:nvSpPr>
        <p:spPr>
          <a:xfrm>
            <a:off x="9296400" y="2228850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E68CE46-9033-4CEB-B171-76137F38EB8F}"/>
              </a:ext>
            </a:extLst>
          </p:cNvPr>
          <p:cNvSpPr>
            <a:spLocks noGrp="1"/>
          </p:cNvSpPr>
          <p:nvPr/>
        </p:nvSpPr>
        <p:spPr>
          <a:xfrm>
            <a:off x="9696450" y="2247900"/>
            <a:ext cx="13811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rPr>
              <a:t>Paired eval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A1B3583-3B93-499A-BE60-5C6476B606E6}"/>
              </a:ext>
            </a:extLst>
          </p:cNvPr>
          <p:cNvSpPr>
            <a:spLocks noGrp="1"/>
          </p:cNvSpPr>
          <p:nvPr/>
        </p:nvSpPr>
        <p:spPr>
          <a:xfrm>
            <a:off x="9696450" y="2552700"/>
            <a:ext cx="1381125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clinician vs agent effect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E15C905-2E9A-4B45-BB18-090DB33AF5A1}"/>
              </a:ext>
            </a:extLst>
          </p:cNvPr>
          <p:cNvSpPr>
            <a:spLocks noGrp="1"/>
          </p:cNvSpPr>
          <p:nvPr/>
        </p:nvSpPr>
        <p:spPr>
          <a:xfrm>
            <a:off x="1285875" y="4095750"/>
            <a:ext cx="152400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72FCF38-6D93-4392-AFC9-130D1B987785}"/>
              </a:ext>
            </a:extLst>
          </p:cNvPr>
          <p:cNvSpPr>
            <a:spLocks noGrp="1"/>
          </p:cNvSpPr>
          <p:nvPr/>
        </p:nvSpPr>
        <p:spPr>
          <a:xfrm>
            <a:off x="1362075" y="4181475"/>
            <a:ext cx="1371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对象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95F8A3C-A8FE-4549-B016-17FBC72218DD}"/>
              </a:ext>
            </a:extLst>
          </p:cNvPr>
          <p:cNvSpPr>
            <a:spLocks noGrp="1"/>
          </p:cNvSpPr>
          <p:nvPr/>
        </p:nvSpPr>
        <p:spPr>
          <a:xfrm>
            <a:off x="2809875" y="4095750"/>
            <a:ext cx="3333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358321-AA01-4C8F-9C5F-758F8A3BDE82}"/>
              </a:ext>
            </a:extLst>
          </p:cNvPr>
          <p:cNvSpPr>
            <a:spLocks noGrp="1"/>
          </p:cNvSpPr>
          <p:nvPr/>
        </p:nvSpPr>
        <p:spPr>
          <a:xfrm>
            <a:off x="2886075" y="4181475"/>
            <a:ext cx="3181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含义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682937-A5F9-4B8D-AB2B-63D3D316AE6A}"/>
              </a:ext>
            </a:extLst>
          </p:cNvPr>
          <p:cNvSpPr>
            <a:spLocks noGrp="1"/>
          </p:cNvSpPr>
          <p:nvPr/>
        </p:nvSpPr>
        <p:spPr>
          <a:xfrm>
            <a:off x="6143625" y="4095750"/>
            <a:ext cx="39052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E130384-8B32-482C-B53D-60262736A58A}"/>
              </a:ext>
            </a:extLst>
          </p:cNvPr>
          <p:cNvSpPr>
            <a:spLocks noGrp="1"/>
          </p:cNvSpPr>
          <p:nvPr/>
        </p:nvSpPr>
        <p:spPr>
          <a:xfrm>
            <a:off x="6219825" y="4181475"/>
            <a:ext cx="3752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来源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25C2602-A196-4FF5-9933-BD77063649A0}"/>
              </a:ext>
            </a:extLst>
          </p:cNvPr>
          <p:cNvSpPr>
            <a:spLocks noGrp="1"/>
          </p:cNvSpPr>
          <p:nvPr/>
        </p:nvSpPr>
        <p:spPr>
          <a:xfrm>
            <a:off x="1285875" y="4438650"/>
            <a:ext cx="152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C005846-906D-49AF-82F2-39D2195BD411}"/>
              </a:ext>
            </a:extLst>
          </p:cNvPr>
          <p:cNvSpPr>
            <a:spLocks noGrp="1"/>
          </p:cNvSpPr>
          <p:nvPr/>
        </p:nvSpPr>
        <p:spPr>
          <a:xfrm>
            <a:off x="1362075" y="4514850"/>
            <a:ext cx="1371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X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386E2A-B0A5-44A6-B7CB-8B1A2973A081}"/>
              </a:ext>
            </a:extLst>
          </p:cNvPr>
          <p:cNvSpPr>
            <a:spLocks noGrp="1"/>
          </p:cNvSpPr>
          <p:nvPr/>
        </p:nvSpPr>
        <p:spPr>
          <a:xfrm>
            <a:off x="2809875" y="4438650"/>
            <a:ext cx="3333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904569D-73BF-451D-93A6-F2D17378B57E}"/>
              </a:ext>
            </a:extLst>
          </p:cNvPr>
          <p:cNvSpPr>
            <a:spLocks noGrp="1"/>
          </p:cNvSpPr>
          <p:nvPr/>
        </p:nvSpPr>
        <p:spPr>
          <a:xfrm>
            <a:off x="2886075" y="4514850"/>
            <a:ext cx="3181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time-zero patient context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CE16AD8-C444-4770-81F9-CB516735A803}"/>
              </a:ext>
            </a:extLst>
          </p:cNvPr>
          <p:cNvSpPr>
            <a:spLocks noGrp="1"/>
          </p:cNvSpPr>
          <p:nvPr/>
        </p:nvSpPr>
        <p:spPr>
          <a:xfrm>
            <a:off x="6143625" y="4438650"/>
            <a:ext cx="3905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A8655E8-3887-48A0-9ACD-C7B945CE7111}"/>
              </a:ext>
            </a:extLst>
          </p:cNvPr>
          <p:cNvSpPr>
            <a:spLocks noGrp="1"/>
          </p:cNvSpPr>
          <p:nvPr/>
        </p:nvSpPr>
        <p:spPr>
          <a:xfrm>
            <a:off x="6219825" y="4514850"/>
            <a:ext cx="3752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dialogue/transcript，不能包含最终诊疗结论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8518EAB-5D82-4890-8B69-E34D005141BE}"/>
              </a:ext>
            </a:extLst>
          </p:cNvPr>
          <p:cNvSpPr>
            <a:spLocks noGrp="1"/>
          </p:cNvSpPr>
          <p:nvPr/>
        </p:nvSpPr>
        <p:spPr>
          <a:xfrm>
            <a:off x="1285875" y="4991100"/>
            <a:ext cx="152400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3EB04B3-1DB4-4089-85AE-321889703BFF}"/>
              </a:ext>
            </a:extLst>
          </p:cNvPr>
          <p:cNvSpPr>
            <a:spLocks noGrp="1"/>
          </p:cNvSpPr>
          <p:nvPr/>
        </p:nvSpPr>
        <p:spPr>
          <a:xfrm>
            <a:off x="1362075" y="5067300"/>
            <a:ext cx="1371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A_b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4B9B02D-9B7A-479B-BF9F-B0B3A076CD2A}"/>
              </a:ext>
            </a:extLst>
          </p:cNvPr>
          <p:cNvSpPr>
            <a:spLocks noGrp="1"/>
          </p:cNvSpPr>
          <p:nvPr/>
        </p:nvSpPr>
        <p:spPr>
          <a:xfrm>
            <a:off x="2809875" y="4991100"/>
            <a:ext cx="33337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FABA354-CC80-4068-8F8B-BD2E2F00A25C}"/>
              </a:ext>
            </a:extLst>
          </p:cNvPr>
          <p:cNvSpPr>
            <a:spLocks noGrp="1"/>
          </p:cNvSpPr>
          <p:nvPr/>
        </p:nvSpPr>
        <p:spPr>
          <a:xfrm>
            <a:off x="2886075" y="5067300"/>
            <a:ext cx="3181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behavior action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E422C-5BE4-4DB5-BF6A-CC5C71161E6A}"/>
              </a:ext>
            </a:extLst>
          </p:cNvPr>
          <p:cNvSpPr>
            <a:spLocks noGrp="1"/>
          </p:cNvSpPr>
          <p:nvPr/>
        </p:nvSpPr>
        <p:spPr>
          <a:xfrm>
            <a:off x="6143625" y="4991100"/>
            <a:ext cx="3905250" cy="5524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577A3A5-275D-4814-A808-888DF269EAA0}"/>
              </a:ext>
            </a:extLst>
          </p:cNvPr>
          <p:cNvSpPr>
            <a:spLocks noGrp="1"/>
          </p:cNvSpPr>
          <p:nvPr/>
        </p:nvSpPr>
        <p:spPr>
          <a:xfrm>
            <a:off x="6219825" y="5067300"/>
            <a:ext cx="3752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医生最终 assessment / diagnosis / plan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573B54F0-E78C-48B3-8533-A240A3BF1EF9}"/>
              </a:ext>
            </a:extLst>
          </p:cNvPr>
          <p:cNvSpPr>
            <a:spLocks noGrp="1"/>
          </p:cNvSpPr>
          <p:nvPr/>
        </p:nvSpPr>
        <p:spPr>
          <a:xfrm>
            <a:off x="1285875" y="5543550"/>
            <a:ext cx="152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5E17BDA-07A5-4711-8BD2-BC27A48EC366}"/>
              </a:ext>
            </a:extLst>
          </p:cNvPr>
          <p:cNvSpPr>
            <a:spLocks noGrp="1"/>
          </p:cNvSpPr>
          <p:nvPr/>
        </p:nvSpPr>
        <p:spPr>
          <a:xfrm>
            <a:off x="1362075" y="5619750"/>
            <a:ext cx="13716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Y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83BC4A5-8301-4291-BFB2-D22EEFCCFB3E}"/>
              </a:ext>
            </a:extLst>
          </p:cNvPr>
          <p:cNvSpPr>
            <a:spLocks noGrp="1"/>
          </p:cNvSpPr>
          <p:nvPr/>
        </p:nvSpPr>
        <p:spPr>
          <a:xfrm>
            <a:off x="2809875" y="5543550"/>
            <a:ext cx="33337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F3422DF0-DBC5-4A09-A425-AF048FA08D16}"/>
              </a:ext>
            </a:extLst>
          </p:cNvPr>
          <p:cNvSpPr>
            <a:spLocks noGrp="1"/>
          </p:cNvSpPr>
          <p:nvPr/>
        </p:nvSpPr>
        <p:spPr>
          <a:xfrm>
            <a:off x="2886075" y="5619750"/>
            <a:ext cx="31813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reward score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699F00-58EF-4DA5-877B-44E71F66044B}"/>
              </a:ext>
            </a:extLst>
          </p:cNvPr>
          <p:cNvSpPr>
            <a:spLocks noGrp="1"/>
          </p:cNvSpPr>
          <p:nvPr/>
        </p:nvSpPr>
        <p:spPr>
          <a:xfrm>
            <a:off x="6143625" y="5543550"/>
            <a:ext cx="390525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3537564-3102-471F-BF09-DD4F850B0546}"/>
              </a:ext>
            </a:extLst>
          </p:cNvPr>
          <p:cNvSpPr>
            <a:spLocks noGrp="1"/>
          </p:cNvSpPr>
          <p:nvPr/>
        </p:nvSpPr>
        <p:spPr>
          <a:xfrm>
            <a:off x="6219825" y="5619750"/>
            <a:ext cx="37528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LLM-as-Judge、Reward Model 或专家标注</a:t>
            </a:r>
          </a:p>
        </p:txBody>
      </p:sp>
    </p:spTree>
    <p:extLst>
      <p:ext uri="{BB962C8B-B14F-4D97-AF65-F5344CB8AC3E}">
        <p14:creationId xmlns:p14="http://schemas.microsoft.com/office/powerpoint/2010/main" val="172370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4A8538D1-EB4D-41B5-92C2-5AF0511E2E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61C3A7-79B5-454F-B958-66EBEEB5E420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AC4FFA-D53F-4BEE-B492-4861D9F28D27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REWARD / RM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FFF387-6845-42EA-999B-3D6AB6797827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Reward Model 只需要学习同一个接口：f(X, A) → Y。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B8E17F-39AE-4E3C-9AC6-E7454BF3B634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当前可以先用 LLM-as-Judge 产出 Y；之后再用 scored rows 训练 RM。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B15533-84BE-45E8-B940-B38723D8413C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94C129-99C7-42AB-80E9-A3212F0EE7D5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README.md scoring commands; configs/rubric_judge.yaml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A5694E-112A-40A1-87D2-A092F5CB8192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1B51A-3420-4BC4-821E-A7139ED0EA12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6ECD53-A78F-4458-B31F-3B2E747A4B1B}"/>
              </a:ext>
            </a:extLst>
          </p:cNvPr>
          <p:cNvSpPr>
            <a:spLocks noGrp="1"/>
          </p:cNvSpPr>
          <p:nvPr/>
        </p:nvSpPr>
        <p:spPr>
          <a:xfrm>
            <a:off x="1143000" y="2238375"/>
            <a:ext cx="323850" cy="13811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E57E3-A735-46CE-9B5D-0E4AF00B7729}"/>
              </a:ext>
            </a:extLst>
          </p:cNvPr>
          <p:cNvSpPr>
            <a:spLocks noGrp="1"/>
          </p:cNvSpPr>
          <p:nvPr/>
        </p:nvSpPr>
        <p:spPr>
          <a:xfrm>
            <a:off x="1200150" y="23717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E68367-165C-4C75-9E29-DCB59D73DAA3}"/>
              </a:ext>
            </a:extLst>
          </p:cNvPr>
          <p:cNvSpPr>
            <a:spLocks noGrp="1"/>
          </p:cNvSpPr>
          <p:nvPr/>
        </p:nvSpPr>
        <p:spPr>
          <a:xfrm>
            <a:off x="1600200" y="23907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Context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6D9AD6-EBC6-40B4-922E-41B7BF9247D8}"/>
              </a:ext>
            </a:extLst>
          </p:cNvPr>
          <p:cNvSpPr>
            <a:spLocks noGrp="1"/>
          </p:cNvSpPr>
          <p:nvPr/>
        </p:nvSpPr>
        <p:spPr>
          <a:xfrm>
            <a:off x="1600200" y="2695575"/>
            <a:ext cx="171450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x_patient_context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D6B8BB-5CEF-46C9-A5A8-3A21F89696AC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228600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98EB0B-A89D-48FC-AFD8-0A7F65A87533}"/>
              </a:ext>
            </a:extLst>
          </p:cNvPr>
          <p:cNvSpPr>
            <a:spLocks noGrp="1"/>
          </p:cNvSpPr>
          <p:nvPr/>
        </p:nvSpPr>
        <p:spPr>
          <a:xfrm>
            <a:off x="3714750" y="2238375"/>
            <a:ext cx="323850" cy="13811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CD13AA-7668-4A65-832A-173118224E10}"/>
              </a:ext>
            </a:extLst>
          </p:cNvPr>
          <p:cNvSpPr>
            <a:spLocks noGrp="1"/>
          </p:cNvSpPr>
          <p:nvPr/>
        </p:nvSpPr>
        <p:spPr>
          <a:xfrm>
            <a:off x="3771900" y="23717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F05006-88B8-45F3-8B12-017A69E34A49}"/>
              </a:ext>
            </a:extLst>
          </p:cNvPr>
          <p:cNvSpPr>
            <a:spLocks noGrp="1"/>
          </p:cNvSpPr>
          <p:nvPr/>
        </p:nvSpPr>
        <p:spPr>
          <a:xfrm>
            <a:off x="4171950" y="23907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Candidate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D0B975-C7BD-433D-BFD8-7DFA7F224BB0}"/>
              </a:ext>
            </a:extLst>
          </p:cNvPr>
          <p:cNvSpPr>
            <a:spLocks noGrp="1"/>
          </p:cNvSpPr>
          <p:nvPr/>
        </p:nvSpPr>
        <p:spPr>
          <a:xfrm>
            <a:off x="4171950" y="2695575"/>
            <a:ext cx="171450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a_clinician 或 a_agent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9C5A2C-DD58-46DD-8BBA-ECDF94A0DC5A}"/>
              </a:ext>
            </a:extLst>
          </p:cNvPr>
          <p:cNvSpPr>
            <a:spLocks noGrp="1"/>
          </p:cNvSpPr>
          <p:nvPr/>
        </p:nvSpPr>
        <p:spPr>
          <a:xfrm>
            <a:off x="6572250" y="2333625"/>
            <a:ext cx="2286000" cy="1190625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6277708-2AE7-44C4-87C5-BAA169D52E5C}"/>
              </a:ext>
            </a:extLst>
          </p:cNvPr>
          <p:cNvSpPr>
            <a:spLocks noGrp="1"/>
          </p:cNvSpPr>
          <p:nvPr/>
        </p:nvSpPr>
        <p:spPr>
          <a:xfrm>
            <a:off x="6953250" y="2571750"/>
            <a:ext cx="1524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Scorer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B85F285-0327-403C-B8EC-F4CBBAB1DCDF}"/>
              </a:ext>
            </a:extLst>
          </p:cNvPr>
          <p:cNvSpPr>
            <a:spLocks noGrp="1"/>
          </p:cNvSpPr>
          <p:nvPr/>
        </p:nvSpPr>
        <p:spPr>
          <a:xfrm>
            <a:off x="6934200" y="3000375"/>
            <a:ext cx="1600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LLM-as-Judge / RM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D4ECD7-1850-4038-8C49-4743F15F0BE8}"/>
              </a:ext>
            </a:extLst>
          </p:cNvPr>
          <p:cNvSpPr>
            <a:spLocks noGrp="1"/>
          </p:cNvSpPr>
          <p:nvPr/>
        </p:nvSpPr>
        <p:spPr>
          <a:xfrm>
            <a:off x="9334500" y="2238375"/>
            <a:ext cx="1619250" cy="1381125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E14075-9C05-4B71-9D25-3B43742EAE81}"/>
              </a:ext>
            </a:extLst>
          </p:cNvPr>
          <p:cNvSpPr>
            <a:spLocks noGrp="1"/>
          </p:cNvSpPr>
          <p:nvPr/>
        </p:nvSpPr>
        <p:spPr>
          <a:xfrm>
            <a:off x="9334500" y="2238375"/>
            <a:ext cx="323850" cy="13811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3E1455-7294-4F66-93C0-B8E0A30E78F6}"/>
              </a:ext>
            </a:extLst>
          </p:cNvPr>
          <p:cNvSpPr>
            <a:spLocks noGrp="1"/>
          </p:cNvSpPr>
          <p:nvPr/>
        </p:nvSpPr>
        <p:spPr>
          <a:xfrm>
            <a:off x="9391650" y="237172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006AD2-BD8A-44A8-BD0D-C3646695501A}"/>
              </a:ext>
            </a:extLst>
          </p:cNvPr>
          <p:cNvSpPr>
            <a:spLocks noGrp="1"/>
          </p:cNvSpPr>
          <p:nvPr/>
        </p:nvSpPr>
        <p:spPr>
          <a:xfrm>
            <a:off x="9791700" y="2390775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Score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3BE97A-EFA2-447A-AE71-4E665E575A07}"/>
              </a:ext>
            </a:extLst>
          </p:cNvPr>
          <p:cNvSpPr>
            <a:spLocks noGrp="1"/>
          </p:cNvSpPr>
          <p:nvPr/>
        </p:nvSpPr>
        <p:spPr>
          <a:xfrm>
            <a:off x="9791700" y="2695575"/>
            <a:ext cx="1047750" cy="6953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y_score ∈ [0,1]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7881B7-3A2F-4B1C-9DD4-BA328CE18690}"/>
              </a:ext>
            </a:extLst>
          </p:cNvPr>
          <p:cNvSpPr>
            <a:spLocks noGrp="1"/>
          </p:cNvSpPr>
          <p:nvPr/>
        </p:nvSpPr>
        <p:spPr>
          <a:xfrm>
            <a:off x="3457575" y="2905125"/>
            <a:ext cx="2286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261081-4F5D-4FBB-B412-300A3955C8FA}"/>
              </a:ext>
            </a:extLst>
          </p:cNvPr>
          <p:cNvSpPr>
            <a:spLocks noGrp="1"/>
          </p:cNvSpPr>
          <p:nvPr/>
        </p:nvSpPr>
        <p:spPr>
          <a:xfrm>
            <a:off x="6048375" y="2905125"/>
            <a:ext cx="47625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2E49B21-0170-4D59-BE9A-98C62D029017}"/>
              </a:ext>
            </a:extLst>
          </p:cNvPr>
          <p:cNvSpPr>
            <a:spLocks noGrp="1"/>
          </p:cNvSpPr>
          <p:nvPr/>
        </p:nvSpPr>
        <p:spPr>
          <a:xfrm>
            <a:off x="8896350" y="2905125"/>
            <a:ext cx="381000" cy="19050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2D25C4-8BB8-4CF3-93C0-E662B6EE6F6A}"/>
              </a:ext>
            </a:extLst>
          </p:cNvPr>
          <p:cNvSpPr>
            <a:spLocks noGrp="1"/>
          </p:cNvSpPr>
          <p:nvPr/>
        </p:nvSpPr>
        <p:spPr>
          <a:xfrm>
            <a:off x="1619250" y="4333875"/>
            <a:ext cx="20002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EAF75DF-8C67-4A28-BF1D-BCF1441520A9}"/>
              </a:ext>
            </a:extLst>
          </p:cNvPr>
          <p:cNvSpPr>
            <a:spLocks noGrp="1"/>
          </p:cNvSpPr>
          <p:nvPr/>
        </p:nvSpPr>
        <p:spPr>
          <a:xfrm>
            <a:off x="1695450" y="4419600"/>
            <a:ext cx="1847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方式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54A17CA-49AE-47FD-9CC2-E93E8082F0F4}"/>
              </a:ext>
            </a:extLst>
          </p:cNvPr>
          <p:cNvSpPr>
            <a:spLocks noGrp="1"/>
          </p:cNvSpPr>
          <p:nvPr/>
        </p:nvSpPr>
        <p:spPr>
          <a:xfrm>
            <a:off x="3619500" y="4333875"/>
            <a:ext cx="3714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674B09F-050C-44C9-B8C2-9A87411852EF}"/>
              </a:ext>
            </a:extLst>
          </p:cNvPr>
          <p:cNvSpPr>
            <a:spLocks noGrp="1"/>
          </p:cNvSpPr>
          <p:nvPr/>
        </p:nvSpPr>
        <p:spPr>
          <a:xfrm>
            <a:off x="3695700" y="4419600"/>
            <a:ext cx="3562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怎么使用数据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D4B6B9-9650-4281-B73B-A9CD834A7A21}"/>
              </a:ext>
            </a:extLst>
          </p:cNvPr>
          <p:cNvSpPr>
            <a:spLocks noGrp="1"/>
          </p:cNvSpPr>
          <p:nvPr/>
        </p:nvSpPr>
        <p:spPr>
          <a:xfrm>
            <a:off x="7334250" y="4333875"/>
            <a:ext cx="323850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B514E26-BEFE-4311-B366-B30DED3BB962}"/>
              </a:ext>
            </a:extLst>
          </p:cNvPr>
          <p:cNvSpPr>
            <a:spLocks noGrp="1"/>
          </p:cNvSpPr>
          <p:nvPr/>
        </p:nvSpPr>
        <p:spPr>
          <a:xfrm>
            <a:off x="7410450" y="4419600"/>
            <a:ext cx="3086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产物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415535-71C8-4AB9-836F-330D4F524DB2}"/>
              </a:ext>
            </a:extLst>
          </p:cNvPr>
          <p:cNvSpPr>
            <a:spLocks noGrp="1"/>
          </p:cNvSpPr>
          <p:nvPr/>
        </p:nvSpPr>
        <p:spPr>
          <a:xfrm>
            <a:off x="1619250" y="4676775"/>
            <a:ext cx="20002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424F07-E44C-470D-A0C0-885E7DC61805}"/>
              </a:ext>
            </a:extLst>
          </p:cNvPr>
          <p:cNvSpPr>
            <a:spLocks noGrp="1"/>
          </p:cNvSpPr>
          <p:nvPr/>
        </p:nvSpPr>
        <p:spPr>
          <a:xfrm>
            <a:off x="1695450" y="4752975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LLM-as-Judge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7A2CD68-2258-4A09-A4DB-ED6DE0E82DF5}"/>
              </a:ext>
            </a:extLst>
          </p:cNvPr>
          <p:cNvSpPr>
            <a:spLocks noGrp="1"/>
          </p:cNvSpPr>
          <p:nvPr/>
        </p:nvSpPr>
        <p:spPr>
          <a:xfrm>
            <a:off x="3619500" y="4676775"/>
            <a:ext cx="37147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A07DC7-AEE9-424D-BAFD-A3A342D1B005}"/>
              </a:ext>
            </a:extLst>
          </p:cNvPr>
          <p:cNvSpPr>
            <a:spLocks noGrp="1"/>
          </p:cNvSpPr>
          <p:nvPr/>
        </p:nvSpPr>
        <p:spPr>
          <a:xfrm>
            <a:off x="3695700" y="4752975"/>
            <a:ext cx="3562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把 (X,A) 输入 rubric prompt 直接评分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D4E27A-2CBC-4B38-A1E6-B053CA28A4D6}"/>
              </a:ext>
            </a:extLst>
          </p:cNvPr>
          <p:cNvSpPr>
            <a:spLocks noGrp="1"/>
          </p:cNvSpPr>
          <p:nvPr/>
        </p:nvSpPr>
        <p:spPr>
          <a:xfrm>
            <a:off x="7334250" y="4676775"/>
            <a:ext cx="3238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E19977B-8CFC-49D8-B2DE-2C948DFACB7F}"/>
              </a:ext>
            </a:extLst>
          </p:cNvPr>
          <p:cNvSpPr>
            <a:spLocks noGrp="1"/>
          </p:cNvSpPr>
          <p:nvPr/>
        </p:nvSpPr>
        <p:spPr>
          <a:xfrm>
            <a:off x="7410450" y="4752975"/>
            <a:ext cx="308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y_score / y_agent_score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48C33C2-602C-463C-B24B-9B70995C01D0}"/>
              </a:ext>
            </a:extLst>
          </p:cNvPr>
          <p:cNvSpPr>
            <a:spLocks noGrp="1"/>
          </p:cNvSpPr>
          <p:nvPr/>
        </p:nvSpPr>
        <p:spPr>
          <a:xfrm>
            <a:off x="1619250" y="5210175"/>
            <a:ext cx="2000250" cy="5334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26BE3E-0452-4E66-92F9-02B34A25975C}"/>
              </a:ext>
            </a:extLst>
          </p:cNvPr>
          <p:cNvSpPr>
            <a:spLocks noGrp="1"/>
          </p:cNvSpPr>
          <p:nvPr/>
        </p:nvSpPr>
        <p:spPr>
          <a:xfrm>
            <a:off x="1695450" y="5286375"/>
            <a:ext cx="18478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Reward Model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A278B64-0BE6-4D86-963A-CF731228C53D}"/>
              </a:ext>
            </a:extLst>
          </p:cNvPr>
          <p:cNvSpPr>
            <a:spLocks noGrp="1"/>
          </p:cNvSpPr>
          <p:nvPr/>
        </p:nvSpPr>
        <p:spPr>
          <a:xfrm>
            <a:off x="3619500" y="5210175"/>
            <a:ext cx="3714750" cy="5334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2611F3F-B9A2-4CFE-9725-738ECC178A96}"/>
              </a:ext>
            </a:extLst>
          </p:cNvPr>
          <p:cNvSpPr>
            <a:spLocks noGrp="1"/>
          </p:cNvSpPr>
          <p:nvPr/>
        </p:nvSpPr>
        <p:spPr>
          <a:xfrm>
            <a:off x="3695700" y="5286375"/>
            <a:ext cx="35623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用 scored rows 监督训练 f(X,A)-&gt;Y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65BD565-DB6F-443C-9F98-DA80CE805B9E}"/>
              </a:ext>
            </a:extLst>
          </p:cNvPr>
          <p:cNvSpPr>
            <a:spLocks noGrp="1"/>
          </p:cNvSpPr>
          <p:nvPr/>
        </p:nvSpPr>
        <p:spPr>
          <a:xfrm>
            <a:off x="7334250" y="5210175"/>
            <a:ext cx="3238500" cy="5334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26DC159-A971-4DDD-B8F9-ED78A103830D}"/>
              </a:ext>
            </a:extLst>
          </p:cNvPr>
          <p:cNvSpPr>
            <a:spLocks noGrp="1"/>
          </p:cNvSpPr>
          <p:nvPr/>
        </p:nvSpPr>
        <p:spPr>
          <a:xfrm>
            <a:off x="7410450" y="5286375"/>
            <a:ext cx="30861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冻结 RM 后批量打分</a:t>
            </a:r>
          </a:p>
        </p:txBody>
      </p:sp>
    </p:spTree>
    <p:extLst>
      <p:ext uri="{BB962C8B-B14F-4D97-AF65-F5344CB8AC3E}">
        <p14:creationId xmlns:p14="http://schemas.microsoft.com/office/powerpoint/2010/main" val="259223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4AD34CF9-A6C1-4751-8525-0436FACE6A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078E41-F787-4F39-8C99-7097909FC4FA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EC81DF-6B35-4F64-9CA7-BACCB4A20472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COUNSELBENCH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39C4CF-396D-4952-8FCC-0714D6A39FF4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构造：专家标注聚合，而不是 LLM judge。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3140BA-CA55-43B2-B750-395FEF4FF9F4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human response 做 baseline；gpt4 / llama3 / gemini 做 target responders。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572D68-BE41-4200-B663-368F25A6127D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CEB5AF-76ED-4255-BE59-51AFBAB69490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src/cce_data/counselbench.py; data/counselbench/manifest.json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D65882-91E8-4965-8A81-19A0A2AD61E7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30343B-A1BE-43A6-AAED-759D6E11D835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CB78B8-8C90-41AF-8A6B-9455F87216AA}"/>
              </a:ext>
            </a:extLst>
          </p:cNvPr>
          <p:cNvSpPr>
            <a:spLocks noGrp="1"/>
          </p:cNvSpPr>
          <p:nvPr/>
        </p:nvSpPr>
        <p:spPr>
          <a:xfrm>
            <a:off x="838200" y="2047875"/>
            <a:ext cx="2000250" cy="47625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F1F1F0C-5DD2-4E9D-AAB6-C09F3E73A9D7}"/>
              </a:ext>
            </a:extLst>
          </p:cNvPr>
          <p:cNvSpPr>
            <a:spLocks noGrp="1"/>
          </p:cNvSpPr>
          <p:nvPr/>
        </p:nvSpPr>
        <p:spPr>
          <a:xfrm>
            <a:off x="1009650" y="2257425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2,000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EAC085-2DD7-4B60-8317-A4EA9E889BF5}"/>
              </a:ext>
            </a:extLst>
          </p:cNvPr>
          <p:cNvSpPr>
            <a:spLocks noGrp="1"/>
          </p:cNvSpPr>
          <p:nvPr/>
        </p:nvSpPr>
        <p:spPr>
          <a:xfrm>
            <a:off x="1009650" y="26574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raw annotation rows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CA3522-F7F3-49EE-89FD-90B4B00E90F0}"/>
              </a:ext>
            </a:extLst>
          </p:cNvPr>
          <p:cNvSpPr>
            <a:spLocks noGrp="1"/>
          </p:cNvSpPr>
          <p:nvPr/>
        </p:nvSpPr>
        <p:spPr>
          <a:xfrm>
            <a:off x="3095625" y="2047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8B8863-EB6E-430D-8BD7-E67EDFCFAAD1}"/>
              </a:ext>
            </a:extLst>
          </p:cNvPr>
          <p:cNvSpPr>
            <a:spLocks noGrp="1"/>
          </p:cNvSpPr>
          <p:nvPr/>
        </p:nvSpPr>
        <p:spPr>
          <a:xfrm>
            <a:off x="3095625" y="2047875"/>
            <a:ext cx="2000250" cy="47625"/>
          </a:xfrm>
          <a:prstGeom prst="rect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FAB499-349F-4B03-AE0C-A8EFCD94C342}"/>
              </a:ext>
            </a:extLst>
          </p:cNvPr>
          <p:cNvSpPr>
            <a:spLocks noGrp="1"/>
          </p:cNvSpPr>
          <p:nvPr/>
        </p:nvSpPr>
        <p:spPr>
          <a:xfrm>
            <a:off x="3267075" y="2257425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400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780C38-A997-4D04-BB26-AD4F2748FC3F}"/>
              </a:ext>
            </a:extLst>
          </p:cNvPr>
          <p:cNvSpPr>
            <a:spLocks noGrp="1"/>
          </p:cNvSpPr>
          <p:nvPr/>
        </p:nvSpPr>
        <p:spPr>
          <a:xfrm>
            <a:off x="3267075" y="26574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aggregated rows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A684BE-36F1-4BA5-941C-5309B1356625}"/>
              </a:ext>
            </a:extLst>
          </p:cNvPr>
          <p:cNvSpPr>
            <a:spLocks noGrp="1"/>
          </p:cNvSpPr>
          <p:nvPr/>
        </p:nvSpPr>
        <p:spPr>
          <a:xfrm>
            <a:off x="5353050" y="2047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805D141-00F1-4283-845B-39585AA48237}"/>
              </a:ext>
            </a:extLst>
          </p:cNvPr>
          <p:cNvSpPr>
            <a:spLocks noGrp="1"/>
          </p:cNvSpPr>
          <p:nvPr/>
        </p:nvSpPr>
        <p:spPr>
          <a:xfrm>
            <a:off x="5353050" y="2047875"/>
            <a:ext cx="2000250" cy="47625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AC9C12-68E7-4B36-82F9-2F7B4669DEA6}"/>
              </a:ext>
            </a:extLst>
          </p:cNvPr>
          <p:cNvSpPr>
            <a:spLocks noGrp="1"/>
          </p:cNvSpPr>
          <p:nvPr/>
        </p:nvSpPr>
        <p:spPr>
          <a:xfrm>
            <a:off x="5524500" y="2257425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D9B170-1892-440D-9D05-C47614FC8C90}"/>
              </a:ext>
            </a:extLst>
          </p:cNvPr>
          <p:cNvSpPr>
            <a:spLocks noGrp="1"/>
          </p:cNvSpPr>
          <p:nvPr/>
        </p:nvSpPr>
        <p:spPr>
          <a:xfrm>
            <a:off x="5524500" y="26574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human baseline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C956BA5-4D74-4F27-A6C2-11B5044AE59F}"/>
              </a:ext>
            </a:extLst>
          </p:cNvPr>
          <p:cNvSpPr>
            <a:spLocks noGrp="1"/>
          </p:cNvSpPr>
          <p:nvPr/>
        </p:nvSpPr>
        <p:spPr>
          <a:xfrm>
            <a:off x="7610475" y="2047875"/>
            <a:ext cx="2000250" cy="1047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705377-2FFC-4DF0-B09F-2FEAA77A26E9}"/>
              </a:ext>
            </a:extLst>
          </p:cNvPr>
          <p:cNvSpPr>
            <a:spLocks noGrp="1"/>
          </p:cNvSpPr>
          <p:nvPr/>
        </p:nvSpPr>
        <p:spPr>
          <a:xfrm>
            <a:off x="7610475" y="2047875"/>
            <a:ext cx="2000250" cy="47625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2BB1CB-997B-41C0-B9A9-DCD3E7745681}"/>
              </a:ext>
            </a:extLst>
          </p:cNvPr>
          <p:cNvSpPr>
            <a:spLocks noGrp="1"/>
          </p:cNvSpPr>
          <p:nvPr/>
        </p:nvSpPr>
        <p:spPr>
          <a:xfrm>
            <a:off x="7781925" y="2257425"/>
            <a:ext cx="16573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3×100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B2C787-2ED6-4BEF-8C20-29B095C289DA}"/>
              </a:ext>
            </a:extLst>
          </p:cNvPr>
          <p:cNvSpPr>
            <a:spLocks noGrp="1"/>
          </p:cNvSpPr>
          <p:nvPr/>
        </p:nvSpPr>
        <p:spPr>
          <a:xfrm>
            <a:off x="7781925" y="2657475"/>
            <a:ext cx="1657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7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target pairs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07234C-DF4F-4D91-887E-F5C1568439F9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22860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F496DB-A570-4278-BA5B-370E78EEB438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323850" cy="123825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A0C8AC0-D355-426A-AD21-090B06797EE8}"/>
              </a:ext>
            </a:extLst>
          </p:cNvPr>
          <p:cNvSpPr>
            <a:spLocks noGrp="1"/>
          </p:cNvSpPr>
          <p:nvPr/>
        </p:nvSpPr>
        <p:spPr>
          <a:xfrm>
            <a:off x="962025" y="39909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81E3DB5-E5BC-4657-B938-FFC505757733}"/>
              </a:ext>
            </a:extLst>
          </p:cNvPr>
          <p:cNvSpPr>
            <a:spLocks noGrp="1"/>
          </p:cNvSpPr>
          <p:nvPr/>
        </p:nvSpPr>
        <p:spPr>
          <a:xfrm>
            <a:off x="1362075" y="40100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Aggregate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A2F8B3-2106-4B90-885E-7D748D097F6F}"/>
              </a:ext>
            </a:extLst>
          </p:cNvPr>
          <p:cNvSpPr>
            <a:spLocks noGrp="1"/>
          </p:cNvSpPr>
          <p:nvPr/>
        </p:nvSpPr>
        <p:spPr>
          <a:xfrm>
            <a:off x="1362075" y="4314825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groupby(questionID, responder)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平均 5 个 expert annotations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3E96EBD-BECF-4F18-AEE7-005C1273E4A3}"/>
              </a:ext>
            </a:extLst>
          </p:cNvPr>
          <p:cNvSpPr>
            <a:spLocks noGrp="1"/>
          </p:cNvSpPr>
          <p:nvPr/>
        </p:nvSpPr>
        <p:spPr>
          <a:xfrm>
            <a:off x="3619500" y="3857625"/>
            <a:ext cx="22860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08D06E-4AB2-4F9E-905F-1635501FE369}"/>
              </a:ext>
            </a:extLst>
          </p:cNvPr>
          <p:cNvSpPr>
            <a:spLocks noGrp="1"/>
          </p:cNvSpPr>
          <p:nvPr/>
        </p:nvSpPr>
        <p:spPr>
          <a:xfrm>
            <a:off x="3619500" y="3857625"/>
            <a:ext cx="323850" cy="1238250"/>
          </a:xfrm>
          <a:prstGeom prst="rect">
            <a:avLst/>
          </a:prstGeom>
          <a:solidFill>
            <a:srgbClr val="2E5E8E"/>
          </a:solidFill>
          <a:ln w="0">
            <a:solidFill>
              <a:srgbClr val="2E5E8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FB9C42D-3DF5-4462-A9E9-182116C97268}"/>
              </a:ext>
            </a:extLst>
          </p:cNvPr>
          <p:cNvSpPr>
            <a:spLocks noGrp="1"/>
          </p:cNvSpPr>
          <p:nvPr/>
        </p:nvSpPr>
        <p:spPr>
          <a:xfrm>
            <a:off x="3676650" y="39909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647071-43F8-4CB1-81AC-475733C3D846}"/>
              </a:ext>
            </a:extLst>
          </p:cNvPr>
          <p:cNvSpPr>
            <a:spLocks noGrp="1"/>
          </p:cNvSpPr>
          <p:nvPr/>
        </p:nvSpPr>
        <p:spPr>
          <a:xfrm>
            <a:off x="4076700" y="40100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Build baseline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623E2E2-2A66-4763-8739-FBA80E778A24}"/>
              </a:ext>
            </a:extLst>
          </p:cNvPr>
          <p:cNvSpPr>
            <a:spLocks noGrp="1"/>
          </p:cNvSpPr>
          <p:nvPr/>
        </p:nvSpPr>
        <p:spPr>
          <a:xfrm>
            <a:off x="4076700" y="4314825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100 human therapist responses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写成 canonical Phase 2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0585550-99B3-4FAE-9626-4AE9273DFEC6}"/>
              </a:ext>
            </a:extLst>
          </p:cNvPr>
          <p:cNvSpPr>
            <a:spLocks noGrp="1"/>
          </p:cNvSpPr>
          <p:nvPr/>
        </p:nvSpPr>
        <p:spPr>
          <a:xfrm>
            <a:off x="6334125" y="3857625"/>
            <a:ext cx="228600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FFFF16-87F9-482C-A78A-1376E8705A4F}"/>
              </a:ext>
            </a:extLst>
          </p:cNvPr>
          <p:cNvSpPr>
            <a:spLocks noGrp="1"/>
          </p:cNvSpPr>
          <p:nvPr/>
        </p:nvSpPr>
        <p:spPr>
          <a:xfrm>
            <a:off x="6334125" y="3857625"/>
            <a:ext cx="323850" cy="123825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C6076E9-80B4-4742-9513-709626EC7196}"/>
              </a:ext>
            </a:extLst>
          </p:cNvPr>
          <p:cNvSpPr>
            <a:spLocks noGrp="1"/>
          </p:cNvSpPr>
          <p:nvPr/>
        </p:nvSpPr>
        <p:spPr>
          <a:xfrm>
            <a:off x="6391275" y="39909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7C49ED8-F157-4AEC-9328-7DE36FA75354}"/>
              </a:ext>
            </a:extLst>
          </p:cNvPr>
          <p:cNvSpPr>
            <a:spLocks noGrp="1"/>
          </p:cNvSpPr>
          <p:nvPr/>
        </p:nvSpPr>
        <p:spPr>
          <a:xfrm>
            <a:off x="6791325" y="401002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Pair targets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244FFE0-F8FF-4D5B-BE31-9E32BC59B4B1}"/>
              </a:ext>
            </a:extLst>
          </p:cNvPr>
          <p:cNvSpPr>
            <a:spLocks noGrp="1"/>
          </p:cNvSpPr>
          <p:nvPr/>
        </p:nvSpPr>
        <p:spPr>
          <a:xfrm>
            <a:off x="6791325" y="4314825"/>
            <a:ext cx="1714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gpt4 / llama3 / gemini</a:t>
            </a:r>
          </a:p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各 100 paired rows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9FEA0F4-7281-42A0-A5F6-8D72258894A2}"/>
              </a:ext>
            </a:extLst>
          </p:cNvPr>
          <p:cNvSpPr>
            <a:spLocks noGrp="1"/>
          </p:cNvSpPr>
          <p:nvPr/>
        </p:nvSpPr>
        <p:spPr>
          <a:xfrm>
            <a:off x="9048750" y="3857625"/>
            <a:ext cx="1809750" cy="1238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E9DE3C0-2481-45B3-B9A4-B4F2B206693A}"/>
              </a:ext>
            </a:extLst>
          </p:cNvPr>
          <p:cNvSpPr>
            <a:spLocks noGrp="1"/>
          </p:cNvSpPr>
          <p:nvPr/>
        </p:nvSpPr>
        <p:spPr>
          <a:xfrm>
            <a:off x="9048750" y="3857625"/>
            <a:ext cx="323850" cy="1238250"/>
          </a:xfrm>
          <a:prstGeom prst="rect">
            <a:avLst/>
          </a:prstGeom>
          <a:solidFill>
            <a:srgbClr val="3A7A4E"/>
          </a:solidFill>
          <a:ln w="0">
            <a:solidFill>
              <a:srgbClr val="3A7A4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ADA90A-1129-4A68-AADB-132740516796}"/>
              </a:ext>
            </a:extLst>
          </p:cNvPr>
          <p:cNvSpPr>
            <a:spLocks noGrp="1"/>
          </p:cNvSpPr>
          <p:nvPr/>
        </p:nvSpPr>
        <p:spPr>
          <a:xfrm>
            <a:off x="9105900" y="3990975"/>
            <a:ext cx="209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26F6C0B-A9CA-4F5A-A6FC-2E2B47A3B776}"/>
              </a:ext>
            </a:extLst>
          </p:cNvPr>
          <p:cNvSpPr>
            <a:spLocks noGrp="1"/>
          </p:cNvSpPr>
          <p:nvPr/>
        </p:nvSpPr>
        <p:spPr>
          <a:xfrm>
            <a:off x="9505950" y="40100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1">
                <a:solidFill>
                  <a:srgbClr val="3A7A4E"/>
                </a:solidFill>
                <a:latin typeface="Arial Unicode MS"/>
                <a:ea typeface="Arial Unicode MS"/>
                <a:cs typeface="Arial Unicode MS"/>
              </a:rPr>
              <a:t>Effect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EBA2099-51A1-4EFB-BE06-6459D278E761}"/>
              </a:ext>
            </a:extLst>
          </p:cNvPr>
          <p:cNvSpPr>
            <a:spLocks noGrp="1"/>
          </p:cNvSpPr>
          <p:nvPr/>
        </p:nvSpPr>
        <p:spPr>
          <a:xfrm>
            <a:off x="9505950" y="4314825"/>
            <a:ext cx="1238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V_agent - V_b</a:t>
            </a:r>
          </a:p>
        </p:txBody>
      </p:sp>
    </p:spTree>
    <p:extLst>
      <p:ext uri="{BB962C8B-B14F-4D97-AF65-F5344CB8AC3E}">
        <p14:creationId xmlns:p14="http://schemas.microsoft.com/office/powerpoint/2010/main" val="186307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Rectangle 80">
            <a:extLst>
              <a:ext uri="{FF2B5EF4-FFF2-40B4-BE49-F238E27FC236}">
                <a16:creationId xmlns:a16="http://schemas.microsoft.com/office/drawing/2014/main" id="{68A4F202-EE55-4C44-8502-3E4398457B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430CD6-9F7F-4A49-A4D3-7C58E582970D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B88A2E"/>
          </a:solidFill>
          <a:ln w="0">
            <a:solidFill>
              <a:srgbClr val="B88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C2AEF9-64F4-441D-9281-71085D90AE81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DIFFERENCE TABLE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6D25A1-24C3-4803-89BE-DFA605A75C0D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CounselBench 与前四类 source 的构造差异。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942E0A-4059-43E6-BEB7-11AAF5590856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重点看 domain、A 的定义、Y 的来源。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9F963B-F089-4C5F-AB01-7FA4944BAA33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B96367-45C0-415A-9930-E2F4E8C920DA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docs/phase2_data_construction_review.md; src/cce_data/counselbench.py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42F173-D273-4C72-8BF1-3CFAAB6728EF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CB4C2D2-C672-445F-94DB-C7F7A668CA0F}"/>
              </a:ext>
            </a:extLst>
          </p:cNvPr>
          <p:cNvSpPr>
            <a:spLocks noGrp="1"/>
          </p:cNvSpPr>
          <p:nvPr/>
        </p:nvSpPr>
        <p:spPr>
          <a:xfrm>
            <a:off x="457200" y="1952625"/>
            <a:ext cx="12382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F077B0-B361-4BD2-8B61-77D1CBF39E82}"/>
              </a:ext>
            </a:extLst>
          </p:cNvPr>
          <p:cNvSpPr>
            <a:spLocks noGrp="1"/>
          </p:cNvSpPr>
          <p:nvPr/>
        </p:nvSpPr>
        <p:spPr>
          <a:xfrm>
            <a:off x="533400" y="2038350"/>
            <a:ext cx="10858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Source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12E8D9-FE98-4101-8A4C-E94A3388FB42}"/>
              </a:ext>
            </a:extLst>
          </p:cNvPr>
          <p:cNvSpPr>
            <a:spLocks noGrp="1"/>
          </p:cNvSpPr>
          <p:nvPr/>
        </p:nvSpPr>
        <p:spPr>
          <a:xfrm>
            <a:off x="1695450" y="1952625"/>
            <a:ext cx="1809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F63DA9-CECC-447E-9163-C5FC088EA25B}"/>
              </a:ext>
            </a:extLst>
          </p:cNvPr>
          <p:cNvSpPr>
            <a:spLocks noGrp="1"/>
          </p:cNvSpPr>
          <p:nvPr/>
        </p:nvSpPr>
        <p:spPr>
          <a:xfrm>
            <a:off x="1771650" y="2038350"/>
            <a:ext cx="1657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Domain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C9569C-E37D-469B-B055-EA4D23A542BA}"/>
              </a:ext>
            </a:extLst>
          </p:cNvPr>
          <p:cNvSpPr>
            <a:spLocks noGrp="1"/>
          </p:cNvSpPr>
          <p:nvPr/>
        </p:nvSpPr>
        <p:spPr>
          <a:xfrm>
            <a:off x="3505200" y="1952625"/>
            <a:ext cx="2571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BB8382-C065-468B-9A74-2C6B6D2AB3F7}"/>
              </a:ext>
            </a:extLst>
          </p:cNvPr>
          <p:cNvSpPr>
            <a:spLocks noGrp="1"/>
          </p:cNvSpPr>
          <p:nvPr/>
        </p:nvSpPr>
        <p:spPr>
          <a:xfrm>
            <a:off x="3581400" y="203835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52D5BD3-B801-4AA5-BA42-FB25DCB6ACC5}"/>
              </a:ext>
            </a:extLst>
          </p:cNvPr>
          <p:cNvSpPr>
            <a:spLocks noGrp="1"/>
          </p:cNvSpPr>
          <p:nvPr/>
        </p:nvSpPr>
        <p:spPr>
          <a:xfrm>
            <a:off x="6076950" y="1952625"/>
            <a:ext cx="257175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256AF-F94E-4D41-8B6D-411D2044163F}"/>
              </a:ext>
            </a:extLst>
          </p:cNvPr>
          <p:cNvSpPr>
            <a:spLocks noGrp="1"/>
          </p:cNvSpPr>
          <p:nvPr/>
        </p:nvSpPr>
        <p:spPr>
          <a:xfrm>
            <a:off x="6153150" y="2038350"/>
            <a:ext cx="24193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 / response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6CF4CA-DCB3-4AC1-9071-F10C3491A28C}"/>
              </a:ext>
            </a:extLst>
          </p:cNvPr>
          <p:cNvSpPr>
            <a:spLocks noGrp="1"/>
          </p:cNvSpPr>
          <p:nvPr/>
        </p:nvSpPr>
        <p:spPr>
          <a:xfrm>
            <a:off x="8648700" y="1952625"/>
            <a:ext cx="209550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AAB5EC-4A5B-4A47-82AB-2518CAEB0B73}"/>
              </a:ext>
            </a:extLst>
          </p:cNvPr>
          <p:cNvSpPr>
            <a:spLocks noGrp="1"/>
          </p:cNvSpPr>
          <p:nvPr/>
        </p:nvSpPr>
        <p:spPr>
          <a:xfrm>
            <a:off x="8724900" y="2038350"/>
            <a:ext cx="1943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Y / reward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2D1C08-7F68-495C-AAE4-F14C2097F53A}"/>
              </a:ext>
            </a:extLst>
          </p:cNvPr>
          <p:cNvSpPr>
            <a:spLocks noGrp="1"/>
          </p:cNvSpPr>
          <p:nvPr/>
        </p:nvSpPr>
        <p:spPr>
          <a:xfrm>
            <a:off x="10744200" y="1952625"/>
            <a:ext cx="1143000" cy="34290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0EE7E9-7798-4804-BEB5-13E5E90B8B71}"/>
              </a:ext>
            </a:extLst>
          </p:cNvPr>
          <p:cNvSpPr>
            <a:spLocks noGrp="1"/>
          </p:cNvSpPr>
          <p:nvPr/>
        </p:nvSpPr>
        <p:spPr>
          <a:xfrm>
            <a:off x="10820400" y="2038350"/>
            <a:ext cx="9906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状态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AF55BC7-CC71-4EB5-8768-3D94D636A74E}"/>
              </a:ext>
            </a:extLst>
          </p:cNvPr>
          <p:cNvSpPr>
            <a:spLocks noGrp="1"/>
          </p:cNvSpPr>
          <p:nvPr/>
        </p:nvSpPr>
        <p:spPr>
          <a:xfrm>
            <a:off x="457200" y="2295525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BD6188-5885-4E95-AEC3-FFF52B7D1E0D}"/>
              </a:ext>
            </a:extLst>
          </p:cNvPr>
          <p:cNvSpPr>
            <a:spLocks noGrp="1"/>
          </p:cNvSpPr>
          <p:nvPr/>
        </p:nvSpPr>
        <p:spPr>
          <a:xfrm>
            <a:off x="533400" y="237172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0F766E"/>
                </a:solidFill>
                <a:latin typeface="Arial Unicode MS"/>
                <a:ea typeface="Arial Unicode MS"/>
                <a:cs typeface="Arial Unicode MS"/>
              </a:rPr>
              <a:t>ACI-Bench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7E63625-627D-4C2A-AB0B-2A9E10ABF8EF}"/>
              </a:ext>
            </a:extLst>
          </p:cNvPr>
          <p:cNvSpPr>
            <a:spLocks noGrp="1"/>
          </p:cNvSpPr>
          <p:nvPr/>
        </p:nvSpPr>
        <p:spPr>
          <a:xfrm>
            <a:off x="1695450" y="22955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948E6E-4CC9-4834-9444-1DC5B2D159D9}"/>
              </a:ext>
            </a:extLst>
          </p:cNvPr>
          <p:cNvSpPr>
            <a:spLocks noGrp="1"/>
          </p:cNvSpPr>
          <p:nvPr/>
        </p:nvSpPr>
        <p:spPr>
          <a:xfrm>
            <a:off x="1771650" y="237172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clinical encounter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582F882-4A1B-4FD6-A28E-8D711DD15CA5}"/>
              </a:ext>
            </a:extLst>
          </p:cNvPr>
          <p:cNvSpPr>
            <a:spLocks noGrp="1"/>
          </p:cNvSpPr>
          <p:nvPr/>
        </p:nvSpPr>
        <p:spPr>
          <a:xfrm>
            <a:off x="3505200" y="22955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F1F196-49A1-404E-82B7-33F68F4EA023}"/>
              </a:ext>
            </a:extLst>
          </p:cNvPr>
          <p:cNvSpPr>
            <a:spLocks noGrp="1"/>
          </p:cNvSpPr>
          <p:nvPr/>
        </p:nvSpPr>
        <p:spPr>
          <a:xfrm>
            <a:off x="3581400" y="23717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full dialogue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EA0ECB-C1F0-4D4E-AD3B-8BCE77429A74}"/>
              </a:ext>
            </a:extLst>
          </p:cNvPr>
          <p:cNvSpPr>
            <a:spLocks noGrp="1"/>
          </p:cNvSpPr>
          <p:nvPr/>
        </p:nvSpPr>
        <p:spPr>
          <a:xfrm>
            <a:off x="6076950" y="22955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BCACB56-C2FA-44E2-B917-0DF53BA31B4E}"/>
              </a:ext>
            </a:extLst>
          </p:cNvPr>
          <p:cNvSpPr>
            <a:spLocks noGrp="1"/>
          </p:cNvSpPr>
          <p:nvPr/>
        </p:nvSpPr>
        <p:spPr>
          <a:xfrm>
            <a:off x="6153150" y="23717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note 中的 assessment / plan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3E1569-C473-44D3-8091-4A412BC934C5}"/>
              </a:ext>
            </a:extLst>
          </p:cNvPr>
          <p:cNvSpPr>
            <a:spLocks noGrp="1"/>
          </p:cNvSpPr>
          <p:nvPr/>
        </p:nvSpPr>
        <p:spPr>
          <a:xfrm>
            <a:off x="8648700" y="2295525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DD7CF3-EB1C-4263-8F66-4ED97A936195}"/>
              </a:ext>
            </a:extLst>
          </p:cNvPr>
          <p:cNvSpPr>
            <a:spLocks noGrp="1"/>
          </p:cNvSpPr>
          <p:nvPr/>
        </p:nvSpPr>
        <p:spPr>
          <a:xfrm>
            <a:off x="8724900" y="237172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/ RM score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41AC61A-433F-4F2A-B26E-059A484A7B7E}"/>
              </a:ext>
            </a:extLst>
          </p:cNvPr>
          <p:cNvSpPr>
            <a:spLocks noGrp="1"/>
          </p:cNvSpPr>
          <p:nvPr/>
        </p:nvSpPr>
        <p:spPr>
          <a:xfrm>
            <a:off x="10744200" y="2295525"/>
            <a:ext cx="1143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DFB731F-0D40-4F30-8020-AA583F2D5137}"/>
              </a:ext>
            </a:extLst>
          </p:cNvPr>
          <p:cNvSpPr>
            <a:spLocks noGrp="1"/>
          </p:cNvSpPr>
          <p:nvPr/>
        </p:nvSpPr>
        <p:spPr>
          <a:xfrm>
            <a:off x="10820400" y="237172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207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5D2B4C-7D2D-4749-870D-67B2D54F17C7}"/>
              </a:ext>
            </a:extLst>
          </p:cNvPr>
          <p:cNvSpPr>
            <a:spLocks noGrp="1"/>
          </p:cNvSpPr>
          <p:nvPr/>
        </p:nvSpPr>
        <p:spPr>
          <a:xfrm>
            <a:off x="457200" y="2886075"/>
            <a:ext cx="12382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AD033A-FA9D-4419-9E2C-BDCBF48905BD}"/>
              </a:ext>
            </a:extLst>
          </p:cNvPr>
          <p:cNvSpPr>
            <a:spLocks noGrp="1"/>
          </p:cNvSpPr>
          <p:nvPr/>
        </p:nvSpPr>
        <p:spPr>
          <a:xfrm>
            <a:off x="533400" y="296227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MTS-Dialog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ED91ED8-99D2-439B-BDA5-005584DE8B4C}"/>
              </a:ext>
            </a:extLst>
          </p:cNvPr>
          <p:cNvSpPr>
            <a:spLocks noGrp="1"/>
          </p:cNvSpPr>
          <p:nvPr/>
        </p:nvSpPr>
        <p:spPr>
          <a:xfrm>
            <a:off x="1695450" y="2886075"/>
            <a:ext cx="1809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D422DA8-5072-4DF3-89C2-0BEEBD5BC15B}"/>
              </a:ext>
            </a:extLst>
          </p:cNvPr>
          <p:cNvSpPr>
            <a:spLocks noGrp="1"/>
          </p:cNvSpPr>
          <p:nvPr/>
        </p:nvSpPr>
        <p:spPr>
          <a:xfrm>
            <a:off x="1771650" y="296227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clinical dialogue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D79C69-C0E1-4A01-8406-13F0248412EA}"/>
              </a:ext>
            </a:extLst>
          </p:cNvPr>
          <p:cNvSpPr>
            <a:spLocks noGrp="1"/>
          </p:cNvSpPr>
          <p:nvPr/>
        </p:nvSpPr>
        <p:spPr>
          <a:xfrm>
            <a:off x="3505200" y="2886075"/>
            <a:ext cx="2571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485D0F6-EB97-4A29-B753-99C4126A1B55}"/>
              </a:ext>
            </a:extLst>
          </p:cNvPr>
          <p:cNvSpPr>
            <a:spLocks noGrp="1"/>
          </p:cNvSpPr>
          <p:nvPr/>
        </p:nvSpPr>
        <p:spPr>
          <a:xfrm>
            <a:off x="3581400" y="296227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short dialogue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698F217-B761-4432-AB17-4C308DFA304C}"/>
              </a:ext>
            </a:extLst>
          </p:cNvPr>
          <p:cNvSpPr>
            <a:spLocks noGrp="1"/>
          </p:cNvSpPr>
          <p:nvPr/>
        </p:nvSpPr>
        <p:spPr>
          <a:xfrm>
            <a:off x="6076950" y="2886075"/>
            <a:ext cx="2571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BB00C34-9EBC-4E06-ABCD-B7EE7D7B6801}"/>
              </a:ext>
            </a:extLst>
          </p:cNvPr>
          <p:cNvSpPr>
            <a:spLocks noGrp="1"/>
          </p:cNvSpPr>
          <p:nvPr/>
        </p:nvSpPr>
        <p:spPr>
          <a:xfrm>
            <a:off x="6153150" y="296227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action-like section summary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98B4C1E-8397-40F1-9148-9CEAEA176584}"/>
              </a:ext>
            </a:extLst>
          </p:cNvPr>
          <p:cNvSpPr>
            <a:spLocks noGrp="1"/>
          </p:cNvSpPr>
          <p:nvPr/>
        </p:nvSpPr>
        <p:spPr>
          <a:xfrm>
            <a:off x="8648700" y="2886075"/>
            <a:ext cx="20955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B4E695F-AAFF-49DE-B119-A5354A0C9109}"/>
              </a:ext>
            </a:extLst>
          </p:cNvPr>
          <p:cNvSpPr>
            <a:spLocks noGrp="1"/>
          </p:cNvSpPr>
          <p:nvPr/>
        </p:nvSpPr>
        <p:spPr>
          <a:xfrm>
            <a:off x="8724900" y="296227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/ RM score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CCEDCB-909A-4933-B671-84F92B437106}"/>
              </a:ext>
            </a:extLst>
          </p:cNvPr>
          <p:cNvSpPr>
            <a:spLocks noGrp="1"/>
          </p:cNvSpPr>
          <p:nvPr/>
        </p:nvSpPr>
        <p:spPr>
          <a:xfrm>
            <a:off x="10744200" y="2886075"/>
            <a:ext cx="11430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CDDC23E-34D6-4CB3-B970-59BF9256B720}"/>
              </a:ext>
            </a:extLst>
          </p:cNvPr>
          <p:cNvSpPr>
            <a:spLocks noGrp="1"/>
          </p:cNvSpPr>
          <p:nvPr/>
        </p:nvSpPr>
        <p:spPr>
          <a:xfrm>
            <a:off x="10820400" y="296227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142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0F5AC64-9914-4EE9-B96D-43F3A21DCDA8}"/>
              </a:ext>
            </a:extLst>
          </p:cNvPr>
          <p:cNvSpPr>
            <a:spLocks noGrp="1"/>
          </p:cNvSpPr>
          <p:nvPr/>
        </p:nvSpPr>
        <p:spPr>
          <a:xfrm>
            <a:off x="457200" y="3476625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08B9E39-A979-4D46-8AF7-E1B19B1BD68C}"/>
              </a:ext>
            </a:extLst>
          </p:cNvPr>
          <p:cNvSpPr>
            <a:spLocks noGrp="1"/>
          </p:cNvSpPr>
          <p:nvPr/>
        </p:nvSpPr>
        <p:spPr>
          <a:xfrm>
            <a:off x="533400" y="355282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PriMock57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DB629A-743C-491C-AF9E-F46C9D5F2198}"/>
              </a:ext>
            </a:extLst>
          </p:cNvPr>
          <p:cNvSpPr>
            <a:spLocks noGrp="1"/>
          </p:cNvSpPr>
          <p:nvPr/>
        </p:nvSpPr>
        <p:spPr>
          <a:xfrm>
            <a:off x="1695450" y="34766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F52119D-0C31-4AD4-BD48-34584B83AF05}"/>
              </a:ext>
            </a:extLst>
          </p:cNvPr>
          <p:cNvSpPr>
            <a:spLocks noGrp="1"/>
          </p:cNvSpPr>
          <p:nvPr/>
        </p:nvSpPr>
        <p:spPr>
          <a:xfrm>
            <a:off x="1771650" y="355282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mock primary care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3FC7772-0D8B-4770-9ACE-FCF9ED3C87CA}"/>
              </a:ext>
            </a:extLst>
          </p:cNvPr>
          <p:cNvSpPr>
            <a:spLocks noGrp="1"/>
          </p:cNvSpPr>
          <p:nvPr/>
        </p:nvSpPr>
        <p:spPr>
          <a:xfrm>
            <a:off x="3505200" y="34766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9C61AAE-04F7-4FDE-8E1B-ADEE3C28BF8D}"/>
              </a:ext>
            </a:extLst>
          </p:cNvPr>
          <p:cNvSpPr>
            <a:spLocks noGrp="1"/>
          </p:cNvSpPr>
          <p:nvPr/>
        </p:nvSpPr>
        <p:spPr>
          <a:xfrm>
            <a:off x="3581400" y="35528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merged transcript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0DEEEA2-0017-4CFC-8F50-D3C65BCF3FB5}"/>
              </a:ext>
            </a:extLst>
          </p:cNvPr>
          <p:cNvSpPr>
            <a:spLocks noGrp="1"/>
          </p:cNvSpPr>
          <p:nvPr/>
        </p:nvSpPr>
        <p:spPr>
          <a:xfrm>
            <a:off x="6076950" y="34766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0F52603-EBFD-4EB7-8765-FD4634EF880F}"/>
              </a:ext>
            </a:extLst>
          </p:cNvPr>
          <p:cNvSpPr>
            <a:spLocks noGrp="1"/>
          </p:cNvSpPr>
          <p:nvPr/>
        </p:nvSpPr>
        <p:spPr>
          <a:xfrm>
            <a:off x="6153150" y="35528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note 中 impression / plan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93CCD46-4BF1-4810-B8D6-AFA9C2C249D6}"/>
              </a:ext>
            </a:extLst>
          </p:cNvPr>
          <p:cNvSpPr>
            <a:spLocks noGrp="1"/>
          </p:cNvSpPr>
          <p:nvPr/>
        </p:nvSpPr>
        <p:spPr>
          <a:xfrm>
            <a:off x="8648700" y="3476625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B2E05AD-C17F-449D-AA15-52408531BC4C}"/>
              </a:ext>
            </a:extLst>
          </p:cNvPr>
          <p:cNvSpPr>
            <a:spLocks noGrp="1"/>
          </p:cNvSpPr>
          <p:nvPr/>
        </p:nvSpPr>
        <p:spPr>
          <a:xfrm>
            <a:off x="8724900" y="355282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LLM judge / RM score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A69D465-E92C-4BF1-8F3A-88A945112B30}"/>
              </a:ext>
            </a:extLst>
          </p:cNvPr>
          <p:cNvSpPr>
            <a:spLocks noGrp="1"/>
          </p:cNvSpPr>
          <p:nvPr/>
        </p:nvSpPr>
        <p:spPr>
          <a:xfrm>
            <a:off x="10744200" y="3476625"/>
            <a:ext cx="1143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899A62A-06E4-497B-892C-B094C5B888E1}"/>
              </a:ext>
            </a:extLst>
          </p:cNvPr>
          <p:cNvSpPr>
            <a:spLocks noGrp="1"/>
          </p:cNvSpPr>
          <p:nvPr/>
        </p:nvSpPr>
        <p:spPr>
          <a:xfrm>
            <a:off x="10820400" y="355282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主实验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48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933F393-5185-4CD9-863A-72EDC4CD0113}"/>
              </a:ext>
            </a:extLst>
          </p:cNvPr>
          <p:cNvSpPr>
            <a:spLocks noGrp="1"/>
          </p:cNvSpPr>
          <p:nvPr/>
        </p:nvSpPr>
        <p:spPr>
          <a:xfrm>
            <a:off x="457200" y="4067175"/>
            <a:ext cx="12382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924BD95-492B-44DE-BED7-F5888C8C1674}"/>
              </a:ext>
            </a:extLst>
          </p:cNvPr>
          <p:cNvSpPr>
            <a:spLocks noGrp="1"/>
          </p:cNvSpPr>
          <p:nvPr/>
        </p:nvSpPr>
        <p:spPr>
          <a:xfrm>
            <a:off x="533400" y="414337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MedDialog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D1271664-A620-4730-BE40-BDAABF565DE5}"/>
              </a:ext>
            </a:extLst>
          </p:cNvPr>
          <p:cNvSpPr>
            <a:spLocks noGrp="1"/>
          </p:cNvSpPr>
          <p:nvPr/>
        </p:nvSpPr>
        <p:spPr>
          <a:xfrm>
            <a:off x="1695450" y="4067175"/>
            <a:ext cx="1809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561F70DB-CE75-49C4-B55D-209313179B6D}"/>
              </a:ext>
            </a:extLst>
          </p:cNvPr>
          <p:cNvSpPr>
            <a:spLocks noGrp="1"/>
          </p:cNvSpPr>
          <p:nvPr/>
        </p:nvSpPr>
        <p:spPr>
          <a:xfrm>
            <a:off x="1771650" y="414337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medical dialogue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314F24B-EE12-40D9-81DA-1251582A4DA1}"/>
              </a:ext>
            </a:extLst>
          </p:cNvPr>
          <p:cNvSpPr>
            <a:spLocks noGrp="1"/>
          </p:cNvSpPr>
          <p:nvPr/>
        </p:nvSpPr>
        <p:spPr>
          <a:xfrm>
            <a:off x="3505200" y="4067175"/>
            <a:ext cx="2571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2A31EC-154F-4C8F-A435-B5BBEBFC7408}"/>
              </a:ext>
            </a:extLst>
          </p:cNvPr>
          <p:cNvSpPr>
            <a:spLocks noGrp="1"/>
          </p:cNvSpPr>
          <p:nvPr/>
        </p:nvSpPr>
        <p:spPr>
          <a:xfrm>
            <a:off x="3581400" y="414337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dialogue only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C15AABC-0D52-4DC2-9BD7-0EDAF429422D}"/>
              </a:ext>
            </a:extLst>
          </p:cNvPr>
          <p:cNvSpPr>
            <a:spLocks noGrp="1"/>
          </p:cNvSpPr>
          <p:nvPr/>
        </p:nvSpPr>
        <p:spPr>
          <a:xfrm>
            <a:off x="6076950" y="4067175"/>
            <a:ext cx="257175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FF6E59E-EB11-4165-883D-F7CD5E99411C}"/>
              </a:ext>
            </a:extLst>
          </p:cNvPr>
          <p:cNvSpPr>
            <a:spLocks noGrp="1"/>
          </p:cNvSpPr>
          <p:nvPr/>
        </p:nvSpPr>
        <p:spPr>
          <a:xfrm>
            <a:off x="6153150" y="414337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final doctor turn if forced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19EC706-0890-446C-AC18-D649A5E38298}"/>
              </a:ext>
            </a:extLst>
          </p:cNvPr>
          <p:cNvSpPr>
            <a:spLocks noGrp="1"/>
          </p:cNvSpPr>
          <p:nvPr/>
        </p:nvSpPr>
        <p:spPr>
          <a:xfrm>
            <a:off x="8648700" y="4067175"/>
            <a:ext cx="20955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FA1EAB9-6E24-4377-B498-8802859DA0F6}"/>
              </a:ext>
            </a:extLst>
          </p:cNvPr>
          <p:cNvSpPr>
            <a:spLocks noGrp="1"/>
          </p:cNvSpPr>
          <p:nvPr/>
        </p:nvSpPr>
        <p:spPr>
          <a:xfrm>
            <a:off x="8724900" y="414337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缺 clinician note，不作为主数据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BFD0D479-1701-4CCB-A057-D9AC0A485AE8}"/>
              </a:ext>
            </a:extLst>
          </p:cNvPr>
          <p:cNvSpPr>
            <a:spLocks noGrp="1"/>
          </p:cNvSpPr>
          <p:nvPr/>
        </p:nvSpPr>
        <p:spPr>
          <a:xfrm>
            <a:off x="10744200" y="4067175"/>
            <a:ext cx="1143000" cy="59055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5501BD2-6076-4DFD-B845-169409B5890A}"/>
              </a:ext>
            </a:extLst>
          </p:cNvPr>
          <p:cNvSpPr>
            <a:spLocks noGrp="1"/>
          </p:cNvSpPr>
          <p:nvPr/>
        </p:nvSpPr>
        <p:spPr>
          <a:xfrm>
            <a:off x="10820400" y="414337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auxiliary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B09CF9F-BABA-417F-A511-8F8330C39AA5}"/>
              </a:ext>
            </a:extLst>
          </p:cNvPr>
          <p:cNvSpPr>
            <a:spLocks noGrp="1"/>
          </p:cNvSpPr>
          <p:nvPr/>
        </p:nvSpPr>
        <p:spPr>
          <a:xfrm>
            <a:off x="457200" y="4657725"/>
            <a:ext cx="12382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978CF86-ACC8-407E-B9D4-6F42D0247E9E}"/>
              </a:ext>
            </a:extLst>
          </p:cNvPr>
          <p:cNvSpPr>
            <a:spLocks noGrp="1"/>
          </p:cNvSpPr>
          <p:nvPr/>
        </p:nvSpPr>
        <p:spPr>
          <a:xfrm>
            <a:off x="533400" y="4733925"/>
            <a:ext cx="10858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1">
                <a:solidFill>
                  <a:srgbClr val="B88A2E"/>
                </a:solidFill>
                <a:latin typeface="Arial Unicode MS"/>
                <a:ea typeface="Arial Unicode MS"/>
                <a:cs typeface="Arial Unicode MS"/>
              </a:rPr>
              <a:t>CounselBench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470434F-6954-4113-868A-D1D18720F97B}"/>
              </a:ext>
            </a:extLst>
          </p:cNvPr>
          <p:cNvSpPr>
            <a:spLocks noGrp="1"/>
          </p:cNvSpPr>
          <p:nvPr/>
        </p:nvSpPr>
        <p:spPr>
          <a:xfrm>
            <a:off x="1695450" y="4657725"/>
            <a:ext cx="1809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2F8835D-B841-4699-8F4D-2142118505CE}"/>
              </a:ext>
            </a:extLst>
          </p:cNvPr>
          <p:cNvSpPr>
            <a:spLocks noGrp="1"/>
          </p:cNvSpPr>
          <p:nvPr/>
        </p:nvSpPr>
        <p:spPr>
          <a:xfrm>
            <a:off x="1771650" y="4733925"/>
            <a:ext cx="1657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mental health QA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1D14F9C-6370-4C73-8FAD-8A6075990098}"/>
              </a:ext>
            </a:extLst>
          </p:cNvPr>
          <p:cNvSpPr>
            <a:spLocks noGrp="1"/>
          </p:cNvSpPr>
          <p:nvPr/>
        </p:nvSpPr>
        <p:spPr>
          <a:xfrm>
            <a:off x="3505200" y="46577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2A6C8DCF-48E1-48B4-9539-BC454E24E04B}"/>
              </a:ext>
            </a:extLst>
          </p:cNvPr>
          <p:cNvSpPr>
            <a:spLocks noGrp="1"/>
          </p:cNvSpPr>
          <p:nvPr/>
        </p:nvSpPr>
        <p:spPr>
          <a:xfrm>
            <a:off x="3581400" y="47339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topic + question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AE94F61B-AA2E-4480-A21F-C9553D66E51A}"/>
              </a:ext>
            </a:extLst>
          </p:cNvPr>
          <p:cNvSpPr>
            <a:spLocks noGrp="1"/>
          </p:cNvSpPr>
          <p:nvPr/>
        </p:nvSpPr>
        <p:spPr>
          <a:xfrm>
            <a:off x="6076950" y="4657725"/>
            <a:ext cx="2571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E5C933CD-A597-4A6A-889E-C441FBABA322}"/>
              </a:ext>
            </a:extLst>
          </p:cNvPr>
          <p:cNvSpPr>
            <a:spLocks noGrp="1"/>
          </p:cNvSpPr>
          <p:nvPr/>
        </p:nvSpPr>
        <p:spPr>
          <a:xfrm>
            <a:off x="6153150" y="4733925"/>
            <a:ext cx="24193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human / LLM response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7979B17A-169A-4C66-B37E-38F3CBE47E77}"/>
              </a:ext>
            </a:extLst>
          </p:cNvPr>
          <p:cNvSpPr>
            <a:spLocks noGrp="1"/>
          </p:cNvSpPr>
          <p:nvPr/>
        </p:nvSpPr>
        <p:spPr>
          <a:xfrm>
            <a:off x="8648700" y="4657725"/>
            <a:ext cx="2095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30F3D8D7-C5DF-43C6-8789-681F87CA6994}"/>
              </a:ext>
            </a:extLst>
          </p:cNvPr>
          <p:cNvSpPr>
            <a:spLocks noGrp="1"/>
          </p:cNvSpPr>
          <p:nvPr/>
        </p:nvSpPr>
        <p:spPr>
          <a:xfrm>
            <a:off x="8724900" y="4733925"/>
            <a:ext cx="1943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expert composite score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76AF8F46-659E-45B8-AA16-A3C17790006B}"/>
              </a:ext>
            </a:extLst>
          </p:cNvPr>
          <p:cNvSpPr>
            <a:spLocks noGrp="1"/>
          </p:cNvSpPr>
          <p:nvPr/>
        </p:nvSpPr>
        <p:spPr>
          <a:xfrm>
            <a:off x="10744200" y="4657725"/>
            <a:ext cx="1143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33C2763E-3D1A-44C7-8EC6-4336CC708E16}"/>
              </a:ext>
            </a:extLst>
          </p:cNvPr>
          <p:cNvSpPr>
            <a:spLocks noGrp="1"/>
          </p:cNvSpPr>
          <p:nvPr/>
        </p:nvSpPr>
        <p:spPr>
          <a:xfrm>
            <a:off x="10820400" y="4733925"/>
            <a:ext cx="990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sensitivity</a:t>
            </a:r>
          </a:p>
          <a:p>
            <a:pPr algn="l">
              <a:def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2022838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56C6E144-7049-421F-BB98-42E8C9DE036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5EF"/>
          </a:solidFill>
          <a:ln w="0">
            <a:solidFill>
              <a:srgbClr val="F8F5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CA857B-E4A7-4B7D-B83C-29FC0C483AB9}"/>
              </a:ext>
            </a:extLst>
          </p:cNvPr>
          <p:cNvSpPr>
            <a:spLocks noGrp="1"/>
          </p:cNvSpPr>
          <p:nvPr/>
        </p:nvSpPr>
        <p:spPr>
          <a:xfrm>
            <a:off x="552450" y="457200"/>
            <a:ext cx="114300" cy="114300"/>
          </a:xfrm>
          <a:prstGeom prst="rect">
            <a:avLst/>
          </a:prstGeom>
          <a:solidFill>
            <a:srgbClr val="C65D2E"/>
          </a:solidFill>
          <a:ln w="0">
            <a:solidFill>
              <a:srgbClr val="C65D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D6F0D9-685E-4F40-87E8-60A88F769196}"/>
              </a:ext>
            </a:extLst>
          </p:cNvPr>
          <p:cNvSpPr>
            <a:spLocks noGrp="1"/>
          </p:cNvSpPr>
          <p:nvPr/>
        </p:nvSpPr>
        <p:spPr>
          <a:xfrm>
            <a:off x="742950" y="400050"/>
            <a:ext cx="457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LLM-AS-JUDGE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451CD2-060B-4B94-B2D8-AB9104AE25F4}"/>
              </a:ext>
            </a:extLst>
          </p:cNvPr>
          <p:cNvSpPr>
            <a:spLocks noGrp="1"/>
          </p:cNvSpPr>
          <p:nvPr/>
        </p:nvSpPr>
        <p:spPr>
          <a:xfrm>
            <a:off x="552450" y="742950"/>
            <a:ext cx="1047750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Sonnet 4.6 与之前 GPT judge 的打分结果对照。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09B5BD1-B11E-4FF9-9C64-0098A00800D4}"/>
              </a:ext>
            </a:extLst>
          </p:cNvPr>
          <p:cNvSpPr>
            <a:spLocks noGrp="1"/>
          </p:cNvSpPr>
          <p:nvPr/>
        </p:nvSpPr>
        <p:spPr>
          <a:xfrm>
            <a:off x="571500" y="1476375"/>
            <a:ext cx="9906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20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表格只放核心结果：V_b、V_agent、effect、direction rate。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DF5B76-6831-4CC5-9F63-1E62BBB54A02}"/>
              </a:ext>
            </a:extLst>
          </p:cNvPr>
          <p:cNvSpPr>
            <a:spLocks noGrp="1"/>
          </p:cNvSpPr>
          <p:nvPr/>
        </p:nvSpPr>
        <p:spPr>
          <a:xfrm>
            <a:off x="552450" y="6429375"/>
            <a:ext cx="10287000" cy="9525"/>
          </a:xfrm>
          <a:prstGeom prst="rect">
            <a:avLst/>
          </a:prstGeom>
          <a:solidFill>
            <a:srgbClr val="D8D0C2"/>
          </a:solidFill>
          <a:ln w="0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037AC0-681C-4D1F-B5FE-1C57985AACC9}"/>
              </a:ext>
            </a:extLst>
          </p:cNvPr>
          <p:cNvSpPr>
            <a:spLocks noGrp="1"/>
          </p:cNvSpPr>
          <p:nvPr/>
        </p:nvSpPr>
        <p:spPr>
          <a:xfrm>
            <a:off x="552450" y="6534150"/>
            <a:ext cx="9334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675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docs/phase5_main_experiment.md; docs/phase5_sonnet46_judge_ablation.md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5C4247-F201-4C27-B06D-DBDEFF010453}"/>
              </a:ext>
            </a:extLst>
          </p:cNvPr>
          <p:cNvSpPr>
            <a:spLocks noGrp="1"/>
          </p:cNvSpPr>
          <p:nvPr/>
        </p:nvSpPr>
        <p:spPr>
          <a:xfrm>
            <a:off x="11191875" y="6496050"/>
            <a:ext cx="4572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50" b="0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07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747A46-AB7F-45FD-A102-A52EF5AE332B}"/>
              </a:ext>
            </a:extLst>
          </p:cNvPr>
          <p:cNvSpPr>
            <a:spLocks noGrp="1"/>
          </p:cNvSpPr>
          <p:nvPr/>
        </p:nvSpPr>
        <p:spPr>
          <a:xfrm>
            <a:off x="809625" y="2143125"/>
            <a:ext cx="228600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54AFF97-BD1D-4178-98A6-4EB9079D7339}"/>
              </a:ext>
            </a:extLst>
          </p:cNvPr>
          <p:cNvSpPr>
            <a:spLocks noGrp="1"/>
          </p:cNvSpPr>
          <p:nvPr/>
        </p:nvSpPr>
        <p:spPr>
          <a:xfrm>
            <a:off x="885825" y="2228850"/>
            <a:ext cx="21336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Judge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14EC4F-15AB-4EA8-A93A-B43C53B5AB9B}"/>
              </a:ext>
            </a:extLst>
          </p:cNvPr>
          <p:cNvSpPr>
            <a:spLocks noGrp="1"/>
          </p:cNvSpPr>
          <p:nvPr/>
        </p:nvSpPr>
        <p:spPr>
          <a:xfrm>
            <a:off x="3095625" y="2143125"/>
            <a:ext cx="14287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549226-1AA2-42F5-AD69-B8A079C0F7A3}"/>
              </a:ext>
            </a:extLst>
          </p:cNvPr>
          <p:cNvSpPr>
            <a:spLocks noGrp="1"/>
          </p:cNvSpPr>
          <p:nvPr/>
        </p:nvSpPr>
        <p:spPr>
          <a:xfrm>
            <a:off x="3171825" y="2228850"/>
            <a:ext cx="1276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V_b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5CCE6F-B8C0-47DB-BD08-0035D0A9F594}"/>
              </a:ext>
            </a:extLst>
          </p:cNvPr>
          <p:cNvSpPr>
            <a:spLocks noGrp="1"/>
          </p:cNvSpPr>
          <p:nvPr/>
        </p:nvSpPr>
        <p:spPr>
          <a:xfrm>
            <a:off x="4524375" y="2143125"/>
            <a:ext cx="16192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460ACC-7E7D-490B-869C-85EEE56E36B1}"/>
              </a:ext>
            </a:extLst>
          </p:cNvPr>
          <p:cNvSpPr>
            <a:spLocks noGrp="1"/>
          </p:cNvSpPr>
          <p:nvPr/>
        </p:nvSpPr>
        <p:spPr>
          <a:xfrm>
            <a:off x="4600575" y="2228850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V_agent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AAA3E7-BCF0-4836-AAAF-F9BD4FD5EC91}"/>
              </a:ext>
            </a:extLst>
          </p:cNvPr>
          <p:cNvSpPr>
            <a:spLocks noGrp="1"/>
          </p:cNvSpPr>
          <p:nvPr/>
        </p:nvSpPr>
        <p:spPr>
          <a:xfrm>
            <a:off x="6143625" y="2143125"/>
            <a:ext cx="16192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B875A5-96CD-4278-8353-C1FC663A82CB}"/>
              </a:ext>
            </a:extLst>
          </p:cNvPr>
          <p:cNvSpPr>
            <a:spLocks noGrp="1"/>
          </p:cNvSpPr>
          <p:nvPr/>
        </p:nvSpPr>
        <p:spPr>
          <a:xfrm>
            <a:off x="6219825" y="2228850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Effect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B1EA026-7E91-40A7-BEA3-40C7D0705D15}"/>
              </a:ext>
            </a:extLst>
          </p:cNvPr>
          <p:cNvSpPr>
            <a:spLocks noGrp="1"/>
          </p:cNvSpPr>
          <p:nvPr/>
        </p:nvSpPr>
        <p:spPr>
          <a:xfrm>
            <a:off x="7762875" y="2143125"/>
            <a:ext cx="21907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B63B127-33ED-4F9C-B7C4-320F2C1CEADC}"/>
              </a:ext>
            </a:extLst>
          </p:cNvPr>
          <p:cNvSpPr>
            <a:spLocks noGrp="1"/>
          </p:cNvSpPr>
          <p:nvPr/>
        </p:nvSpPr>
        <p:spPr>
          <a:xfrm>
            <a:off x="7839075" y="2228850"/>
            <a:ext cx="2038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95% CI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663EF69-6B35-4690-8D37-F4F5704AFE27}"/>
              </a:ext>
            </a:extLst>
          </p:cNvPr>
          <p:cNvSpPr>
            <a:spLocks noGrp="1"/>
          </p:cNvSpPr>
          <p:nvPr/>
        </p:nvSpPr>
        <p:spPr>
          <a:xfrm>
            <a:off x="9953625" y="2143125"/>
            <a:ext cx="1619250" cy="400050"/>
          </a:xfrm>
          <a:prstGeom prst="rect">
            <a:avLst/>
          </a:prstGeom>
          <a:solidFill>
            <a:srgbClr val="20242A"/>
          </a:solidFill>
          <a:ln w="0">
            <a:solidFill>
              <a:srgbClr val="2024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F12A18-8F82-48B2-854B-C94CF4FC6AAB}"/>
              </a:ext>
            </a:extLst>
          </p:cNvPr>
          <p:cNvSpPr>
            <a:spLocks noGrp="1"/>
          </p:cNvSpPr>
          <p:nvPr/>
        </p:nvSpPr>
        <p:spPr>
          <a:xfrm>
            <a:off x="10029825" y="2228850"/>
            <a:ext cx="1466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Dir 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72C69E-0E59-41B5-8D86-DB20DB7E4D36}"/>
              </a:ext>
            </a:extLst>
          </p:cNvPr>
          <p:cNvSpPr>
            <a:spLocks noGrp="1"/>
          </p:cNvSpPr>
          <p:nvPr/>
        </p:nvSpPr>
        <p:spPr>
          <a:xfrm>
            <a:off x="809625" y="2543175"/>
            <a:ext cx="2286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0E5A14-89AC-4CD0-901C-2563D49D18BD}"/>
              </a:ext>
            </a:extLst>
          </p:cNvPr>
          <p:cNvSpPr>
            <a:spLocks noGrp="1"/>
          </p:cNvSpPr>
          <p:nvPr/>
        </p:nvSpPr>
        <p:spPr>
          <a:xfrm>
            <a:off x="885825" y="261937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GPT-4.1 旧口径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100BD38-FA47-4C26-A31D-BBE49A15EC47}"/>
              </a:ext>
            </a:extLst>
          </p:cNvPr>
          <p:cNvSpPr>
            <a:spLocks noGrp="1"/>
          </p:cNvSpPr>
          <p:nvPr/>
        </p:nvSpPr>
        <p:spPr>
          <a:xfrm>
            <a:off x="3095625" y="2543175"/>
            <a:ext cx="1428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66C806-93C1-47FF-A567-D784A50F79F0}"/>
              </a:ext>
            </a:extLst>
          </p:cNvPr>
          <p:cNvSpPr>
            <a:spLocks noGrp="1"/>
          </p:cNvSpPr>
          <p:nvPr/>
        </p:nvSpPr>
        <p:spPr>
          <a:xfrm>
            <a:off x="3171825" y="2619375"/>
            <a:ext cx="1276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0.666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74EE59-E78C-45E3-BE66-A9A35DF788CD}"/>
              </a:ext>
            </a:extLst>
          </p:cNvPr>
          <p:cNvSpPr>
            <a:spLocks noGrp="1"/>
          </p:cNvSpPr>
          <p:nvPr/>
        </p:nvSpPr>
        <p:spPr>
          <a:xfrm>
            <a:off x="4524375" y="25431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859D313-6B06-42A4-9CCD-EA3EFC74F95F}"/>
              </a:ext>
            </a:extLst>
          </p:cNvPr>
          <p:cNvSpPr>
            <a:spLocks noGrp="1"/>
          </p:cNvSpPr>
          <p:nvPr/>
        </p:nvSpPr>
        <p:spPr>
          <a:xfrm>
            <a:off x="4600575" y="26193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0.929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BF3D6C-FC96-497D-BB83-2D1CCDDCDC87}"/>
              </a:ext>
            </a:extLst>
          </p:cNvPr>
          <p:cNvSpPr>
            <a:spLocks noGrp="1"/>
          </p:cNvSpPr>
          <p:nvPr/>
        </p:nvSpPr>
        <p:spPr>
          <a:xfrm>
            <a:off x="6143625" y="25431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2EF7F2-0A35-475A-8C6D-2B18A2FF7521}"/>
              </a:ext>
            </a:extLst>
          </p:cNvPr>
          <p:cNvSpPr>
            <a:spLocks noGrp="1"/>
          </p:cNvSpPr>
          <p:nvPr/>
        </p:nvSpPr>
        <p:spPr>
          <a:xfrm>
            <a:off x="6219825" y="26193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5F6872"/>
                </a:solidFill>
                <a:latin typeface="Arial Unicode MS"/>
                <a:ea typeface="Arial Unicode MS"/>
                <a:cs typeface="Arial Unicode MS"/>
              </a:rPr>
              <a:t>+0.263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607008-E3A5-41F6-B93A-6C5D8314B0B7}"/>
              </a:ext>
            </a:extLst>
          </p:cNvPr>
          <p:cNvSpPr>
            <a:spLocks noGrp="1"/>
          </p:cNvSpPr>
          <p:nvPr/>
        </p:nvSpPr>
        <p:spPr>
          <a:xfrm>
            <a:off x="7762875" y="2543175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D46E312-E317-4CCA-B1ED-9A4FFD4528D6}"/>
              </a:ext>
            </a:extLst>
          </p:cNvPr>
          <p:cNvSpPr>
            <a:spLocks noGrp="1"/>
          </p:cNvSpPr>
          <p:nvPr/>
        </p:nvSpPr>
        <p:spPr>
          <a:xfrm>
            <a:off x="7839075" y="2619375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 dirty="0" err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未作为当前主表</a:t>
            </a:r>
            <a:endParaRPr sz="900" b="0" dirty="0">
              <a:solidFill>
                <a:srgbClr val="20242A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009E612-51A0-4811-B6CC-ADBB643AA660}"/>
              </a:ext>
            </a:extLst>
          </p:cNvPr>
          <p:cNvSpPr>
            <a:spLocks noGrp="1"/>
          </p:cNvSpPr>
          <p:nvPr/>
        </p:nvSpPr>
        <p:spPr>
          <a:xfrm>
            <a:off x="9953625" y="25431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BC0C2B1-0BEA-4BC0-9394-D435CC06B560}"/>
              </a:ext>
            </a:extLst>
          </p:cNvPr>
          <p:cNvSpPr>
            <a:spLocks noGrp="1"/>
          </p:cNvSpPr>
          <p:nvPr/>
        </p:nvSpPr>
        <p:spPr>
          <a:xfrm>
            <a:off x="10029825" y="26193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96.2%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87367B8-D645-4BEC-A99D-77B227A8A63A}"/>
              </a:ext>
            </a:extLst>
          </p:cNvPr>
          <p:cNvSpPr>
            <a:spLocks noGrp="1"/>
          </p:cNvSpPr>
          <p:nvPr/>
        </p:nvSpPr>
        <p:spPr>
          <a:xfrm>
            <a:off x="809625" y="3190875"/>
            <a:ext cx="228600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8111F67-7085-476A-83C0-6B1611C68DF3}"/>
              </a:ext>
            </a:extLst>
          </p:cNvPr>
          <p:cNvSpPr>
            <a:spLocks noGrp="1"/>
          </p:cNvSpPr>
          <p:nvPr/>
        </p:nvSpPr>
        <p:spPr>
          <a:xfrm>
            <a:off x="885825" y="326707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GPT-4o 主口径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0147B03-EA0C-4A36-8A78-FBFE091C241D}"/>
              </a:ext>
            </a:extLst>
          </p:cNvPr>
          <p:cNvSpPr>
            <a:spLocks noGrp="1"/>
          </p:cNvSpPr>
          <p:nvPr/>
        </p:nvSpPr>
        <p:spPr>
          <a:xfrm>
            <a:off x="3095625" y="3190875"/>
            <a:ext cx="14287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E6EB206-FE67-471A-91BF-24E42CC4C908}"/>
              </a:ext>
            </a:extLst>
          </p:cNvPr>
          <p:cNvSpPr>
            <a:spLocks noGrp="1"/>
          </p:cNvSpPr>
          <p:nvPr/>
        </p:nvSpPr>
        <p:spPr>
          <a:xfrm>
            <a:off x="3171825" y="3267075"/>
            <a:ext cx="1276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0.6690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3240DE4-78F1-4AE3-858B-20E7C9E7D6DD}"/>
              </a:ext>
            </a:extLst>
          </p:cNvPr>
          <p:cNvSpPr>
            <a:spLocks noGrp="1"/>
          </p:cNvSpPr>
          <p:nvPr/>
        </p:nvSpPr>
        <p:spPr>
          <a:xfrm>
            <a:off x="4524375" y="3190875"/>
            <a:ext cx="16192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48FD988-82B2-40BB-9226-97CE7B68FDCC}"/>
              </a:ext>
            </a:extLst>
          </p:cNvPr>
          <p:cNvSpPr>
            <a:spLocks noGrp="1"/>
          </p:cNvSpPr>
          <p:nvPr/>
        </p:nvSpPr>
        <p:spPr>
          <a:xfrm>
            <a:off x="4600575" y="32670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0.8585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43F8A28-41C3-4E1B-8942-E3423A84CFA8}"/>
              </a:ext>
            </a:extLst>
          </p:cNvPr>
          <p:cNvSpPr>
            <a:spLocks noGrp="1"/>
          </p:cNvSpPr>
          <p:nvPr/>
        </p:nvSpPr>
        <p:spPr>
          <a:xfrm>
            <a:off x="6143625" y="3190875"/>
            <a:ext cx="16192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9821F7-AC4D-49E9-ADE7-C6BB3B704BA6}"/>
              </a:ext>
            </a:extLst>
          </p:cNvPr>
          <p:cNvSpPr>
            <a:spLocks noGrp="1"/>
          </p:cNvSpPr>
          <p:nvPr/>
        </p:nvSpPr>
        <p:spPr>
          <a:xfrm>
            <a:off x="6219825" y="32670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2E5E8E"/>
                </a:solidFill>
                <a:latin typeface="Arial Unicode MS"/>
                <a:ea typeface="Arial Unicode MS"/>
                <a:cs typeface="Arial Unicode MS"/>
              </a:rPr>
              <a:t>+0.1895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DEE78CF-F293-414C-9FB3-F6C79159F4AC}"/>
              </a:ext>
            </a:extLst>
          </p:cNvPr>
          <p:cNvSpPr>
            <a:spLocks noGrp="1"/>
          </p:cNvSpPr>
          <p:nvPr/>
        </p:nvSpPr>
        <p:spPr>
          <a:xfrm>
            <a:off x="7762875" y="3190875"/>
            <a:ext cx="21907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29B59CD-36A4-4502-A6B6-C39A48BE33EC}"/>
              </a:ext>
            </a:extLst>
          </p:cNvPr>
          <p:cNvSpPr>
            <a:spLocks noGrp="1"/>
          </p:cNvSpPr>
          <p:nvPr/>
        </p:nvSpPr>
        <p:spPr>
          <a:xfrm>
            <a:off x="7839075" y="3267075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[0.168, 0.212]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1B811B-B0D8-49A0-BB2E-EB9EFE8E823E}"/>
              </a:ext>
            </a:extLst>
          </p:cNvPr>
          <p:cNvSpPr>
            <a:spLocks noGrp="1"/>
          </p:cNvSpPr>
          <p:nvPr/>
        </p:nvSpPr>
        <p:spPr>
          <a:xfrm>
            <a:off x="9953625" y="3190875"/>
            <a:ext cx="1619250" cy="647700"/>
          </a:xfrm>
          <a:prstGeom prst="rect">
            <a:avLst/>
          </a:prstGeom>
          <a:solidFill>
            <a:srgbClr val="FBFAF7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C7014F5-144C-4607-A9BF-B3501DED52F5}"/>
              </a:ext>
            </a:extLst>
          </p:cNvPr>
          <p:cNvSpPr>
            <a:spLocks noGrp="1"/>
          </p:cNvSpPr>
          <p:nvPr/>
        </p:nvSpPr>
        <p:spPr>
          <a:xfrm>
            <a:off x="10029825" y="32670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81.9%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312F6D3-BA0F-4E17-8B07-7216ED5D328F}"/>
              </a:ext>
            </a:extLst>
          </p:cNvPr>
          <p:cNvSpPr>
            <a:spLocks noGrp="1"/>
          </p:cNvSpPr>
          <p:nvPr/>
        </p:nvSpPr>
        <p:spPr>
          <a:xfrm>
            <a:off x="809625" y="3838575"/>
            <a:ext cx="22860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95595F-ECAD-48DA-89C0-9C631ABAE484}"/>
              </a:ext>
            </a:extLst>
          </p:cNvPr>
          <p:cNvSpPr>
            <a:spLocks noGrp="1"/>
          </p:cNvSpPr>
          <p:nvPr/>
        </p:nvSpPr>
        <p:spPr>
          <a:xfrm>
            <a:off x="885825" y="3914775"/>
            <a:ext cx="21336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Claude Sonnet 4.6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68F4457-CEEA-47B5-935D-6EDAA80C094F}"/>
              </a:ext>
            </a:extLst>
          </p:cNvPr>
          <p:cNvSpPr>
            <a:spLocks noGrp="1"/>
          </p:cNvSpPr>
          <p:nvPr/>
        </p:nvSpPr>
        <p:spPr>
          <a:xfrm>
            <a:off x="3095625" y="3838575"/>
            <a:ext cx="1428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385BD15-0E66-450D-BC3D-614B08DC1920}"/>
              </a:ext>
            </a:extLst>
          </p:cNvPr>
          <p:cNvSpPr>
            <a:spLocks noGrp="1"/>
          </p:cNvSpPr>
          <p:nvPr/>
        </p:nvSpPr>
        <p:spPr>
          <a:xfrm>
            <a:off x="3171825" y="3914775"/>
            <a:ext cx="1276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0.6178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2A92914-8625-4B64-82C4-AEE003545387}"/>
              </a:ext>
            </a:extLst>
          </p:cNvPr>
          <p:cNvSpPr>
            <a:spLocks noGrp="1"/>
          </p:cNvSpPr>
          <p:nvPr/>
        </p:nvSpPr>
        <p:spPr>
          <a:xfrm>
            <a:off x="4524375" y="38385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6136E0B-7E41-4F85-AD4A-0DAF3C884EDA}"/>
              </a:ext>
            </a:extLst>
          </p:cNvPr>
          <p:cNvSpPr>
            <a:spLocks noGrp="1"/>
          </p:cNvSpPr>
          <p:nvPr/>
        </p:nvSpPr>
        <p:spPr>
          <a:xfrm>
            <a:off x="4600575" y="39147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0.8413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7B548E-017E-4DA5-BFBF-8D9F07631FBD}"/>
              </a:ext>
            </a:extLst>
          </p:cNvPr>
          <p:cNvSpPr>
            <a:spLocks noGrp="1"/>
          </p:cNvSpPr>
          <p:nvPr/>
        </p:nvSpPr>
        <p:spPr>
          <a:xfrm>
            <a:off x="6143625" y="38385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5B2D2A3B-8D35-4D5E-8C3F-32B4C3E89D8B}"/>
              </a:ext>
            </a:extLst>
          </p:cNvPr>
          <p:cNvSpPr>
            <a:spLocks noGrp="1"/>
          </p:cNvSpPr>
          <p:nvPr/>
        </p:nvSpPr>
        <p:spPr>
          <a:xfrm>
            <a:off x="6219825" y="39147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1">
                <a:solidFill>
                  <a:srgbClr val="C65D2E"/>
                </a:solidFill>
                <a:latin typeface="Arial Unicode MS"/>
                <a:ea typeface="Arial Unicode MS"/>
                <a:cs typeface="Arial Unicode MS"/>
              </a:rPr>
              <a:t>+0.2236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726EC17-4AB4-4CAF-A432-70E729E94C13}"/>
              </a:ext>
            </a:extLst>
          </p:cNvPr>
          <p:cNvSpPr>
            <a:spLocks noGrp="1"/>
          </p:cNvSpPr>
          <p:nvPr/>
        </p:nvSpPr>
        <p:spPr>
          <a:xfrm>
            <a:off x="7762875" y="3838575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AD9351-0251-428C-9F79-CCC241AA3C7B}"/>
              </a:ext>
            </a:extLst>
          </p:cNvPr>
          <p:cNvSpPr>
            <a:spLocks noGrp="1"/>
          </p:cNvSpPr>
          <p:nvPr/>
        </p:nvSpPr>
        <p:spPr>
          <a:xfrm>
            <a:off x="7839075" y="3914775"/>
            <a:ext cx="2038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[0.206, 0.241]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D56982C-5FDA-4AD4-8070-D2BF3ADC6E0A}"/>
              </a:ext>
            </a:extLst>
          </p:cNvPr>
          <p:cNvSpPr>
            <a:spLocks noGrp="1"/>
          </p:cNvSpPr>
          <p:nvPr/>
        </p:nvSpPr>
        <p:spPr>
          <a:xfrm>
            <a:off x="9953625" y="3838575"/>
            <a:ext cx="16192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B5B59464-E58C-4E24-A8C5-2EA95E7E4FE5}"/>
              </a:ext>
            </a:extLst>
          </p:cNvPr>
          <p:cNvSpPr>
            <a:spLocks noGrp="1"/>
          </p:cNvSpPr>
          <p:nvPr/>
        </p:nvSpPr>
        <p:spPr>
          <a:xfrm>
            <a:off x="10029825" y="3914775"/>
            <a:ext cx="14668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900" b="0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97.7%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E77CA8E1-7E5E-4F4A-862E-A26D12D3B000}"/>
              </a:ext>
            </a:extLst>
          </p:cNvPr>
          <p:cNvSpPr>
            <a:spLocks noGrp="1"/>
          </p:cNvSpPr>
          <p:nvPr/>
        </p:nvSpPr>
        <p:spPr>
          <a:xfrm>
            <a:off x="1476375" y="4857750"/>
            <a:ext cx="8858250" cy="514350"/>
          </a:xfrm>
          <a:prstGeom prst="rect">
            <a:avLst/>
          </a:prstGeom>
          <a:solidFill>
            <a:srgbClr val="F2DFD4"/>
          </a:solidFill>
          <a:ln w="0">
            <a:solidFill>
              <a:srgbClr val="F2DF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F5F3EFA-3E81-4BE0-BBDF-FF3ACB9350B1}"/>
              </a:ext>
            </a:extLst>
          </p:cNvPr>
          <p:cNvSpPr>
            <a:spLocks noGrp="1"/>
          </p:cNvSpPr>
          <p:nvPr/>
        </p:nvSpPr>
        <p:spPr>
          <a:xfrm>
            <a:off x="1762125" y="5019675"/>
            <a:ext cx="8286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1">
                <a:solidFill>
                  <a:srgbClr val="20242A"/>
                </a:solidFill>
                <a:latin typeface="Arial Unicode MS"/>
                <a:ea typeface="Arial Unicode MS"/>
                <a:cs typeface="Arial Unicode MS"/>
              </a:rPr>
              <a:t>一句话结论：Sonnet 4.6 降低 clinician baseline 更明显，因此 agent-clinician gap 比 GPT-4o 更大。</a:t>
            </a:r>
          </a:p>
        </p:txBody>
      </p:sp>
    </p:spTree>
    <p:extLst>
      <p:ext uri="{BB962C8B-B14F-4D97-AF65-F5344CB8AC3E}">
        <p14:creationId xmlns:p14="http://schemas.microsoft.com/office/powerpoint/2010/main" val="162785636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658</Words>
  <Application>Microsoft Macintosh PowerPoint</Application>
  <DocSecurity>0</DocSecurity>
  <PresentationFormat>Widescreen</PresentationFormat>
  <Paragraphs>191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 Unicode MS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 Wei</cp:lastModifiedBy>
  <cp:revision>1</cp:revision>
  <dcterms:created xsi:type="dcterms:W3CDTF">2026-05-26T04:04:43Z</dcterms:created>
  <dcterms:modified xsi:type="dcterms:W3CDTF">2026-05-26T04:40:03Z</dcterms:modified>
</cp:coreProperties>
</file>