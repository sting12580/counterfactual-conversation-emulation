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A8128C7-27D3-40C0-9DEA-089974BB11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CF5D8A-E619-4549-849B-B77EB8B853B9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1000125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341AF8-520C-4038-8CC4-9112E3D25BDF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Counterfactual Conversation Emulation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BE9BBC-A7E1-43B6-8EAC-DE5A1B1476C8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8858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数据集构造、Reward 标注与</a:t>
            </a:r>
          </a:p>
          <a:p>
            <a:pPr algn="l">
              <a:defRPr sz="33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LLM-as-Judge 对照汇报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5CACDE-BEF5-4E87-B3B4-92C64A7EE679}"/>
              </a:ext>
            </a:extLst>
          </p:cNvPr>
          <p:cNvSpPr>
            <a:spLocks noGrp="1"/>
          </p:cNvSpPr>
          <p:nvPr/>
        </p:nvSpPr>
        <p:spPr>
          <a:xfrm>
            <a:off x="590550" y="3028950"/>
            <a:ext cx="942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面向组会与老师汇报：从三类医疗对话数据，到 CounselBench 专家标签，再到 GPT 与 Sonnet 4.6 judge 的敏感性结果。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BC144C-8FCF-493F-9DBA-57AD926975EF}"/>
              </a:ext>
            </a:extLst>
          </p:cNvPr>
          <p:cNvSpPr>
            <a:spLocks noGrp="1"/>
          </p:cNvSpPr>
          <p:nvPr/>
        </p:nvSpPr>
        <p:spPr>
          <a:xfrm>
            <a:off x="571500" y="4333875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C9ECC1-CEB1-4B92-A44A-4E2E43360793}"/>
              </a:ext>
            </a:extLst>
          </p:cNvPr>
          <p:cNvSpPr>
            <a:spLocks noGrp="1"/>
          </p:cNvSpPr>
          <p:nvPr/>
        </p:nvSpPr>
        <p:spPr>
          <a:xfrm>
            <a:off x="571500" y="4333875"/>
            <a:ext cx="23812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7416F3-DD97-4AAB-9502-B3A7A9AC1EAB}"/>
              </a:ext>
            </a:extLst>
          </p:cNvPr>
          <p:cNvSpPr>
            <a:spLocks noGrp="1"/>
          </p:cNvSpPr>
          <p:nvPr/>
        </p:nvSpPr>
        <p:spPr>
          <a:xfrm>
            <a:off x="742950" y="4524375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397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8C60E9-D1C0-4D04-88AC-07DA697F62C3}"/>
              </a:ext>
            </a:extLst>
          </p:cNvPr>
          <p:cNvSpPr>
            <a:spLocks noGrp="1"/>
          </p:cNvSpPr>
          <p:nvPr/>
        </p:nvSpPr>
        <p:spPr>
          <a:xfrm>
            <a:off x="742950" y="4886325"/>
            <a:ext cx="2038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主医疗 benchmark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980D9A-EA48-48CC-8732-97FACD2FB42B}"/>
              </a:ext>
            </a:extLst>
          </p:cNvPr>
          <p:cNvSpPr>
            <a:spLocks noGrp="1"/>
          </p:cNvSpPr>
          <p:nvPr/>
        </p:nvSpPr>
        <p:spPr>
          <a:xfrm>
            <a:off x="742950" y="5133975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ACI 207 + MTS 142 + PriMock 48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318540-D324-4DB5-BE2B-8371D9F0D141}"/>
              </a:ext>
            </a:extLst>
          </p:cNvPr>
          <p:cNvSpPr>
            <a:spLocks noGrp="1"/>
          </p:cNvSpPr>
          <p:nvPr/>
        </p:nvSpPr>
        <p:spPr>
          <a:xfrm>
            <a:off x="3190875" y="4333875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3C9DBD-4477-4FB9-AA5A-973AE5446217}"/>
              </a:ext>
            </a:extLst>
          </p:cNvPr>
          <p:cNvSpPr>
            <a:spLocks noGrp="1"/>
          </p:cNvSpPr>
          <p:nvPr/>
        </p:nvSpPr>
        <p:spPr>
          <a:xfrm>
            <a:off x="3190875" y="4333875"/>
            <a:ext cx="2381250" cy="476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5002DB-1B9D-4010-87F3-F4DFAEEC919E}"/>
              </a:ext>
            </a:extLst>
          </p:cNvPr>
          <p:cNvSpPr>
            <a:spLocks noGrp="1"/>
          </p:cNvSpPr>
          <p:nvPr/>
        </p:nvSpPr>
        <p:spPr>
          <a:xfrm>
            <a:off x="3362325" y="4524375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92FE89-B4D2-4E40-9FF1-E22D3000AD36}"/>
              </a:ext>
            </a:extLst>
          </p:cNvPr>
          <p:cNvSpPr>
            <a:spLocks noGrp="1"/>
          </p:cNvSpPr>
          <p:nvPr/>
        </p:nvSpPr>
        <p:spPr>
          <a:xfrm>
            <a:off x="3362325" y="4886325"/>
            <a:ext cx="2038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baseline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B2175E-51F1-4E8A-BC57-B5DBCADEF8BC}"/>
              </a:ext>
            </a:extLst>
          </p:cNvPr>
          <p:cNvSpPr>
            <a:spLocks noGrp="1"/>
          </p:cNvSpPr>
          <p:nvPr/>
        </p:nvSpPr>
        <p:spPr>
          <a:xfrm>
            <a:off x="3362325" y="5133975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每个 target responder 100 paired rows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08047F-893F-4954-B27B-A610884D908B}"/>
              </a:ext>
            </a:extLst>
          </p:cNvPr>
          <p:cNvSpPr>
            <a:spLocks noGrp="1"/>
          </p:cNvSpPr>
          <p:nvPr/>
        </p:nvSpPr>
        <p:spPr>
          <a:xfrm>
            <a:off x="5810250" y="4333875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131E5E-B637-4058-8633-327FCDBA9445}"/>
              </a:ext>
            </a:extLst>
          </p:cNvPr>
          <p:cNvSpPr>
            <a:spLocks noGrp="1"/>
          </p:cNvSpPr>
          <p:nvPr/>
        </p:nvSpPr>
        <p:spPr>
          <a:xfrm>
            <a:off x="5810250" y="4333875"/>
            <a:ext cx="238125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32671B-D57F-4144-AA89-BA3E0C2772F0}"/>
              </a:ext>
            </a:extLst>
          </p:cNvPr>
          <p:cNvSpPr>
            <a:spLocks noGrp="1"/>
          </p:cNvSpPr>
          <p:nvPr/>
        </p:nvSpPr>
        <p:spPr>
          <a:xfrm>
            <a:off x="5981700" y="4524375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FC579C-C068-494E-8B7C-4737339AFD28}"/>
              </a:ext>
            </a:extLst>
          </p:cNvPr>
          <p:cNvSpPr>
            <a:spLocks noGrp="1"/>
          </p:cNvSpPr>
          <p:nvPr/>
        </p:nvSpPr>
        <p:spPr>
          <a:xfrm>
            <a:off x="5981700" y="4886325"/>
            <a:ext cx="2038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judge 对照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BB3B44-D5D7-4A97-A55A-31D3F6B4253E}"/>
              </a:ext>
            </a:extLst>
          </p:cNvPr>
          <p:cNvSpPr>
            <a:spLocks noGrp="1"/>
          </p:cNvSpPr>
          <p:nvPr/>
        </p:nvSpPr>
        <p:spPr>
          <a:xfrm>
            <a:off x="5981700" y="5133975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GPT-4o vs Claude Sonnet 4.6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13175C-381C-4C36-AE8F-89EB8A7CE5D6}"/>
              </a:ext>
            </a:extLst>
          </p:cNvPr>
          <p:cNvSpPr>
            <a:spLocks noGrp="1"/>
          </p:cNvSpPr>
          <p:nvPr/>
        </p:nvSpPr>
        <p:spPr>
          <a:xfrm>
            <a:off x="8429625" y="4333875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E39C8A-28ED-4C53-9E49-2FE8453F49BB}"/>
              </a:ext>
            </a:extLst>
          </p:cNvPr>
          <p:cNvSpPr>
            <a:spLocks noGrp="1"/>
          </p:cNvSpPr>
          <p:nvPr/>
        </p:nvSpPr>
        <p:spPr>
          <a:xfrm>
            <a:off x="8429625" y="4333875"/>
            <a:ext cx="2381250" cy="47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248226-B4C5-41F2-9686-86925056642A}"/>
              </a:ext>
            </a:extLst>
          </p:cNvPr>
          <p:cNvSpPr>
            <a:spLocks noGrp="1"/>
          </p:cNvSpPr>
          <p:nvPr/>
        </p:nvSpPr>
        <p:spPr>
          <a:xfrm>
            <a:off x="8601075" y="4524375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7D67CE-22D8-4AAC-8524-77AC94760FFE}"/>
              </a:ext>
            </a:extLst>
          </p:cNvPr>
          <p:cNvSpPr>
            <a:spLocks noGrp="1"/>
          </p:cNvSpPr>
          <p:nvPr/>
        </p:nvSpPr>
        <p:spPr>
          <a:xfrm>
            <a:off x="8601075" y="4886325"/>
            <a:ext cx="2038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统一数据形状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8F5A2E-467C-42B7-B181-40FC4536CE2F}"/>
              </a:ext>
            </a:extLst>
          </p:cNvPr>
          <p:cNvSpPr>
            <a:spLocks noGrp="1"/>
          </p:cNvSpPr>
          <p:nvPr/>
        </p:nvSpPr>
        <p:spPr>
          <a:xfrm>
            <a:off x="8601075" y="5133975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D={(X,A,E,Y)} 支撑 OPE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9FEAAA-75AD-4246-A1A1-DC9D13AECD47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281DA3-8881-4A78-AEC3-9E3C2E7B8036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Sources: dataset_freezes/phase2_v1.json; data/counselbench/manifest.json; docs/phase5_*.md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41D7A4-6D4E-4660-B293-08C4B231AC7A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650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4AC6710-2D1E-43F7-99BB-1E21BAAE68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335DA2E-D976-466A-BC50-854EFA92DC24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7285EFC-AEDC-4B0B-9895-FB3D8D45CECE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REPORT 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C166C-E9DC-46F2-8EBB-1DBA1DD424A1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这份汇报把“数据从哪里来”和“分数怎么来”放在同一条证据链上。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AFAED4-3C68-45C7-8C08-542DC492451C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先固定主数据集与输入输出，再解释 reward / reward model，再补充 CounselBench 和 judge sensitivity。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3A5255-4FFA-4097-80A1-DE1E1B3BB5B0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5C8DC1-90CB-4146-A716-2ADAA42815D2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Local repo docs + manifests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9CDCF0-9AC4-4E21-B22D-84012BBA58E9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09EC13-8F29-4BB9-AB82-8521D0F7FB02}"/>
              </a:ext>
            </a:extLst>
          </p:cNvPr>
          <p:cNvSpPr>
            <a:spLocks noGrp="1"/>
          </p:cNvSpPr>
          <p:nvPr/>
        </p:nvSpPr>
        <p:spPr>
          <a:xfrm>
            <a:off x="714375" y="2400300"/>
            <a:ext cx="2476500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D10A0F-F3CC-4775-A32E-A5788E02BED3}"/>
              </a:ext>
            </a:extLst>
          </p:cNvPr>
          <p:cNvSpPr>
            <a:spLocks noGrp="1"/>
          </p:cNvSpPr>
          <p:nvPr/>
        </p:nvSpPr>
        <p:spPr>
          <a:xfrm>
            <a:off x="714375" y="2400300"/>
            <a:ext cx="323850" cy="1952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CB469A-8DB0-47C3-A30B-C3D846B5072F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0EDBC2-5E6B-46BA-9E6A-A4A0429617BB}"/>
              </a:ext>
            </a:extLst>
          </p:cNvPr>
          <p:cNvSpPr>
            <a:spLocks noGrp="1"/>
          </p:cNvSpPr>
          <p:nvPr/>
        </p:nvSpPr>
        <p:spPr>
          <a:xfrm>
            <a:off x="1171575" y="25146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三类医疗数据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77664A-98E5-47E2-B40A-8FD31D20EDE5}"/>
              </a:ext>
            </a:extLst>
          </p:cNvPr>
          <p:cNvSpPr>
            <a:spLocks noGrp="1"/>
          </p:cNvSpPr>
          <p:nvPr/>
        </p:nvSpPr>
        <p:spPr>
          <a:xfrm>
            <a:off x="1171575" y="2781300"/>
            <a:ext cx="1905000" cy="1400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名称、数量、链接、为什么能形成 clinical action。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786FBF-2136-48B0-8F8C-11900BB22C1E}"/>
              </a:ext>
            </a:extLst>
          </p:cNvPr>
          <p:cNvSpPr>
            <a:spLocks noGrp="1"/>
          </p:cNvSpPr>
          <p:nvPr/>
        </p:nvSpPr>
        <p:spPr>
          <a:xfrm>
            <a:off x="3429000" y="2400300"/>
            <a:ext cx="2476500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000339-67C4-49F8-AEFD-86C3453CE807}"/>
              </a:ext>
            </a:extLst>
          </p:cNvPr>
          <p:cNvSpPr>
            <a:spLocks noGrp="1"/>
          </p:cNvSpPr>
          <p:nvPr/>
        </p:nvSpPr>
        <p:spPr>
          <a:xfrm>
            <a:off x="3429000" y="2400300"/>
            <a:ext cx="323850" cy="1952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A61B0C-5553-4D1B-8C8D-B60C21091403}"/>
              </a:ext>
            </a:extLst>
          </p:cNvPr>
          <p:cNvSpPr>
            <a:spLocks noGrp="1"/>
          </p:cNvSpPr>
          <p:nvPr/>
        </p:nvSpPr>
        <p:spPr>
          <a:xfrm>
            <a:off x="3476625" y="251460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DAE6EA-65FE-4232-AD9A-79FEF6CD74EE}"/>
              </a:ext>
            </a:extLst>
          </p:cNvPr>
          <p:cNvSpPr>
            <a:spLocks noGrp="1"/>
          </p:cNvSpPr>
          <p:nvPr/>
        </p:nvSpPr>
        <p:spPr>
          <a:xfrm>
            <a:off x="3886200" y="25146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Canonical 构造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5735C1-D2AD-4CBF-94B8-B5A320D5BE2A}"/>
              </a:ext>
            </a:extLst>
          </p:cNvPr>
          <p:cNvSpPr>
            <a:spLocks noGrp="1"/>
          </p:cNvSpPr>
          <p:nvPr/>
        </p:nvSpPr>
        <p:spPr>
          <a:xfrm>
            <a:off x="3886200" y="2781300"/>
            <a:ext cx="1905000" cy="1400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原始输入 -&gt; X/A/E/Y -&gt; scored paired Phase 3。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A1BC92-2821-4BD2-9F80-85A99120AF7F}"/>
              </a:ext>
            </a:extLst>
          </p:cNvPr>
          <p:cNvSpPr>
            <a:spLocks noGrp="1"/>
          </p:cNvSpPr>
          <p:nvPr/>
        </p:nvSpPr>
        <p:spPr>
          <a:xfrm>
            <a:off x="6143625" y="2400300"/>
            <a:ext cx="2476500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4AC11A-AFD8-459D-91A6-362601658782}"/>
              </a:ext>
            </a:extLst>
          </p:cNvPr>
          <p:cNvSpPr>
            <a:spLocks noGrp="1"/>
          </p:cNvSpPr>
          <p:nvPr/>
        </p:nvSpPr>
        <p:spPr>
          <a:xfrm>
            <a:off x="6143625" y="2400300"/>
            <a:ext cx="323850" cy="1952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42E861-752C-40FB-BA42-93B9F75B2328}"/>
              </a:ext>
            </a:extLst>
          </p:cNvPr>
          <p:cNvSpPr>
            <a:spLocks noGrp="1"/>
          </p:cNvSpPr>
          <p:nvPr/>
        </p:nvSpPr>
        <p:spPr>
          <a:xfrm>
            <a:off x="6191250" y="251460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92C80-93CA-4EC4-8D25-0713B9E43747}"/>
              </a:ext>
            </a:extLst>
          </p:cNvPr>
          <p:cNvSpPr>
            <a:spLocks noGrp="1"/>
          </p:cNvSpPr>
          <p:nvPr/>
        </p:nvSpPr>
        <p:spPr>
          <a:xfrm>
            <a:off x="6600825" y="25146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Reward / RM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27CE99-8B3E-441F-8580-3509F1EA0082}"/>
              </a:ext>
            </a:extLst>
          </p:cNvPr>
          <p:cNvSpPr>
            <a:spLocks noGrp="1"/>
          </p:cNvSpPr>
          <p:nvPr/>
        </p:nvSpPr>
        <p:spPr>
          <a:xfrm>
            <a:off x="6600825" y="2781300"/>
            <a:ext cx="1905000" cy="1400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LLM-as-Judge 是当前 surrogate；RM 可用同一 scored schema 训练。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FB5481-5465-4C82-B8DF-F45FC33EAB76}"/>
              </a:ext>
            </a:extLst>
          </p:cNvPr>
          <p:cNvSpPr>
            <a:spLocks noGrp="1"/>
          </p:cNvSpPr>
          <p:nvPr/>
        </p:nvSpPr>
        <p:spPr>
          <a:xfrm>
            <a:off x="8858250" y="2400300"/>
            <a:ext cx="2476500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3E527C-C4DE-4814-9C86-23FDC2AA764D}"/>
              </a:ext>
            </a:extLst>
          </p:cNvPr>
          <p:cNvSpPr>
            <a:spLocks noGrp="1"/>
          </p:cNvSpPr>
          <p:nvPr/>
        </p:nvSpPr>
        <p:spPr>
          <a:xfrm>
            <a:off x="8858250" y="2400300"/>
            <a:ext cx="323850" cy="19526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6A4A32-B09E-41D4-A7CE-91CB2419E43A}"/>
              </a:ext>
            </a:extLst>
          </p:cNvPr>
          <p:cNvSpPr>
            <a:spLocks noGrp="1"/>
          </p:cNvSpPr>
          <p:nvPr/>
        </p:nvSpPr>
        <p:spPr>
          <a:xfrm>
            <a:off x="8905875" y="251460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A6B71F-18A9-49C3-A294-9C01EF30E072}"/>
              </a:ext>
            </a:extLst>
          </p:cNvPr>
          <p:cNvSpPr>
            <a:spLocks noGrp="1"/>
          </p:cNvSpPr>
          <p:nvPr/>
        </p:nvSpPr>
        <p:spPr>
          <a:xfrm>
            <a:off x="9315450" y="25146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+ Judge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32E388-F109-4E0C-AD62-4288148CAD5E}"/>
              </a:ext>
            </a:extLst>
          </p:cNvPr>
          <p:cNvSpPr>
            <a:spLocks noGrp="1"/>
          </p:cNvSpPr>
          <p:nvPr/>
        </p:nvSpPr>
        <p:spPr>
          <a:xfrm>
            <a:off x="9315450" y="2781300"/>
            <a:ext cx="1905000" cy="1400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专家标签构造、差异矩阵、GPT 与 Sonnet 4.6 对照。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60BC21-D653-4E84-8F63-329AF8D51ECF}"/>
              </a:ext>
            </a:extLst>
          </p:cNvPr>
          <p:cNvSpPr>
            <a:spLocks noGrp="1"/>
          </p:cNvSpPr>
          <p:nvPr/>
        </p:nvSpPr>
        <p:spPr>
          <a:xfrm>
            <a:off x="1123950" y="4695825"/>
            <a:ext cx="8810625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6C7614-D65C-49B2-8D1E-FDCF7F90073F}"/>
              </a:ext>
            </a:extLst>
          </p:cNvPr>
          <p:cNvSpPr>
            <a:spLocks noGrp="1"/>
          </p:cNvSpPr>
          <p:nvPr/>
        </p:nvSpPr>
        <p:spPr>
          <a:xfrm>
            <a:off x="1000125" y="51054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A5FB2E-FB3E-482A-BCE6-D86586C59A98}"/>
              </a:ext>
            </a:extLst>
          </p:cNvPr>
          <p:cNvSpPr>
            <a:spLocks noGrp="1"/>
          </p:cNvSpPr>
          <p:nvPr/>
        </p:nvSpPr>
        <p:spPr>
          <a:xfrm>
            <a:off x="1171575" y="5048250"/>
            <a:ext cx="973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主医疗 benchmark 用于 clinical final-output replacement：医生最终 A&amp;P vs agent action。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FDD186-F392-413E-B372-9C3106106D5E}"/>
              </a:ext>
            </a:extLst>
          </p:cNvPr>
          <p:cNvSpPr>
            <a:spLocks noGrp="1"/>
          </p:cNvSpPr>
          <p:nvPr/>
        </p:nvSpPr>
        <p:spPr>
          <a:xfrm>
            <a:off x="1000125" y="54292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A97FED-78B8-4BE6-A31C-47F6595F103A}"/>
              </a:ext>
            </a:extLst>
          </p:cNvPr>
          <p:cNvSpPr>
            <a:spLocks noGrp="1"/>
          </p:cNvSpPr>
          <p:nvPr/>
        </p:nvSpPr>
        <p:spPr>
          <a:xfrm>
            <a:off x="1171575" y="5372100"/>
            <a:ext cx="973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用 mental-health question/response 与专家标注，作为 expert-label sensitivity。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F321EB-4D0E-4F98-84EC-DB58FA681B71}"/>
              </a:ext>
            </a:extLst>
          </p:cNvPr>
          <p:cNvSpPr>
            <a:spLocks noGrp="1"/>
          </p:cNvSpPr>
          <p:nvPr/>
        </p:nvSpPr>
        <p:spPr>
          <a:xfrm>
            <a:off x="1000125" y="57531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D100288-D6E7-4EF7-B144-CDE24280481F}"/>
              </a:ext>
            </a:extLst>
          </p:cNvPr>
          <p:cNvSpPr>
            <a:spLocks noGrp="1"/>
          </p:cNvSpPr>
          <p:nvPr/>
        </p:nvSpPr>
        <p:spPr>
          <a:xfrm>
            <a:off x="1171575" y="5695950"/>
            <a:ext cx="973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Judge 对照重点看 score scale、effect gap、estimator ranking 是否稳定。</a:t>
            </a:r>
          </a:p>
        </p:txBody>
      </p:sp>
    </p:spTree>
    <p:extLst>
      <p:ext uri="{BB962C8B-B14F-4D97-AF65-F5344CB8AC3E}">
        <p14:creationId xmlns:p14="http://schemas.microsoft.com/office/powerpoint/2010/main" val="2090750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D9D8F64C-B197-42EC-B9CD-115E2800D4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AB20573F-DDAF-40D9-BC71-66E6E765B4F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4BA8650-319C-4B00-B4FE-A4BCCC70BA93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SOURCE INVENTORY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6C786F-0A57-431F-A47B-92C8DA26FA23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主实验实际使用三个公开 dialogue-note 数据集，共 397 条 included rows。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E7AFB-FB2A-46BB-83DE-6770E764AB2C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表中数量来自 Phase 2 freeze；链接为公开源数据地址。MedDialog 未进入这 397 条主实验数据。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E890AC-9490-4530-8714-FD04ACA420D3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082DB0-F74F-4083-95DE-A2B1BC83A3AC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dataset_freezes/phase2_v1.json; configs/sources.yaml; public dataset pages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3C2B69-4DD1-465B-ACAF-6EA547591818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C2E44F-F9F6-436D-B51A-7796B1866931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5240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B9879D-C90C-4342-9379-CF7829F5A0AF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371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数据集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FA41E5-44A0-48AB-AD8D-EEAC698D28F7}"/>
              </a:ext>
            </a:extLst>
          </p:cNvPr>
          <p:cNvSpPr>
            <a:spLocks noGrp="1"/>
          </p:cNvSpPr>
          <p:nvPr/>
        </p:nvSpPr>
        <p:spPr>
          <a:xfrm>
            <a:off x="2057400" y="1952625"/>
            <a:ext cx="8763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1D8A9-D018-4D90-BE13-E90304B22806}"/>
              </a:ext>
            </a:extLst>
          </p:cNvPr>
          <p:cNvSpPr>
            <a:spLocks noGrp="1"/>
          </p:cNvSpPr>
          <p:nvPr/>
        </p:nvSpPr>
        <p:spPr>
          <a:xfrm>
            <a:off x="2133600" y="2028825"/>
            <a:ext cx="723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使用数量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5CDB8A-95E7-4321-A611-B1958F936387}"/>
              </a:ext>
            </a:extLst>
          </p:cNvPr>
          <p:cNvSpPr>
            <a:spLocks noGrp="1"/>
          </p:cNvSpPr>
          <p:nvPr/>
        </p:nvSpPr>
        <p:spPr>
          <a:xfrm>
            <a:off x="2933700" y="1952625"/>
            <a:ext cx="23431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9B04FF-8CFE-4DA2-8DD0-D4FED9182B90}"/>
              </a:ext>
            </a:extLst>
          </p:cNvPr>
          <p:cNvSpPr>
            <a:spLocks noGrp="1"/>
          </p:cNvSpPr>
          <p:nvPr/>
        </p:nvSpPr>
        <p:spPr>
          <a:xfrm>
            <a:off x="3009900" y="2028825"/>
            <a:ext cx="2190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原始输入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6B09FC-DC64-42A9-ABF9-61C5EDE55E69}"/>
              </a:ext>
            </a:extLst>
          </p:cNvPr>
          <p:cNvSpPr>
            <a:spLocks noGrp="1"/>
          </p:cNvSpPr>
          <p:nvPr/>
        </p:nvSpPr>
        <p:spPr>
          <a:xfrm>
            <a:off x="5276850" y="1952625"/>
            <a:ext cx="28575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2C585E-F875-45D6-B33D-6BC1E8493D8B}"/>
              </a:ext>
            </a:extLst>
          </p:cNvPr>
          <p:cNvSpPr>
            <a:spLocks noGrp="1"/>
          </p:cNvSpPr>
          <p:nvPr/>
        </p:nvSpPr>
        <p:spPr>
          <a:xfrm>
            <a:off x="5353050" y="2028825"/>
            <a:ext cx="2705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抽取后的 A_i^b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634954-3F76-4735-B0C1-A40353EE86D0}"/>
              </a:ext>
            </a:extLst>
          </p:cNvPr>
          <p:cNvSpPr>
            <a:spLocks noGrp="1"/>
          </p:cNvSpPr>
          <p:nvPr/>
        </p:nvSpPr>
        <p:spPr>
          <a:xfrm>
            <a:off x="8134350" y="1952625"/>
            <a:ext cx="32194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422F74-427C-44F7-ABC9-EF285D068947}"/>
              </a:ext>
            </a:extLst>
          </p:cNvPr>
          <p:cNvSpPr>
            <a:spLocks noGrp="1"/>
          </p:cNvSpPr>
          <p:nvPr/>
        </p:nvSpPr>
        <p:spPr>
          <a:xfrm>
            <a:off x="8210550" y="2028825"/>
            <a:ext cx="3067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链接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13376-7AB4-4841-9AE5-66FCDA71B260}"/>
              </a:ext>
            </a:extLst>
          </p:cNvPr>
          <p:cNvSpPr>
            <a:spLocks noGrp="1"/>
          </p:cNvSpPr>
          <p:nvPr/>
        </p:nvSpPr>
        <p:spPr>
          <a:xfrm>
            <a:off x="533400" y="2352675"/>
            <a:ext cx="1524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B79BDE-2C7E-44F2-BDBB-2B2C2ECEB4CB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13716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 dirty="0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ACI-Bench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EAA51D-0B3D-472D-A833-633776EBCFE8}"/>
              </a:ext>
            </a:extLst>
          </p:cNvPr>
          <p:cNvSpPr>
            <a:spLocks noGrp="1"/>
          </p:cNvSpPr>
          <p:nvPr/>
        </p:nvSpPr>
        <p:spPr>
          <a:xfrm>
            <a:off x="2057400" y="2352675"/>
            <a:ext cx="8763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0A817B-BA9F-4ED3-9A10-FA3C03B755A7}"/>
              </a:ext>
            </a:extLst>
          </p:cNvPr>
          <p:cNvSpPr>
            <a:spLocks noGrp="1"/>
          </p:cNvSpPr>
          <p:nvPr/>
        </p:nvSpPr>
        <p:spPr>
          <a:xfrm>
            <a:off x="2133600" y="2428875"/>
            <a:ext cx="7239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207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96DC89-1651-4F1B-AEB4-7D5591616631}"/>
              </a:ext>
            </a:extLst>
          </p:cNvPr>
          <p:cNvSpPr>
            <a:spLocks noGrp="1"/>
          </p:cNvSpPr>
          <p:nvPr/>
        </p:nvSpPr>
        <p:spPr>
          <a:xfrm>
            <a:off x="2933700" y="2352675"/>
            <a:ext cx="23431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7E504A-A7DF-4524-B744-30542FFB6E0F}"/>
              </a:ext>
            </a:extLst>
          </p:cNvPr>
          <p:cNvSpPr>
            <a:spLocks noGrp="1"/>
          </p:cNvSpPr>
          <p:nvPr/>
        </p:nvSpPr>
        <p:spPr>
          <a:xfrm>
            <a:off x="3009900" y="2428875"/>
            <a:ext cx="2190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完整 doctor-patient conversation</a:t>
            </a:r>
          </a:p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+ associated clinical note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4B0722-81CF-431B-8CC4-2F93073ECC06}"/>
              </a:ext>
            </a:extLst>
          </p:cNvPr>
          <p:cNvSpPr>
            <a:spLocks noGrp="1"/>
          </p:cNvSpPr>
          <p:nvPr/>
        </p:nvSpPr>
        <p:spPr>
          <a:xfrm>
            <a:off x="5276850" y="2352675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CBB409-A763-4AE8-B7BE-06C579136940}"/>
              </a:ext>
            </a:extLst>
          </p:cNvPr>
          <p:cNvSpPr>
            <a:spLocks noGrp="1"/>
          </p:cNvSpPr>
          <p:nvPr/>
        </p:nvSpPr>
        <p:spPr>
          <a:xfrm>
            <a:off x="5353050" y="2428875"/>
            <a:ext cx="27051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从 assessment / impression /</a:t>
            </a:r>
          </a:p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diagnosis / plan 等 action-like note sections 抽取。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CB05D0-6F6C-42E5-B9BD-88C1C0788AFA}"/>
              </a:ext>
            </a:extLst>
          </p:cNvPr>
          <p:cNvSpPr>
            <a:spLocks noGrp="1"/>
          </p:cNvSpPr>
          <p:nvPr/>
        </p:nvSpPr>
        <p:spPr>
          <a:xfrm>
            <a:off x="8134350" y="2352675"/>
            <a:ext cx="32194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66EB47-969F-4F4F-9770-15E0BF958137}"/>
              </a:ext>
            </a:extLst>
          </p:cNvPr>
          <p:cNvSpPr>
            <a:spLocks noGrp="1"/>
          </p:cNvSpPr>
          <p:nvPr/>
        </p:nvSpPr>
        <p:spPr>
          <a:xfrm>
            <a:off x="8210550" y="2428875"/>
            <a:ext cx="3067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https://github.com/wyim/aci-bench</a:t>
            </a:r>
          </a:p>
          <a:p>
            <a:pPr algn="l">
              <a:def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数据集也指向 figshare corpus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DE9897-C354-4415-8031-1077838DE12F}"/>
              </a:ext>
            </a:extLst>
          </p:cNvPr>
          <p:cNvSpPr>
            <a:spLocks noGrp="1"/>
          </p:cNvSpPr>
          <p:nvPr/>
        </p:nvSpPr>
        <p:spPr>
          <a:xfrm>
            <a:off x="533400" y="3343275"/>
            <a:ext cx="1524000" cy="990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2F9F7A-13BD-48B4-A247-E70369CD9D9D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13716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MTS-Dialog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D62B08-99CC-407C-B7CA-A6C8FA7E837E}"/>
              </a:ext>
            </a:extLst>
          </p:cNvPr>
          <p:cNvSpPr>
            <a:spLocks noGrp="1"/>
          </p:cNvSpPr>
          <p:nvPr/>
        </p:nvSpPr>
        <p:spPr>
          <a:xfrm>
            <a:off x="2057400" y="3343275"/>
            <a:ext cx="876300" cy="990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B3BE94-E30B-494D-94BC-5197310CC594}"/>
              </a:ext>
            </a:extLst>
          </p:cNvPr>
          <p:cNvSpPr>
            <a:spLocks noGrp="1"/>
          </p:cNvSpPr>
          <p:nvPr/>
        </p:nvSpPr>
        <p:spPr>
          <a:xfrm>
            <a:off x="2133600" y="3419475"/>
            <a:ext cx="7239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142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7F4962-1538-4F87-A037-A661550694B6}"/>
              </a:ext>
            </a:extLst>
          </p:cNvPr>
          <p:cNvSpPr>
            <a:spLocks noGrp="1"/>
          </p:cNvSpPr>
          <p:nvPr/>
        </p:nvSpPr>
        <p:spPr>
          <a:xfrm>
            <a:off x="2933700" y="3343275"/>
            <a:ext cx="2343150" cy="990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F98060-EDDB-448D-BE92-5C174412D59D}"/>
              </a:ext>
            </a:extLst>
          </p:cNvPr>
          <p:cNvSpPr>
            <a:spLocks noGrp="1"/>
          </p:cNvSpPr>
          <p:nvPr/>
        </p:nvSpPr>
        <p:spPr>
          <a:xfrm>
            <a:off x="3009900" y="3419475"/>
            <a:ext cx="2190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短 doctor-patient dialogue</a:t>
            </a:r>
          </a:p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+ normalized section header</a:t>
            </a:r>
          </a:p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+ section summary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CA4172-D6CE-42B1-B0C9-525964A7E0EF}"/>
              </a:ext>
            </a:extLst>
          </p:cNvPr>
          <p:cNvSpPr>
            <a:spLocks noGrp="1"/>
          </p:cNvSpPr>
          <p:nvPr/>
        </p:nvSpPr>
        <p:spPr>
          <a:xfrm>
            <a:off x="5276850" y="3343275"/>
            <a:ext cx="2857500" cy="990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60F879-81E4-4CE5-A5B9-13D2B9D19781}"/>
              </a:ext>
            </a:extLst>
          </p:cNvPr>
          <p:cNvSpPr>
            <a:spLocks noGrp="1"/>
          </p:cNvSpPr>
          <p:nvPr/>
        </p:nvSpPr>
        <p:spPr>
          <a:xfrm>
            <a:off x="5353050" y="3419475"/>
            <a:ext cx="27051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只保留 assessment / diagnosis /</a:t>
            </a:r>
          </a:p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plan / disposition / edcourse 等 action-like headers。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A42F88-8C9B-442D-B859-B3156ED6B74B}"/>
              </a:ext>
            </a:extLst>
          </p:cNvPr>
          <p:cNvSpPr>
            <a:spLocks noGrp="1"/>
          </p:cNvSpPr>
          <p:nvPr/>
        </p:nvSpPr>
        <p:spPr>
          <a:xfrm>
            <a:off x="8134350" y="3343275"/>
            <a:ext cx="3219450" cy="990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5F6AE53-333D-4EA3-AE01-8A3648B1C25A}"/>
              </a:ext>
            </a:extLst>
          </p:cNvPr>
          <p:cNvSpPr>
            <a:spLocks noGrp="1"/>
          </p:cNvSpPr>
          <p:nvPr/>
        </p:nvSpPr>
        <p:spPr>
          <a:xfrm>
            <a:off x="8210550" y="3419475"/>
            <a:ext cx="3067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https://github.com/abachaa/MTS-Dialog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D01F9AD-2BBB-41E3-BC7E-E8605966A7AF}"/>
              </a:ext>
            </a:extLst>
          </p:cNvPr>
          <p:cNvSpPr>
            <a:spLocks noGrp="1"/>
          </p:cNvSpPr>
          <p:nvPr/>
        </p:nvSpPr>
        <p:spPr>
          <a:xfrm>
            <a:off x="533400" y="4333875"/>
            <a:ext cx="1524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E12237E-02CB-4FB1-B0B8-89903EFFA87E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13716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PriMock57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3E080E-D223-4B97-AE88-4788BA00F361}"/>
              </a:ext>
            </a:extLst>
          </p:cNvPr>
          <p:cNvSpPr>
            <a:spLocks noGrp="1"/>
          </p:cNvSpPr>
          <p:nvPr/>
        </p:nvSpPr>
        <p:spPr>
          <a:xfrm>
            <a:off x="2057400" y="4333875"/>
            <a:ext cx="8763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4166AC-5A1D-4C5D-82B1-4C27F0CA8E38}"/>
              </a:ext>
            </a:extLst>
          </p:cNvPr>
          <p:cNvSpPr>
            <a:spLocks noGrp="1"/>
          </p:cNvSpPr>
          <p:nvPr/>
        </p:nvSpPr>
        <p:spPr>
          <a:xfrm>
            <a:off x="2133600" y="4410075"/>
            <a:ext cx="7239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81133D-42D5-4542-9894-5247E0075061}"/>
              </a:ext>
            </a:extLst>
          </p:cNvPr>
          <p:cNvSpPr>
            <a:spLocks noGrp="1"/>
          </p:cNvSpPr>
          <p:nvPr/>
        </p:nvSpPr>
        <p:spPr>
          <a:xfrm>
            <a:off x="2933700" y="4333875"/>
            <a:ext cx="23431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88A802-1E1D-43F7-8B43-991020105C59}"/>
              </a:ext>
            </a:extLst>
          </p:cNvPr>
          <p:cNvSpPr>
            <a:spLocks noGrp="1"/>
          </p:cNvSpPr>
          <p:nvPr/>
        </p:nvSpPr>
        <p:spPr>
          <a:xfrm>
            <a:off x="3009900" y="4410075"/>
            <a:ext cx="2190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TextGrid doctor/patient transcripts</a:t>
            </a:r>
          </a:p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+ clinician consultation notes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0AE62F-7DF6-40B3-AFAE-4E75B6E73070}"/>
              </a:ext>
            </a:extLst>
          </p:cNvPr>
          <p:cNvSpPr>
            <a:spLocks noGrp="1"/>
          </p:cNvSpPr>
          <p:nvPr/>
        </p:nvSpPr>
        <p:spPr>
          <a:xfrm>
            <a:off x="5276850" y="4333875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F78E1F-CA87-4AD8-BB8E-5E92FEF67035}"/>
              </a:ext>
            </a:extLst>
          </p:cNvPr>
          <p:cNvSpPr>
            <a:spLocks noGrp="1"/>
          </p:cNvSpPr>
          <p:nvPr/>
        </p:nvSpPr>
        <p:spPr>
          <a:xfrm>
            <a:off x="5353050" y="4410075"/>
            <a:ext cx="27051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按 timestamp 合并 transcript；从 note 中抽取 impression / plan-like text。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35A6A4-8F6F-4976-805B-88E00C7ECE51}"/>
              </a:ext>
            </a:extLst>
          </p:cNvPr>
          <p:cNvSpPr>
            <a:spLocks noGrp="1"/>
          </p:cNvSpPr>
          <p:nvPr/>
        </p:nvSpPr>
        <p:spPr>
          <a:xfrm>
            <a:off x="8134350" y="4333875"/>
            <a:ext cx="32194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C4E2B1F-971C-47DA-B626-7FB489F74D6B}"/>
              </a:ext>
            </a:extLst>
          </p:cNvPr>
          <p:cNvSpPr>
            <a:spLocks noGrp="1"/>
          </p:cNvSpPr>
          <p:nvPr/>
        </p:nvSpPr>
        <p:spPr>
          <a:xfrm>
            <a:off x="8210550" y="4410075"/>
            <a:ext cx="3067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https://github.com/babylonhealth/primock57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D8AD5D3-2507-4344-B724-49D3F0A3A3BD}"/>
              </a:ext>
            </a:extLst>
          </p:cNvPr>
          <p:cNvSpPr>
            <a:spLocks noGrp="1"/>
          </p:cNvSpPr>
          <p:nvPr/>
        </p:nvSpPr>
        <p:spPr>
          <a:xfrm>
            <a:off x="533400" y="5286375"/>
            <a:ext cx="10572750" cy="628650"/>
          </a:xfrm>
          <a:prstGeom prst="rect">
            <a:avLst/>
          </a:prstGeom>
          <a:solidFill>
            <a:srgbClr val="DCEFEB"/>
          </a:solidFill>
          <a:ln w="0">
            <a:solidFill>
              <a:srgbClr val="DCE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645E93F-B6F5-4BB8-A37A-5E8C35854FFF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讲解口径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0020B78-71BC-4A75-ACD5-6DED9A417758}"/>
              </a:ext>
            </a:extLst>
          </p:cNvPr>
          <p:cNvSpPr>
            <a:spLocks noGrp="1"/>
          </p:cNvSpPr>
          <p:nvPr/>
        </p:nvSpPr>
        <p:spPr>
          <a:xfrm>
            <a:off x="1695450" y="5410200"/>
            <a:ext cx="895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这三类源数据共同点是：都能给出患者上下文 X 和医生最终 action A_i^b；差异在于 action section 的位置和可靠性，所以 adapter 必须按 source 分开写。</a:t>
            </a:r>
          </a:p>
        </p:txBody>
      </p:sp>
    </p:spTree>
    <p:extLst>
      <p:ext uri="{BB962C8B-B14F-4D97-AF65-F5344CB8AC3E}">
        <p14:creationId xmlns:p14="http://schemas.microsoft.com/office/powerpoint/2010/main" val="1190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2C7FE38-B964-4A0C-A6B9-E5B366124F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789AF2F-E75B-4C1F-BC19-4395287038C7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2AE76D2-B454-40AC-9F86-7DAA1AEFA39B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CANONICAL SHAPE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A5C0A4-D564-41C0-8E48-152688055AD2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统一 schema 的目标是让不同来源都回答同一个 logged-bandit 问题。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6759FE-81A7-4AA2-8411-0E068899277A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Phase 2 freeze 固定 D={(X_i, A_i^b, E_i, Y_i)}，后续 scoring、agent generation、OPE 都依赖这四个核心对象。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486CB3-CBDC-4F5E-B268-E17B59D8A2CB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8312A6-6A19-4F7A-BB6D-083C59E98155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README.md Canonical Schema; docs/phase2_data_construction_review.md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16D22E-AB75-4B7E-A438-A13948D99AEC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150C04-E170-4F34-A192-4F6789996459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10858500" cy="8382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F58E49-7B03-43B6-A1DA-2A74536F8C7C}"/>
              </a:ext>
            </a:extLst>
          </p:cNvPr>
          <p:cNvSpPr>
            <a:spLocks noGrp="1"/>
          </p:cNvSpPr>
          <p:nvPr/>
        </p:nvSpPr>
        <p:spPr>
          <a:xfrm>
            <a:off x="1047750" y="2257425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 = { ( X_i,  A_i^b,  E_i,  Y_i ) }_{i=1}^n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F8C72-3EDF-47FB-9193-1530BC6A11E3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4574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5DDF82-2EF9-4487-A4D7-49F17EB73E74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4574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BB523-F2B0-4B78-9C93-10637178B8E5}"/>
              </a:ext>
            </a:extLst>
          </p:cNvPr>
          <p:cNvSpPr>
            <a:spLocks noGrp="1"/>
          </p:cNvSpPr>
          <p:nvPr/>
        </p:nvSpPr>
        <p:spPr>
          <a:xfrm>
            <a:off x="857250" y="3562350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X_i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111C22-1968-4955-B8F2-BAD8AAD152A7}"/>
              </a:ext>
            </a:extLst>
          </p:cNvPr>
          <p:cNvSpPr>
            <a:spLocks noGrp="1"/>
          </p:cNvSpPr>
          <p:nvPr/>
        </p:nvSpPr>
        <p:spPr>
          <a:xfrm>
            <a:off x="1543050" y="3648075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time-zero patient context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9C2A6B-0533-465B-912B-45F374BAB8D5}"/>
              </a:ext>
            </a:extLst>
          </p:cNvPr>
          <p:cNvSpPr>
            <a:spLocks noGrp="1"/>
          </p:cNvSpPr>
          <p:nvPr/>
        </p:nvSpPr>
        <p:spPr>
          <a:xfrm>
            <a:off x="857250" y="4057650"/>
            <a:ext cx="20383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只包含 action 之前可见的信息；不能泄漏最终诊断、assessment 或 plan。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743CD6-0098-44A6-85AC-42FDB67823E7}"/>
              </a:ext>
            </a:extLst>
          </p:cNvPr>
          <p:cNvSpPr>
            <a:spLocks noGrp="1"/>
          </p:cNvSpPr>
          <p:nvPr/>
        </p:nvSpPr>
        <p:spPr>
          <a:xfrm>
            <a:off x="3362325" y="3333750"/>
            <a:ext cx="24574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AFDF34-11EB-40DF-911A-ED2097FE8FAC}"/>
              </a:ext>
            </a:extLst>
          </p:cNvPr>
          <p:cNvSpPr>
            <a:spLocks noGrp="1"/>
          </p:cNvSpPr>
          <p:nvPr/>
        </p:nvSpPr>
        <p:spPr>
          <a:xfrm>
            <a:off x="3362325" y="3333750"/>
            <a:ext cx="2457450" cy="47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A5A0B3-3961-4D55-BBBF-AE7650E5EF21}"/>
              </a:ext>
            </a:extLst>
          </p:cNvPr>
          <p:cNvSpPr>
            <a:spLocks noGrp="1"/>
          </p:cNvSpPr>
          <p:nvPr/>
        </p:nvSpPr>
        <p:spPr>
          <a:xfrm>
            <a:off x="3552825" y="3562350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A_i^b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EB1823-1C9C-4F69-A4F8-4725F0B2C330}"/>
              </a:ext>
            </a:extLst>
          </p:cNvPr>
          <p:cNvSpPr>
            <a:spLocks noGrp="1"/>
          </p:cNvSpPr>
          <p:nvPr/>
        </p:nvSpPr>
        <p:spPr>
          <a:xfrm>
            <a:off x="4238625" y="3648075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behavior action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D46779-4D50-4237-AB1B-C5163C4426C1}"/>
              </a:ext>
            </a:extLst>
          </p:cNvPr>
          <p:cNvSpPr>
            <a:spLocks noGrp="1"/>
          </p:cNvSpPr>
          <p:nvPr/>
        </p:nvSpPr>
        <p:spPr>
          <a:xfrm>
            <a:off x="3552825" y="4057650"/>
            <a:ext cx="20383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历史医生最终输出：诊断、鉴别诊断、assessment、management plan。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44C9F0-1A69-4D85-8CDA-61A6E653CA04}"/>
              </a:ext>
            </a:extLst>
          </p:cNvPr>
          <p:cNvSpPr>
            <a:spLocks noGrp="1"/>
          </p:cNvSpPr>
          <p:nvPr/>
        </p:nvSpPr>
        <p:spPr>
          <a:xfrm>
            <a:off x="6057900" y="3333750"/>
            <a:ext cx="24574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44DA7E-3146-4D0C-B12F-7892D7B230FE}"/>
              </a:ext>
            </a:extLst>
          </p:cNvPr>
          <p:cNvSpPr>
            <a:spLocks noGrp="1"/>
          </p:cNvSpPr>
          <p:nvPr/>
        </p:nvSpPr>
        <p:spPr>
          <a:xfrm>
            <a:off x="6057900" y="3333750"/>
            <a:ext cx="2457450" cy="476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F70323-B4ED-4D76-BFDA-EACDEAF18BB2}"/>
              </a:ext>
            </a:extLst>
          </p:cNvPr>
          <p:cNvSpPr>
            <a:spLocks noGrp="1"/>
          </p:cNvSpPr>
          <p:nvPr/>
        </p:nvSpPr>
        <p:spPr>
          <a:xfrm>
            <a:off x="6248400" y="3562350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E_i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4B65BC-76C8-4D62-8DF7-263B592DCF0D}"/>
              </a:ext>
            </a:extLst>
          </p:cNvPr>
          <p:cNvSpPr>
            <a:spLocks noGrp="1"/>
          </p:cNvSpPr>
          <p:nvPr/>
        </p:nvSpPr>
        <p:spPr>
          <a:xfrm>
            <a:off x="6934200" y="3648075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action representation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A1A94A-3E7E-4D6F-A31C-5C698A894BC4}"/>
              </a:ext>
            </a:extLst>
          </p:cNvPr>
          <p:cNvSpPr>
            <a:spLocks noGrp="1"/>
          </p:cNvSpPr>
          <p:nvPr/>
        </p:nvSpPr>
        <p:spPr>
          <a:xfrm>
            <a:off x="6248400" y="4057650"/>
            <a:ext cx="20383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为后续 embedding / cluster / common support 保留；Phase 5 实际用 φ(x), φ(a)。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3224FE-1EA7-4077-BEF0-2E37DD54D3DF}"/>
              </a:ext>
            </a:extLst>
          </p:cNvPr>
          <p:cNvSpPr>
            <a:spLocks noGrp="1"/>
          </p:cNvSpPr>
          <p:nvPr/>
        </p:nvSpPr>
        <p:spPr>
          <a:xfrm>
            <a:off x="8753475" y="3333750"/>
            <a:ext cx="24574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882474-A289-426D-B76A-83B70C37DAD2}"/>
              </a:ext>
            </a:extLst>
          </p:cNvPr>
          <p:cNvSpPr>
            <a:spLocks noGrp="1"/>
          </p:cNvSpPr>
          <p:nvPr/>
        </p:nvSpPr>
        <p:spPr>
          <a:xfrm>
            <a:off x="8753475" y="3333750"/>
            <a:ext cx="245745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553C2A-AC54-42C7-842B-5FE187979D1F}"/>
              </a:ext>
            </a:extLst>
          </p:cNvPr>
          <p:cNvSpPr>
            <a:spLocks noGrp="1"/>
          </p:cNvSpPr>
          <p:nvPr/>
        </p:nvSpPr>
        <p:spPr>
          <a:xfrm>
            <a:off x="8943975" y="3562350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Y_i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AF306F-7BA1-4B45-BAFF-334CC2B3B01D}"/>
              </a:ext>
            </a:extLst>
          </p:cNvPr>
          <p:cNvSpPr>
            <a:spLocks noGrp="1"/>
          </p:cNvSpPr>
          <p:nvPr/>
        </p:nvSpPr>
        <p:spPr>
          <a:xfrm>
            <a:off x="9629775" y="3648075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reward outcome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2F1CB6-5C96-4273-90CD-805DFE633CA7}"/>
              </a:ext>
            </a:extLst>
          </p:cNvPr>
          <p:cNvSpPr>
            <a:spLocks noGrp="1"/>
          </p:cNvSpPr>
          <p:nvPr/>
        </p:nvSpPr>
        <p:spPr>
          <a:xfrm>
            <a:off x="8943975" y="4057650"/>
            <a:ext cx="20383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归一化到</a:t>
            </a:r>
            <a:r>
              <a:rPr sz="975" b="0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[0,1] </a:t>
            </a:r>
            <a:r>
              <a:rPr sz="975" b="0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的</a:t>
            </a:r>
            <a:r>
              <a:rPr sz="975" b="0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rubric / reward </a:t>
            </a:r>
            <a:r>
              <a:rPr sz="975" b="0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score；可由</a:t>
            </a:r>
            <a:r>
              <a:rPr sz="975" b="0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LLM judge </a:t>
            </a:r>
            <a:r>
              <a:rPr sz="975" b="0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或</a:t>
            </a:r>
            <a:r>
              <a:rPr sz="975" b="0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expert label </a:t>
            </a:r>
            <a:r>
              <a:rPr sz="975" b="0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给出</a:t>
            </a:r>
            <a:r>
              <a:rPr sz="975" b="0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66D181-163C-454E-8E94-898CD8C01E0B}"/>
              </a:ext>
            </a:extLst>
          </p:cNvPr>
          <p:cNvSpPr>
            <a:spLocks noGrp="1"/>
          </p:cNvSpPr>
          <p:nvPr/>
        </p:nvSpPr>
        <p:spPr>
          <a:xfrm>
            <a:off x="876300" y="5572125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关键：不同 raw format 只是在 adapter 层不同；进入 D 之后，训练 reward model、生成 agent action、估计 policy value 的接口必须一致。</a:t>
            </a:r>
          </a:p>
        </p:txBody>
      </p:sp>
    </p:spTree>
    <p:extLst>
      <p:ext uri="{BB962C8B-B14F-4D97-AF65-F5344CB8AC3E}">
        <p14:creationId xmlns:p14="http://schemas.microsoft.com/office/powerpoint/2010/main" val="210772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82A3B222-C972-438F-9724-80720651CC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CC41AB2-C881-44F4-8EB9-D9E87E228F42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71E4111-F9B0-4834-8376-D1E1EEAA93F0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CONSTRUCTION CONTRACT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C4953-9343-4183-84DA-B870BF51F615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数据构造不是一次性清洗，而是“解析、抽取、冻结、打分”分层完成。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031B49-62C7-4C7E-A0B5-C9865F226377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这样可以把 source parsing、causal assumptions 和 reward labeling 分开审计。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AD8F44-5F7F-4AAB-AA58-86E5307A85FE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C0CA78-E024-4A03-A963-A953A7B9E227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src/cce_data/build.py; README.md Phase 2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228A98-EB10-4ED3-BCA9-E325BC4D29D6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F6F462-BBD9-4C34-AD85-3BA77F68C48D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1685925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B8F5B0-2414-4DD8-9939-B4B6A4D21932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323850" cy="14859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39E9A9-B843-4FDD-B8A6-C6975C948EC4}"/>
              </a:ext>
            </a:extLst>
          </p:cNvPr>
          <p:cNvSpPr>
            <a:spLocks noGrp="1"/>
          </p:cNvSpPr>
          <p:nvPr/>
        </p:nvSpPr>
        <p:spPr>
          <a:xfrm>
            <a:off x="638175" y="220980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1816F-0902-4149-8172-83A857B72666}"/>
              </a:ext>
            </a:extLst>
          </p:cNvPr>
          <p:cNvSpPr>
            <a:spLocks noGrp="1"/>
          </p:cNvSpPr>
          <p:nvPr/>
        </p:nvSpPr>
        <p:spPr>
          <a:xfrm>
            <a:off x="1047750" y="2209800"/>
            <a:ext cx="1114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download raw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CFB9CA-B89E-4C8A-966F-3F0AC7BB6713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1114425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cce-download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拉取 GitHub/HF raw files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01ABC4-B730-4E4C-A8A5-0EFF0E75E8F5}"/>
              </a:ext>
            </a:extLst>
          </p:cNvPr>
          <p:cNvSpPr>
            <a:spLocks noGrp="1"/>
          </p:cNvSpPr>
          <p:nvPr/>
        </p:nvSpPr>
        <p:spPr>
          <a:xfrm>
            <a:off x="2314575" y="2809875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3D3FF1-64B6-433C-8B6E-92007502A478}"/>
              </a:ext>
            </a:extLst>
          </p:cNvPr>
          <p:cNvSpPr>
            <a:spLocks noGrp="1"/>
          </p:cNvSpPr>
          <p:nvPr/>
        </p:nvSpPr>
        <p:spPr>
          <a:xfrm>
            <a:off x="2381250" y="2095500"/>
            <a:ext cx="1685925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E200A9-22B4-4376-8C0C-08E2BD92D2F1}"/>
              </a:ext>
            </a:extLst>
          </p:cNvPr>
          <p:cNvSpPr>
            <a:spLocks noGrp="1"/>
          </p:cNvSpPr>
          <p:nvPr/>
        </p:nvSpPr>
        <p:spPr>
          <a:xfrm>
            <a:off x="2381250" y="2095500"/>
            <a:ext cx="323850" cy="1485900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CD5E9F-4C23-457B-97C3-3315EB3846F8}"/>
              </a:ext>
            </a:extLst>
          </p:cNvPr>
          <p:cNvSpPr>
            <a:spLocks noGrp="1"/>
          </p:cNvSpPr>
          <p:nvPr/>
        </p:nvSpPr>
        <p:spPr>
          <a:xfrm>
            <a:off x="2428875" y="220980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820FA7-61AF-4343-A0A2-6206968D8D08}"/>
              </a:ext>
            </a:extLst>
          </p:cNvPr>
          <p:cNvSpPr>
            <a:spLocks noGrp="1"/>
          </p:cNvSpPr>
          <p:nvPr/>
        </p:nvSpPr>
        <p:spPr>
          <a:xfrm>
            <a:off x="2838450" y="2209800"/>
            <a:ext cx="1114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source adapter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BCF384-D6DF-47D6-9FD4-6B7AC018F628}"/>
              </a:ext>
            </a:extLst>
          </p:cNvPr>
          <p:cNvSpPr>
            <a:spLocks noGrp="1"/>
          </p:cNvSpPr>
          <p:nvPr/>
        </p:nvSpPr>
        <p:spPr>
          <a:xfrm>
            <a:off x="2838450" y="2476500"/>
            <a:ext cx="1114425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按 source 解析 dialogue、note、section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418023-20A3-4F8E-B8ED-12CDEBDD639B}"/>
              </a:ext>
            </a:extLst>
          </p:cNvPr>
          <p:cNvSpPr>
            <a:spLocks noGrp="1"/>
          </p:cNvSpPr>
          <p:nvPr/>
        </p:nvSpPr>
        <p:spPr>
          <a:xfrm>
            <a:off x="4105275" y="2809875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9FE3F5-31BF-40F5-82BC-72BA03574FB6}"/>
              </a:ext>
            </a:extLst>
          </p:cNvPr>
          <p:cNvSpPr>
            <a:spLocks noGrp="1"/>
          </p:cNvSpPr>
          <p:nvPr/>
        </p:nvSpPr>
        <p:spPr>
          <a:xfrm>
            <a:off x="4171950" y="2095500"/>
            <a:ext cx="1685925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4A1B11-40AA-450A-BA84-1FB307D297DD}"/>
              </a:ext>
            </a:extLst>
          </p:cNvPr>
          <p:cNvSpPr>
            <a:spLocks noGrp="1"/>
          </p:cNvSpPr>
          <p:nvPr/>
        </p:nvSpPr>
        <p:spPr>
          <a:xfrm>
            <a:off x="4171950" y="2095500"/>
            <a:ext cx="323850" cy="1485900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55D2F6-47E5-468B-AAD7-6A97D9A847BE}"/>
              </a:ext>
            </a:extLst>
          </p:cNvPr>
          <p:cNvSpPr>
            <a:spLocks noGrp="1"/>
          </p:cNvSpPr>
          <p:nvPr/>
        </p:nvSpPr>
        <p:spPr>
          <a:xfrm>
            <a:off x="4219575" y="220980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961023-7CE7-47D8-A3CE-6019DACC207C}"/>
              </a:ext>
            </a:extLst>
          </p:cNvPr>
          <p:cNvSpPr>
            <a:spLocks noGrp="1"/>
          </p:cNvSpPr>
          <p:nvPr/>
        </p:nvSpPr>
        <p:spPr>
          <a:xfrm>
            <a:off x="4629150" y="2209800"/>
            <a:ext cx="1114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extract X/A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E3CF5A-456B-4C27-94D8-B85CDDE68F48}"/>
              </a:ext>
            </a:extLst>
          </p:cNvPr>
          <p:cNvSpPr>
            <a:spLocks noGrp="1"/>
          </p:cNvSpPr>
          <p:nvPr/>
        </p:nvSpPr>
        <p:spPr>
          <a:xfrm>
            <a:off x="4629150" y="2476500"/>
            <a:ext cx="1114425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生成 x_patient_context 与 a_clinician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17CB6B-AF1F-4AC4-A4AD-1E3BA37EE259}"/>
              </a:ext>
            </a:extLst>
          </p:cNvPr>
          <p:cNvSpPr>
            <a:spLocks noGrp="1"/>
          </p:cNvSpPr>
          <p:nvPr/>
        </p:nvSpPr>
        <p:spPr>
          <a:xfrm>
            <a:off x="5895975" y="2809875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07DA1A-CEE1-4F0A-8B62-1D66024B3C40}"/>
              </a:ext>
            </a:extLst>
          </p:cNvPr>
          <p:cNvSpPr>
            <a:spLocks noGrp="1"/>
          </p:cNvSpPr>
          <p:nvPr/>
        </p:nvSpPr>
        <p:spPr>
          <a:xfrm>
            <a:off x="5962650" y="2095500"/>
            <a:ext cx="1685925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8ACDA-B1BF-42BC-9FAF-D7FE847306C6}"/>
              </a:ext>
            </a:extLst>
          </p:cNvPr>
          <p:cNvSpPr>
            <a:spLocks noGrp="1"/>
          </p:cNvSpPr>
          <p:nvPr/>
        </p:nvSpPr>
        <p:spPr>
          <a:xfrm>
            <a:off x="5962650" y="2095500"/>
            <a:ext cx="323850" cy="14859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16BBDA-BB24-4CE3-AC22-47C70E4F304F}"/>
              </a:ext>
            </a:extLst>
          </p:cNvPr>
          <p:cNvSpPr>
            <a:spLocks noGrp="1"/>
          </p:cNvSpPr>
          <p:nvPr/>
        </p:nvSpPr>
        <p:spPr>
          <a:xfrm>
            <a:off x="6010275" y="220980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DCAB0E-0505-42B7-8004-814941421BE8}"/>
              </a:ext>
            </a:extLst>
          </p:cNvPr>
          <p:cNvSpPr>
            <a:spLocks noGrp="1"/>
          </p:cNvSpPr>
          <p:nvPr/>
        </p:nvSpPr>
        <p:spPr>
          <a:xfrm>
            <a:off x="6419850" y="2209800"/>
            <a:ext cx="1114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QA + freeze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DA9808-9B3B-400B-9E48-2E04CA058394}"/>
              </a:ext>
            </a:extLst>
          </p:cNvPr>
          <p:cNvSpPr>
            <a:spLocks noGrp="1"/>
          </p:cNvSpPr>
          <p:nvPr/>
        </p:nvSpPr>
        <p:spPr>
          <a:xfrm>
            <a:off x="6419850" y="2476500"/>
            <a:ext cx="1114425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included-only freeze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397 rows + sha256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E59908-845F-44C5-8F3E-CF0E46AED13E}"/>
              </a:ext>
            </a:extLst>
          </p:cNvPr>
          <p:cNvSpPr>
            <a:spLocks noGrp="1"/>
          </p:cNvSpPr>
          <p:nvPr/>
        </p:nvSpPr>
        <p:spPr>
          <a:xfrm>
            <a:off x="7686675" y="2809875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57F3BC-DA9B-4F87-8284-2108095082DF}"/>
              </a:ext>
            </a:extLst>
          </p:cNvPr>
          <p:cNvSpPr>
            <a:spLocks noGrp="1"/>
          </p:cNvSpPr>
          <p:nvPr/>
        </p:nvSpPr>
        <p:spPr>
          <a:xfrm>
            <a:off x="7753350" y="2095500"/>
            <a:ext cx="1685925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F19E38-A3D6-4604-9AD4-53D13AFCA4BC}"/>
              </a:ext>
            </a:extLst>
          </p:cNvPr>
          <p:cNvSpPr>
            <a:spLocks noGrp="1"/>
          </p:cNvSpPr>
          <p:nvPr/>
        </p:nvSpPr>
        <p:spPr>
          <a:xfrm>
            <a:off x="7753350" y="2095500"/>
            <a:ext cx="323850" cy="14859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BF8F91-7DB6-45F8-83F0-AF0A5DAB6D8C}"/>
              </a:ext>
            </a:extLst>
          </p:cNvPr>
          <p:cNvSpPr>
            <a:spLocks noGrp="1"/>
          </p:cNvSpPr>
          <p:nvPr/>
        </p:nvSpPr>
        <p:spPr>
          <a:xfrm>
            <a:off x="7800975" y="220980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C0DA3B-E1D9-45C8-B4A0-9508BFF18F49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1114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score 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4B0F85-BA38-4DEB-84C4-4FF8B50F1783}"/>
              </a:ext>
            </a:extLst>
          </p:cNvPr>
          <p:cNvSpPr>
            <a:spLocks noGrp="1"/>
          </p:cNvSpPr>
          <p:nvPr/>
        </p:nvSpPr>
        <p:spPr>
          <a:xfrm>
            <a:off x="8210550" y="2476500"/>
            <a:ext cx="1114425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LLM judge / RM / expert label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写入 y_score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A3171C-7BF5-471B-A5B1-91A42CE9A0E0}"/>
              </a:ext>
            </a:extLst>
          </p:cNvPr>
          <p:cNvSpPr>
            <a:spLocks noGrp="1"/>
          </p:cNvSpPr>
          <p:nvPr/>
        </p:nvSpPr>
        <p:spPr>
          <a:xfrm>
            <a:off x="9477375" y="2809875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A03C78A-7A26-4AF7-B45C-0D23AC420DCA}"/>
              </a:ext>
            </a:extLst>
          </p:cNvPr>
          <p:cNvSpPr>
            <a:spLocks noGrp="1"/>
          </p:cNvSpPr>
          <p:nvPr/>
        </p:nvSpPr>
        <p:spPr>
          <a:xfrm>
            <a:off x="9544050" y="2095500"/>
            <a:ext cx="1685925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105F40-E261-4CAA-A9A0-CCCFE1BE6945}"/>
              </a:ext>
            </a:extLst>
          </p:cNvPr>
          <p:cNvSpPr>
            <a:spLocks noGrp="1"/>
          </p:cNvSpPr>
          <p:nvPr/>
        </p:nvSpPr>
        <p:spPr>
          <a:xfrm>
            <a:off x="9544050" y="2095500"/>
            <a:ext cx="323850" cy="14859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BBEA3AD-7C0C-4C9A-AAD3-F0D011B76C13}"/>
              </a:ext>
            </a:extLst>
          </p:cNvPr>
          <p:cNvSpPr>
            <a:spLocks noGrp="1"/>
          </p:cNvSpPr>
          <p:nvPr/>
        </p:nvSpPr>
        <p:spPr>
          <a:xfrm>
            <a:off x="9591675" y="220980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25ADA4-0345-4B11-8E6D-CA85BCB04FA9}"/>
              </a:ext>
            </a:extLst>
          </p:cNvPr>
          <p:cNvSpPr>
            <a:spLocks noGrp="1"/>
          </p:cNvSpPr>
          <p:nvPr/>
        </p:nvSpPr>
        <p:spPr>
          <a:xfrm>
            <a:off x="10001250" y="2209800"/>
            <a:ext cx="1114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agent pair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3D396F-3BE0-4C67-91E4-FDDE3AA4483F}"/>
              </a:ext>
            </a:extLst>
          </p:cNvPr>
          <p:cNvSpPr>
            <a:spLocks noGrp="1"/>
          </p:cNvSpPr>
          <p:nvPr/>
        </p:nvSpPr>
        <p:spPr>
          <a:xfrm>
            <a:off x="10001250" y="2476500"/>
            <a:ext cx="1114425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生成 a_agent 并打分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得到 paired Phase 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0B0DF7-FFDA-4323-AB9E-BFD8873E0581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1809750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29669C-B4F5-4C10-8677-095A4113DD69}"/>
              </a:ext>
            </a:extLst>
          </p:cNvPr>
          <p:cNvSpPr>
            <a:spLocks noGrp="1"/>
          </p:cNvSpPr>
          <p:nvPr/>
        </p:nvSpPr>
        <p:spPr>
          <a:xfrm>
            <a:off x="933450" y="41243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739FF96-0786-42AD-A818-95E326329332}"/>
              </a:ext>
            </a:extLst>
          </p:cNvPr>
          <p:cNvSpPr>
            <a:spLocks noGrp="1"/>
          </p:cNvSpPr>
          <p:nvPr/>
        </p:nvSpPr>
        <p:spPr>
          <a:xfrm>
            <a:off x="2667000" y="4048125"/>
            <a:ext cx="3571875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AF765CD-6846-4D14-AF15-D804269E8D5B}"/>
              </a:ext>
            </a:extLst>
          </p:cNvPr>
          <p:cNvSpPr>
            <a:spLocks noGrp="1"/>
          </p:cNvSpPr>
          <p:nvPr/>
        </p:nvSpPr>
        <p:spPr>
          <a:xfrm>
            <a:off x="2743200" y="4124325"/>
            <a:ext cx="34194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299413F-F289-422D-9049-D11B387568B1}"/>
              </a:ext>
            </a:extLst>
          </p:cNvPr>
          <p:cNvSpPr>
            <a:spLocks noGrp="1"/>
          </p:cNvSpPr>
          <p:nvPr/>
        </p:nvSpPr>
        <p:spPr>
          <a:xfrm>
            <a:off x="6238875" y="4048125"/>
            <a:ext cx="4095750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6859958-AE97-4457-A8A5-740F3018345C}"/>
              </a:ext>
            </a:extLst>
          </p:cNvPr>
          <p:cNvSpPr>
            <a:spLocks noGrp="1"/>
          </p:cNvSpPr>
          <p:nvPr/>
        </p:nvSpPr>
        <p:spPr>
          <a:xfrm>
            <a:off x="6315075" y="4124325"/>
            <a:ext cx="3943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输出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92A72A-AA95-4421-B72C-A2BCCF70723F}"/>
              </a:ext>
            </a:extLst>
          </p:cNvPr>
          <p:cNvSpPr>
            <a:spLocks noGrp="1"/>
          </p:cNvSpPr>
          <p:nvPr/>
        </p:nvSpPr>
        <p:spPr>
          <a:xfrm>
            <a:off x="857250" y="4371975"/>
            <a:ext cx="1809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237F39-C4B5-45D1-9C4A-3E6D33269AC9}"/>
              </a:ext>
            </a:extLst>
          </p:cNvPr>
          <p:cNvSpPr>
            <a:spLocks noGrp="1"/>
          </p:cNvSpPr>
          <p:nvPr/>
        </p:nvSpPr>
        <p:spPr>
          <a:xfrm>
            <a:off x="933450" y="4448175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Phase 2 build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CD3A8E6-3DC2-449D-92D4-E46751556BF7}"/>
              </a:ext>
            </a:extLst>
          </p:cNvPr>
          <p:cNvSpPr>
            <a:spLocks noGrp="1"/>
          </p:cNvSpPr>
          <p:nvPr/>
        </p:nvSpPr>
        <p:spPr>
          <a:xfrm>
            <a:off x="2667000" y="4371975"/>
            <a:ext cx="3571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274D747-4950-4665-A5E2-0B48042C709E}"/>
              </a:ext>
            </a:extLst>
          </p:cNvPr>
          <p:cNvSpPr>
            <a:spLocks noGrp="1"/>
          </p:cNvSpPr>
          <p:nvPr/>
        </p:nvSpPr>
        <p:spPr>
          <a:xfrm>
            <a:off x="2743200" y="4448175"/>
            <a:ext cx="34194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raw dialogue + note/section + source metadata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F92DFC3-AD73-435E-A202-6F4866B5C85F}"/>
              </a:ext>
            </a:extLst>
          </p:cNvPr>
          <p:cNvSpPr>
            <a:spLocks noGrp="1"/>
          </p:cNvSpPr>
          <p:nvPr/>
        </p:nvSpPr>
        <p:spPr>
          <a:xfrm>
            <a:off x="6238875" y="4371975"/>
            <a:ext cx="4095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263595-7D4C-4C1E-AB09-154CDBE10DD9}"/>
              </a:ext>
            </a:extLst>
          </p:cNvPr>
          <p:cNvSpPr>
            <a:spLocks noGrp="1"/>
          </p:cNvSpPr>
          <p:nvPr/>
        </p:nvSpPr>
        <p:spPr>
          <a:xfrm>
            <a:off x="6315075" y="4448175"/>
            <a:ext cx="394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phase2_dataset.jsonl/csv; splits; manifest; qa_counts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CCE34DD-0143-4433-9F96-2FF6A373E808}"/>
              </a:ext>
            </a:extLst>
          </p:cNvPr>
          <p:cNvSpPr>
            <a:spLocks noGrp="1"/>
          </p:cNvSpPr>
          <p:nvPr/>
        </p:nvSpPr>
        <p:spPr>
          <a:xfrm>
            <a:off x="857250" y="4867275"/>
            <a:ext cx="180975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0F7F8F-BE55-4901-94EB-9A29573429A8}"/>
              </a:ext>
            </a:extLst>
          </p:cNvPr>
          <p:cNvSpPr>
            <a:spLocks noGrp="1"/>
          </p:cNvSpPr>
          <p:nvPr/>
        </p:nvSpPr>
        <p:spPr>
          <a:xfrm>
            <a:off x="933450" y="4943475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Reward labeling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128BC4B-7B3E-4B62-9962-2E3519D76D62}"/>
              </a:ext>
            </a:extLst>
          </p:cNvPr>
          <p:cNvSpPr>
            <a:spLocks noGrp="1"/>
          </p:cNvSpPr>
          <p:nvPr/>
        </p:nvSpPr>
        <p:spPr>
          <a:xfrm>
            <a:off x="2667000" y="4867275"/>
            <a:ext cx="3571875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1DE7767-2305-4B6D-91F4-BE3C7053F37E}"/>
              </a:ext>
            </a:extLst>
          </p:cNvPr>
          <p:cNvSpPr>
            <a:spLocks noGrp="1"/>
          </p:cNvSpPr>
          <p:nvPr/>
        </p:nvSpPr>
        <p:spPr>
          <a:xfrm>
            <a:off x="2743200" y="4943475"/>
            <a:ext cx="34194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scorable row: X + candidate action A + rubric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916DA06-77CE-4359-A81A-94E8E81A1B5C}"/>
              </a:ext>
            </a:extLst>
          </p:cNvPr>
          <p:cNvSpPr>
            <a:spLocks noGrp="1"/>
          </p:cNvSpPr>
          <p:nvPr/>
        </p:nvSpPr>
        <p:spPr>
          <a:xfrm>
            <a:off x="6238875" y="4867275"/>
            <a:ext cx="409575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793390F-D4F1-440D-B9BE-0FBA0D90915D}"/>
              </a:ext>
            </a:extLst>
          </p:cNvPr>
          <p:cNvSpPr>
            <a:spLocks noGrp="1"/>
          </p:cNvSpPr>
          <p:nvPr/>
        </p:nvSpPr>
        <p:spPr>
          <a:xfrm>
            <a:off x="6315075" y="4943475"/>
            <a:ext cx="394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y_score, y_rubric, y_source；可重跑，不改 raw extraction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0A18284-78D7-4365-BD76-6781A0A747A2}"/>
              </a:ext>
            </a:extLst>
          </p:cNvPr>
          <p:cNvSpPr>
            <a:spLocks noGrp="1"/>
          </p:cNvSpPr>
          <p:nvPr/>
        </p:nvSpPr>
        <p:spPr>
          <a:xfrm>
            <a:off x="857250" y="5362575"/>
            <a:ext cx="1809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67D37E6-19EF-4E18-838D-44244673B099}"/>
              </a:ext>
            </a:extLst>
          </p:cNvPr>
          <p:cNvSpPr>
            <a:spLocks noGrp="1"/>
          </p:cNvSpPr>
          <p:nvPr/>
        </p:nvSpPr>
        <p:spPr>
          <a:xfrm>
            <a:off x="933450" y="5438775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Phase 3 pair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3A16561-A8AE-4839-8E83-552D882C9B38}"/>
              </a:ext>
            </a:extLst>
          </p:cNvPr>
          <p:cNvSpPr>
            <a:spLocks noGrp="1"/>
          </p:cNvSpPr>
          <p:nvPr/>
        </p:nvSpPr>
        <p:spPr>
          <a:xfrm>
            <a:off x="2667000" y="5362575"/>
            <a:ext cx="3571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8003B75-1F1C-4571-AB7A-3CFBE5D6BDF6}"/>
              </a:ext>
            </a:extLst>
          </p:cNvPr>
          <p:cNvSpPr>
            <a:spLocks noGrp="1"/>
          </p:cNvSpPr>
          <p:nvPr/>
        </p:nvSpPr>
        <p:spPr>
          <a:xfrm>
            <a:off x="2743200" y="5438775"/>
            <a:ext cx="34194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same X + a_clinician + generated a_agent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656AA68-04F0-46CE-B509-A238EE5E5662}"/>
              </a:ext>
            </a:extLst>
          </p:cNvPr>
          <p:cNvSpPr>
            <a:spLocks noGrp="1"/>
          </p:cNvSpPr>
          <p:nvPr/>
        </p:nvSpPr>
        <p:spPr>
          <a:xfrm>
            <a:off x="6238875" y="5362575"/>
            <a:ext cx="4095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85407EA-5DD2-4EC3-97F7-BC612E01500F}"/>
              </a:ext>
            </a:extLst>
          </p:cNvPr>
          <p:cNvSpPr>
            <a:spLocks noGrp="1"/>
          </p:cNvSpPr>
          <p:nvPr/>
        </p:nvSpPr>
        <p:spPr>
          <a:xfrm>
            <a:off x="6315075" y="5438775"/>
            <a:ext cx="394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agent_scored_all_*.jsonl + ground_truth_effect_*.json</a:t>
            </a:r>
          </a:p>
        </p:txBody>
      </p:sp>
    </p:spTree>
    <p:extLst>
      <p:ext uri="{BB962C8B-B14F-4D97-AF65-F5344CB8AC3E}">
        <p14:creationId xmlns:p14="http://schemas.microsoft.com/office/powerpoint/2010/main" val="1140532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F81714E-F332-42BA-B32E-BC7C886AD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0C7F584-EE5B-434A-9343-06A8B6F32EF7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C942B8E-1C3C-45A6-8ADC-5E7BCB022DEC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SOURCE-SPECIFIC EXTRACTION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7DC141-E6FC-49C6-88F2-5D07516BCA30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三个医疗数据集的 adapter 规则不同，但都必须输出可审计的 X 和 A。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9F19F-A539-4433-BF24-E98F1E78410C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不要把“能读入 CSV”误认为“能用于 OPE”；action 的临床含义和泄漏控制才是关键。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15348C-49FA-4B4E-A885-3C9406F6DF0F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7E8C2F-96F8-4343-894B-5A03ED88A866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docs/phase2_data_construction_review.md; src/cce_data/adapters/*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652EA5-C6BD-4802-A830-E57412896A62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0F74AB-9BA4-4C91-AA59-6356B0F66B26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333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3D1B6C-D85C-4AF7-8A5D-E7DD61827879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3337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25707A-B6B5-4BF2-AF08-DD94A663E66B}"/>
              </a:ext>
            </a:extLst>
          </p:cNvPr>
          <p:cNvSpPr>
            <a:spLocks noGrp="1"/>
          </p:cNvSpPr>
          <p:nvPr/>
        </p:nvSpPr>
        <p:spPr>
          <a:xfrm>
            <a:off x="781050" y="2124075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ACI-Bench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4BAEE0-6ABD-4056-9434-C206B396FBC5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2990850" cy="2305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输入：full conversation + clinical note。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X：完整对话文本。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A_i^b：优先抽 assessment / impression / diagnosis / plan；找不到 section 时保留 full_note_fallback 并标记 review。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风险：部分 speaker tags 来自 ASR，可能存在 swapped tags。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005611-51E7-4148-B362-D5A2E3D84497}"/>
              </a:ext>
            </a:extLst>
          </p:cNvPr>
          <p:cNvSpPr>
            <a:spLocks noGrp="1"/>
          </p:cNvSpPr>
          <p:nvPr/>
        </p:nvSpPr>
        <p:spPr>
          <a:xfrm>
            <a:off x="4438650" y="1952625"/>
            <a:ext cx="3333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8C3C55-1A96-469B-AB96-8D708031689C}"/>
              </a:ext>
            </a:extLst>
          </p:cNvPr>
          <p:cNvSpPr>
            <a:spLocks noGrp="1"/>
          </p:cNvSpPr>
          <p:nvPr/>
        </p:nvSpPr>
        <p:spPr>
          <a:xfrm>
            <a:off x="4438650" y="1952625"/>
            <a:ext cx="3333750" cy="47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18CC23-FAFE-4902-B6F5-787FDA781135}"/>
              </a:ext>
            </a:extLst>
          </p:cNvPr>
          <p:cNvSpPr>
            <a:spLocks noGrp="1"/>
          </p:cNvSpPr>
          <p:nvPr/>
        </p:nvSpPr>
        <p:spPr>
          <a:xfrm>
            <a:off x="4610100" y="2124075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MTS-Dialog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EA2E4B-35E6-4C59-B858-1EF83F90D682}"/>
              </a:ext>
            </a:extLst>
          </p:cNvPr>
          <p:cNvSpPr>
            <a:spLocks noGrp="1"/>
          </p:cNvSpPr>
          <p:nvPr/>
        </p:nvSpPr>
        <p:spPr>
          <a:xfrm>
            <a:off x="4610100" y="2476500"/>
            <a:ext cx="2990850" cy="2305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输入：dialogue + normalized section header + section summary。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X：短医患对话。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A_i^b：只纳入 action-like headers：assessment、diagnosis、plan、disposition、edcourse。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非 action headers 作为 excluded rows，保留审计痕迹。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D7232E-601D-4F68-A439-50CF1DBF6D62}"/>
              </a:ext>
            </a:extLst>
          </p:cNvPr>
          <p:cNvSpPr>
            <a:spLocks noGrp="1"/>
          </p:cNvSpPr>
          <p:nvPr/>
        </p:nvSpPr>
        <p:spPr>
          <a:xfrm>
            <a:off x="8267700" y="1952625"/>
            <a:ext cx="3333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407A98-0834-4D61-9191-BCC2C21A20CD}"/>
              </a:ext>
            </a:extLst>
          </p:cNvPr>
          <p:cNvSpPr>
            <a:spLocks noGrp="1"/>
          </p:cNvSpPr>
          <p:nvPr/>
        </p:nvSpPr>
        <p:spPr>
          <a:xfrm>
            <a:off x="8267700" y="1952625"/>
            <a:ext cx="333375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543BA-4520-43B6-B285-747A91413FDA}"/>
              </a:ext>
            </a:extLst>
          </p:cNvPr>
          <p:cNvSpPr>
            <a:spLocks noGrp="1"/>
          </p:cNvSpPr>
          <p:nvPr/>
        </p:nvSpPr>
        <p:spPr>
          <a:xfrm>
            <a:off x="8439150" y="2124075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PriMock57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4161E0-6EC5-40B5-B3F7-8410E4285CF6}"/>
              </a:ext>
            </a:extLst>
          </p:cNvPr>
          <p:cNvSpPr>
            <a:spLocks noGrp="1"/>
          </p:cNvSpPr>
          <p:nvPr/>
        </p:nvSpPr>
        <p:spPr>
          <a:xfrm>
            <a:off x="8439150" y="2476500"/>
            <a:ext cx="2990850" cy="2305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输入：医生/患者 TextGrid + clinician note。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X：按 timestamp 合并 utterances。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A_i^b：从 note 中抽取 impression / plan-like text。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定位：小而干净，适合 parser smoke tests。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91D88A-FC33-4146-89D5-81053B0C6104}"/>
              </a:ext>
            </a:extLst>
          </p:cNvPr>
          <p:cNvSpPr>
            <a:spLocks noGrp="1"/>
          </p:cNvSpPr>
          <p:nvPr/>
        </p:nvSpPr>
        <p:spPr>
          <a:xfrm>
            <a:off x="1104900" y="5286375"/>
            <a:ext cx="9982200" cy="4953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62C04D-498E-458F-806D-32319497BA06}"/>
              </a:ext>
            </a:extLst>
          </p:cNvPr>
          <p:cNvSpPr>
            <a:spLocks noGrp="1"/>
          </p:cNvSpPr>
          <p:nvPr/>
        </p:nvSpPr>
        <p:spPr>
          <a:xfrm>
            <a:off x="1333500" y="541020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共同输出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EBC90C-C397-4A6A-A72D-D914CDEF1B61}"/>
              </a:ext>
            </a:extLst>
          </p:cNvPr>
          <p:cNvSpPr>
            <a:spLocks noGrp="1"/>
          </p:cNvSpPr>
          <p:nvPr/>
        </p:nvSpPr>
        <p:spPr>
          <a:xfrm>
            <a:off x="2381250" y="5410200"/>
            <a:ext cx="8239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example_id, source, split, x_patient_context, a_clinician, section provenance, inclusion_status, exclusion_reasons, metadata</a:t>
            </a:r>
          </a:p>
        </p:txBody>
      </p:sp>
    </p:spTree>
    <p:extLst>
      <p:ext uri="{BB962C8B-B14F-4D97-AF65-F5344CB8AC3E}">
        <p14:creationId xmlns:p14="http://schemas.microsoft.com/office/powerpoint/2010/main" val="131742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A8FF7E18-E7C5-447D-A66E-14B132EFFA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A322C87-0905-407C-9C8E-BBA8CC4FC532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53FE15A-A625-4697-8C9F-2C3A043D7ABC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VALIDITY GUARDRAILS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6549A7-3F6D-4ED1-8D89-545523A3BB10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泄漏控制决定 benchmark 是否还能解释为 counterfactual emulation。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C7AF61-7E52-4903-A319-7D388C475559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如果 X 含有最终 diagnosis / plan，agent 的 action 评估就会被未来信息污染。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469403-8E01-4D58-8E74-6F18E8B15386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107CA8-76C6-470F-BD07-C41E43A520C5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docs/phase2_data_construction_review.md Output Quality Checks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A0DD86-6034-4AC9-81C1-18B8BC7B6D04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78138C-46C1-4B69-A276-AC52E654E8A5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71450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55C9F5-1E7F-4D7E-B354-A28FE73B00C3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1562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检查项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24D922-E3DA-4373-84CF-8D554571397D}"/>
              </a:ext>
            </a:extLst>
          </p:cNvPr>
          <p:cNvSpPr>
            <a:spLocks noGrp="1"/>
          </p:cNvSpPr>
          <p:nvPr/>
        </p:nvSpPr>
        <p:spPr>
          <a:xfrm>
            <a:off x="2476500" y="2000250"/>
            <a:ext cx="314325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194BDC-4501-4B39-8290-03CABF0A56E0}"/>
              </a:ext>
            </a:extLst>
          </p:cNvPr>
          <p:cNvSpPr>
            <a:spLocks noGrp="1"/>
          </p:cNvSpPr>
          <p:nvPr/>
        </p:nvSpPr>
        <p:spPr>
          <a:xfrm>
            <a:off x="2552700" y="207645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必须满足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B3C2A-C2B6-4026-BB95-CEC0CC6AE1F3}"/>
              </a:ext>
            </a:extLst>
          </p:cNvPr>
          <p:cNvSpPr>
            <a:spLocks noGrp="1"/>
          </p:cNvSpPr>
          <p:nvPr/>
        </p:nvSpPr>
        <p:spPr>
          <a:xfrm>
            <a:off x="5619750" y="2000250"/>
            <a:ext cx="314325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769762-752D-45EE-AAED-F20DBA0FC5C4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为什么重要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B95D57-74D9-4744-9CF5-DBA07C06D7DA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38125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E57773-63A1-4AFA-83BD-026F6ED923EE}"/>
              </a:ext>
            </a:extLst>
          </p:cNvPr>
          <p:cNvSpPr>
            <a:spLocks noGrp="1"/>
          </p:cNvSpPr>
          <p:nvPr/>
        </p:nvSpPr>
        <p:spPr>
          <a:xfrm>
            <a:off x="8839200" y="20764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仓库实现/文件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596DF8-D1B5-403B-B0CC-4399F6660DCB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1714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B36DF8-CD9E-478D-BF0C-CD849FE490E7}"/>
              </a:ext>
            </a:extLst>
          </p:cNvPr>
          <p:cNvSpPr>
            <a:spLocks noGrp="1"/>
          </p:cNvSpPr>
          <p:nvPr/>
        </p:nvSpPr>
        <p:spPr>
          <a:xfrm>
            <a:off x="838200" y="2438400"/>
            <a:ext cx="1562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Time zero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A1C52A-266C-4050-8D0E-6D5D58A68F38}"/>
              </a:ext>
            </a:extLst>
          </p:cNvPr>
          <p:cNvSpPr>
            <a:spLocks noGrp="1"/>
          </p:cNvSpPr>
          <p:nvPr/>
        </p:nvSpPr>
        <p:spPr>
          <a:xfrm>
            <a:off x="2476500" y="2362200"/>
            <a:ext cx="3143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1D5CFD-4C7E-49C5-9EB2-DB991827D771}"/>
              </a:ext>
            </a:extLst>
          </p:cNvPr>
          <p:cNvSpPr>
            <a:spLocks noGrp="1"/>
          </p:cNvSpPr>
          <p:nvPr/>
        </p:nvSpPr>
        <p:spPr>
          <a:xfrm>
            <a:off x="2552700" y="2438400"/>
            <a:ext cx="2990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X 只包含 action 前可见上下文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D7BB87-19A3-4775-B637-EA11CD3C8278}"/>
              </a:ext>
            </a:extLst>
          </p:cNvPr>
          <p:cNvSpPr>
            <a:spLocks noGrp="1"/>
          </p:cNvSpPr>
          <p:nvPr/>
        </p:nvSpPr>
        <p:spPr>
          <a:xfrm>
            <a:off x="5619750" y="2362200"/>
            <a:ext cx="3143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22C27F-9FF3-40B4-BD19-A8EE67556F04}"/>
              </a:ext>
            </a:extLst>
          </p:cNvPr>
          <p:cNvSpPr>
            <a:spLocks noGrp="1"/>
          </p:cNvSpPr>
          <p:nvPr/>
        </p:nvSpPr>
        <p:spPr>
          <a:xfrm>
            <a:off x="5695950" y="2438400"/>
            <a:ext cx="2990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避免把 clinician final output 暗含进输入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DD801F-F14D-4AB0-84B2-EE4A73D14244}"/>
              </a:ext>
            </a:extLst>
          </p:cNvPr>
          <p:cNvSpPr>
            <a:spLocks noGrp="1"/>
          </p:cNvSpPr>
          <p:nvPr/>
        </p:nvSpPr>
        <p:spPr>
          <a:xfrm>
            <a:off x="8763000" y="2362200"/>
            <a:ext cx="2381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CBC109-178F-41BD-B1AB-157EDCB72B6E}"/>
              </a:ext>
            </a:extLst>
          </p:cNvPr>
          <p:cNvSpPr>
            <a:spLocks noGrp="1"/>
          </p:cNvSpPr>
          <p:nvPr/>
        </p:nvSpPr>
        <p:spPr>
          <a:xfrm>
            <a:off x="8839200" y="2438400"/>
            <a:ext cx="2228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time_zero_policy 字段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E5190A-075A-40ED-8D65-319CE431A60F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1714500" cy="6858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503FDC-4AA7-4744-BAEC-8234F4A3A1EF}"/>
              </a:ext>
            </a:extLst>
          </p:cNvPr>
          <p:cNvSpPr>
            <a:spLocks noGrp="1"/>
          </p:cNvSpPr>
          <p:nvPr/>
        </p:nvSpPr>
        <p:spPr>
          <a:xfrm>
            <a:off x="838200" y="3124200"/>
            <a:ext cx="1562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Action extraction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E5E403-2F44-4969-94F4-AD85ACB99735}"/>
              </a:ext>
            </a:extLst>
          </p:cNvPr>
          <p:cNvSpPr>
            <a:spLocks noGrp="1"/>
          </p:cNvSpPr>
          <p:nvPr/>
        </p:nvSpPr>
        <p:spPr>
          <a:xfrm>
            <a:off x="2476500" y="3048000"/>
            <a:ext cx="3143250" cy="6858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F3F0F2-3C89-442E-B23D-A13E508D20AA}"/>
              </a:ext>
            </a:extLst>
          </p:cNvPr>
          <p:cNvSpPr>
            <a:spLocks noGrp="1"/>
          </p:cNvSpPr>
          <p:nvPr/>
        </p:nvSpPr>
        <p:spPr>
          <a:xfrm>
            <a:off x="2552700" y="3124200"/>
            <a:ext cx="2990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A_i^b 是 assessment/plan 类输出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E91765-4660-418F-BAC7-F182EC806E59}"/>
              </a:ext>
            </a:extLst>
          </p:cNvPr>
          <p:cNvSpPr>
            <a:spLocks noGrp="1"/>
          </p:cNvSpPr>
          <p:nvPr/>
        </p:nvSpPr>
        <p:spPr>
          <a:xfrm>
            <a:off x="5619750" y="3048000"/>
            <a:ext cx="3143250" cy="6858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60B983-DBDC-4A1C-907C-8EFDD19EA492}"/>
              </a:ext>
            </a:extLst>
          </p:cNvPr>
          <p:cNvSpPr>
            <a:spLocks noGrp="1"/>
          </p:cNvSpPr>
          <p:nvPr/>
        </p:nvSpPr>
        <p:spPr>
          <a:xfrm>
            <a:off x="5695950" y="3124200"/>
            <a:ext cx="2990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让 action 代表 policy decision，而不是病史摘要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F17DB5-D7D1-4B93-84AA-E1247403CA32}"/>
              </a:ext>
            </a:extLst>
          </p:cNvPr>
          <p:cNvSpPr>
            <a:spLocks noGrp="1"/>
          </p:cNvSpPr>
          <p:nvPr/>
        </p:nvSpPr>
        <p:spPr>
          <a:xfrm>
            <a:off x="8763000" y="3048000"/>
            <a:ext cx="2381250" cy="6858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CA4D35-C67B-4FED-89C1-6B7BC1FD4BA3}"/>
              </a:ext>
            </a:extLst>
          </p:cNvPr>
          <p:cNvSpPr>
            <a:spLocks noGrp="1"/>
          </p:cNvSpPr>
          <p:nvPr/>
        </p:nvSpPr>
        <p:spPr>
          <a:xfrm>
            <a:off x="8839200" y="3124200"/>
            <a:ext cx="2228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extraction_method + section_header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70326C-8012-4EC9-B86B-46EEB8532442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1714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734A845-83F4-42D2-AACC-AF95E66E586A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1562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Inclusion status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3334ED-376A-40F4-A5B8-9DDFEABC9E9D}"/>
              </a:ext>
            </a:extLst>
          </p:cNvPr>
          <p:cNvSpPr>
            <a:spLocks noGrp="1"/>
          </p:cNvSpPr>
          <p:nvPr/>
        </p:nvSpPr>
        <p:spPr>
          <a:xfrm>
            <a:off x="2476500" y="3733800"/>
            <a:ext cx="3143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615022-FAB5-4438-80B7-A45BA1E3CCA2}"/>
              </a:ext>
            </a:extLst>
          </p:cNvPr>
          <p:cNvSpPr>
            <a:spLocks noGrp="1"/>
          </p:cNvSpPr>
          <p:nvPr/>
        </p:nvSpPr>
        <p:spPr>
          <a:xfrm>
            <a:off x="2552700" y="3810000"/>
            <a:ext cx="2990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included/excluded/auxiliary_only 可追踪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26801B-D8E4-4AEC-94B6-7F8CCD3A8677}"/>
              </a:ext>
            </a:extLst>
          </p:cNvPr>
          <p:cNvSpPr>
            <a:spLocks noGrp="1"/>
          </p:cNvSpPr>
          <p:nvPr/>
        </p:nvSpPr>
        <p:spPr>
          <a:xfrm>
            <a:off x="5619750" y="3733800"/>
            <a:ext cx="3143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3DBC31-1664-4CA8-BA2A-741566FF4DF5}"/>
              </a:ext>
            </a:extLst>
          </p:cNvPr>
          <p:cNvSpPr>
            <a:spLocks noGrp="1"/>
          </p:cNvSpPr>
          <p:nvPr/>
        </p:nvSpPr>
        <p:spPr>
          <a:xfrm>
            <a:off x="5695950" y="3810000"/>
            <a:ext cx="2990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不能把格式不匹配的 row 静默放进 OPE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219624-1CCB-49F3-A53D-0A44362AAF07}"/>
              </a:ext>
            </a:extLst>
          </p:cNvPr>
          <p:cNvSpPr>
            <a:spLocks noGrp="1"/>
          </p:cNvSpPr>
          <p:nvPr/>
        </p:nvSpPr>
        <p:spPr>
          <a:xfrm>
            <a:off x="8763000" y="3733800"/>
            <a:ext cx="2381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2673E3B-D53E-4B71-A987-BA9674F36123}"/>
              </a:ext>
            </a:extLst>
          </p:cNvPr>
          <p:cNvSpPr>
            <a:spLocks noGrp="1"/>
          </p:cNvSpPr>
          <p:nvPr/>
        </p:nvSpPr>
        <p:spPr>
          <a:xfrm>
            <a:off x="8839200" y="3810000"/>
            <a:ext cx="2228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qa_counts.csv; manifest.json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2126F0-ACFA-4DB9-9C36-E08908EB8B6B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1714500" cy="6858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0364F3-D832-4B18-8D5C-3253A87C39CD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1562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Scoring separation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9AE59B7-385C-48F4-9BC9-59895191F6A9}"/>
              </a:ext>
            </a:extLst>
          </p:cNvPr>
          <p:cNvSpPr>
            <a:spLocks noGrp="1"/>
          </p:cNvSpPr>
          <p:nvPr/>
        </p:nvSpPr>
        <p:spPr>
          <a:xfrm>
            <a:off x="2476500" y="4419600"/>
            <a:ext cx="3143250" cy="6858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37F698-EF6C-4333-8944-E9E96BD7EE75}"/>
              </a:ext>
            </a:extLst>
          </p:cNvPr>
          <p:cNvSpPr>
            <a:spLocks noGrp="1"/>
          </p:cNvSpPr>
          <p:nvPr/>
        </p:nvSpPr>
        <p:spPr>
          <a:xfrm>
            <a:off x="2552700" y="4495800"/>
            <a:ext cx="2990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Y 可重跑，raw extraction 不重写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30ABCB5-BB88-406D-A679-BAB10761EA5B}"/>
              </a:ext>
            </a:extLst>
          </p:cNvPr>
          <p:cNvSpPr>
            <a:spLocks noGrp="1"/>
          </p:cNvSpPr>
          <p:nvPr/>
        </p:nvSpPr>
        <p:spPr>
          <a:xfrm>
            <a:off x="5619750" y="4419600"/>
            <a:ext cx="3143250" cy="6858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98AE97D-3936-4DD2-B00F-512B7536D8CD}"/>
              </a:ext>
            </a:extLst>
          </p:cNvPr>
          <p:cNvSpPr>
            <a:spLocks noGrp="1"/>
          </p:cNvSpPr>
          <p:nvPr/>
        </p:nvSpPr>
        <p:spPr>
          <a:xfrm>
            <a:off x="5695950" y="4495800"/>
            <a:ext cx="2990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judge prompt 变更不会破坏数据 provenance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2D54A5E-FF2D-4CA8-8A09-3DF06996010F}"/>
              </a:ext>
            </a:extLst>
          </p:cNvPr>
          <p:cNvSpPr>
            <a:spLocks noGrp="1"/>
          </p:cNvSpPr>
          <p:nvPr/>
        </p:nvSpPr>
        <p:spPr>
          <a:xfrm>
            <a:off x="8763000" y="4419600"/>
            <a:ext cx="2381250" cy="6858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BD5E33E-CA33-4A41-9633-5CED03C39702}"/>
              </a:ext>
            </a:extLst>
          </p:cNvPr>
          <p:cNvSpPr>
            <a:spLocks noGrp="1"/>
          </p:cNvSpPr>
          <p:nvPr/>
        </p:nvSpPr>
        <p:spPr>
          <a:xfrm>
            <a:off x="8839200" y="4495800"/>
            <a:ext cx="2228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y_score/y_rubric/y_source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A50E2D-77B2-4B73-AE60-BE5131A9CF2A}"/>
              </a:ext>
            </a:extLst>
          </p:cNvPr>
          <p:cNvSpPr>
            <a:spLocks noGrp="1"/>
          </p:cNvSpPr>
          <p:nvPr/>
        </p:nvSpPr>
        <p:spPr>
          <a:xfrm>
            <a:off x="904875" y="5381625"/>
            <a:ext cx="10172700" cy="438150"/>
          </a:xfrm>
          <a:prstGeom prst="rect">
            <a:avLst/>
          </a:prstGeom>
          <a:solidFill>
            <a:srgbClr val="F2DFD4"/>
          </a:solidFill>
          <a:ln w="0">
            <a:solidFill>
              <a:srgbClr val="F2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D0018A-C628-4DE5-8422-4F2975C8449F}"/>
              </a:ext>
            </a:extLst>
          </p:cNvPr>
          <p:cNvSpPr>
            <a:spLocks noGrp="1"/>
          </p:cNvSpPr>
          <p:nvPr/>
        </p:nvSpPr>
        <p:spPr>
          <a:xfrm>
            <a:off x="1123950" y="5495925"/>
            <a:ext cx="96678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汇报时一句话版本：Phase 2 的难点不是凑够 n，而是保证每一条样本都满足“同一个时间点、同一种 action、同一种 reward 接口”。</a:t>
            </a:r>
          </a:p>
        </p:txBody>
      </p:sp>
    </p:spTree>
    <p:extLst>
      <p:ext uri="{BB962C8B-B14F-4D97-AF65-F5344CB8AC3E}">
        <p14:creationId xmlns:p14="http://schemas.microsoft.com/office/powerpoint/2010/main" val="565090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E410F197-66A1-4205-895D-A2D5AB34A7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3895D46-277E-4836-A980-1A76ADC1F1C4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47446D03-DECA-42E4-88F7-C7F468F55388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REWARD LABELS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9AF16E-7632-40B6-B665-8402F5547EAC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Reward Model 与 LLM-as-Judge 使用同一个数据接口：输入是 (X, A)，输出是 Y。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94AD2C-2FA1-4A7A-B497-EE699A6C77A6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当前 Phase 3 使用 LLM-as-Judge 产生 surrogate reward；如果训练 RM，本质是学习 f_theta(X,A)-&gt;score。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BBEAAC-76EC-45F3-85E6-B60E66B94B08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72F54-E044-4F59-B861-EE67F36D8597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README.md scoring commands; configs/rubric_judge.yaml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2ED52-A2FF-400B-907C-A9B99302018F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D396D5-D99B-457B-81CF-E74045E990FC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2190750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42D4F5-BBFA-4146-9813-0EA0EB4B463E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323850" cy="1571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2F254A-FAEA-4B08-BD9A-55B4DC9B7A48}"/>
              </a:ext>
            </a:extLst>
          </p:cNvPr>
          <p:cNvSpPr>
            <a:spLocks noGrp="1"/>
          </p:cNvSpPr>
          <p:nvPr/>
        </p:nvSpPr>
        <p:spPr>
          <a:xfrm>
            <a:off x="847725" y="230505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2FC2F2-7AF7-4F10-A9C9-AE9F028334CA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patient context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D5ED18-103F-4089-A5AD-A5DEB0CF9BDC}"/>
              </a:ext>
            </a:extLst>
          </p:cNvPr>
          <p:cNvSpPr>
            <a:spLocks noGrp="1"/>
          </p:cNvSpPr>
          <p:nvPr/>
        </p:nvSpPr>
        <p:spPr>
          <a:xfrm>
            <a:off x="1257300" y="2571750"/>
            <a:ext cx="1619250" cy="1019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x_patient_context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不含最终 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46E28B-2BB3-41E5-805E-4BD5C5584007}"/>
              </a:ext>
            </a:extLst>
          </p:cNvPr>
          <p:cNvSpPr>
            <a:spLocks noGrp="1"/>
          </p:cNvSpPr>
          <p:nvPr/>
        </p:nvSpPr>
        <p:spPr>
          <a:xfrm>
            <a:off x="3429000" y="1952625"/>
            <a:ext cx="2190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614D3A-7EF6-40BF-8D76-9850E43B3DC3}"/>
              </a:ext>
            </a:extLst>
          </p:cNvPr>
          <p:cNvSpPr>
            <a:spLocks noGrp="1"/>
          </p:cNvSpPr>
          <p:nvPr/>
        </p:nvSpPr>
        <p:spPr>
          <a:xfrm>
            <a:off x="3429000" y="1952625"/>
            <a:ext cx="323850" cy="1047750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024D6B-C79B-4CF4-A82B-C1A8E9D6A291}"/>
              </a:ext>
            </a:extLst>
          </p:cNvPr>
          <p:cNvSpPr>
            <a:spLocks noGrp="1"/>
          </p:cNvSpPr>
          <p:nvPr/>
        </p:nvSpPr>
        <p:spPr>
          <a:xfrm>
            <a:off x="3476625" y="206692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A_b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BD11FD-DFB3-422B-9CC3-AC0F51A9E85B}"/>
              </a:ext>
            </a:extLst>
          </p:cNvPr>
          <p:cNvSpPr>
            <a:spLocks noGrp="1"/>
          </p:cNvSpPr>
          <p:nvPr/>
        </p:nvSpPr>
        <p:spPr>
          <a:xfrm>
            <a:off x="3886200" y="206692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clinician 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2C7CDD-BBD9-488E-97E9-27F567CD3D27}"/>
              </a:ext>
            </a:extLst>
          </p:cNvPr>
          <p:cNvSpPr>
            <a:spLocks noGrp="1"/>
          </p:cNvSpPr>
          <p:nvPr/>
        </p:nvSpPr>
        <p:spPr>
          <a:xfrm>
            <a:off x="3886200" y="2333625"/>
            <a:ext cx="1619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a_clinician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历史医生最终输出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3B7FD1-61F3-49F7-BA21-2B550E8A4491}"/>
              </a:ext>
            </a:extLst>
          </p:cNvPr>
          <p:cNvSpPr>
            <a:spLocks noGrp="1"/>
          </p:cNvSpPr>
          <p:nvPr/>
        </p:nvSpPr>
        <p:spPr>
          <a:xfrm>
            <a:off x="3429000" y="3190875"/>
            <a:ext cx="2190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24F07F-86C7-4238-AE0D-B5553D94DF0C}"/>
              </a:ext>
            </a:extLst>
          </p:cNvPr>
          <p:cNvSpPr>
            <a:spLocks noGrp="1"/>
          </p:cNvSpPr>
          <p:nvPr/>
        </p:nvSpPr>
        <p:spPr>
          <a:xfrm>
            <a:off x="3429000" y="3190875"/>
            <a:ext cx="323850" cy="10477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E4F9D8-9091-444D-8EAD-130017DE024E}"/>
              </a:ext>
            </a:extLst>
          </p:cNvPr>
          <p:cNvSpPr>
            <a:spLocks noGrp="1"/>
          </p:cNvSpPr>
          <p:nvPr/>
        </p:nvSpPr>
        <p:spPr>
          <a:xfrm>
            <a:off x="3476625" y="330517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A_t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D1391E-C8D4-4815-A52B-D217B03E4DE7}"/>
              </a:ext>
            </a:extLst>
          </p:cNvPr>
          <p:cNvSpPr>
            <a:spLocks noGrp="1"/>
          </p:cNvSpPr>
          <p:nvPr/>
        </p:nvSpPr>
        <p:spPr>
          <a:xfrm>
            <a:off x="3886200" y="33051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agent action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C2A918-FD13-49C6-AC45-8803EF8965C0}"/>
              </a:ext>
            </a:extLst>
          </p:cNvPr>
          <p:cNvSpPr>
            <a:spLocks noGrp="1"/>
          </p:cNvSpPr>
          <p:nvPr/>
        </p:nvSpPr>
        <p:spPr>
          <a:xfrm>
            <a:off x="3886200" y="3571875"/>
            <a:ext cx="1619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a_agent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由 target policy 生成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D2C982-10BE-416D-A49B-62DAC02ECA26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2476500" cy="1476375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419026-6958-49A5-887D-A4EA6814FE6B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Reward scorer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92FE5C-3507-4D77-97A2-1B7C40A1C2C5}"/>
              </a:ext>
            </a:extLst>
          </p:cNvPr>
          <p:cNvSpPr>
            <a:spLocks noGrp="1"/>
          </p:cNvSpPr>
          <p:nvPr/>
        </p:nvSpPr>
        <p:spPr>
          <a:xfrm>
            <a:off x="6715125" y="3028950"/>
            <a:ext cx="18573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LLM-as-Judge</a:t>
            </a:r>
          </a:p>
          <a:p>
            <a:pPr algn="ctr">
              <a:defRPr sz="12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或训练好的 Reward Model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6CF502-E1AD-4B81-B8F9-2FFD80AD18AA}"/>
              </a:ext>
            </a:extLst>
          </p:cNvPr>
          <p:cNvSpPr>
            <a:spLocks noGrp="1"/>
          </p:cNvSpPr>
          <p:nvPr/>
        </p:nvSpPr>
        <p:spPr>
          <a:xfrm>
            <a:off x="9525000" y="2333625"/>
            <a:ext cx="161925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3892BA-E724-4037-8B9F-DFDD04C7E0C4}"/>
              </a:ext>
            </a:extLst>
          </p:cNvPr>
          <p:cNvSpPr>
            <a:spLocks noGrp="1"/>
          </p:cNvSpPr>
          <p:nvPr/>
        </p:nvSpPr>
        <p:spPr>
          <a:xfrm>
            <a:off x="9525000" y="2333625"/>
            <a:ext cx="323850" cy="147637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BE7617-C4D7-4A58-AD51-E8C86ACC9EC5}"/>
              </a:ext>
            </a:extLst>
          </p:cNvPr>
          <p:cNvSpPr>
            <a:spLocks noGrp="1"/>
          </p:cNvSpPr>
          <p:nvPr/>
        </p:nvSpPr>
        <p:spPr>
          <a:xfrm>
            <a:off x="9572625" y="244792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E2A779-FAB4-44D0-A899-7C905E416BFC}"/>
              </a:ext>
            </a:extLst>
          </p:cNvPr>
          <p:cNvSpPr>
            <a:spLocks noGrp="1"/>
          </p:cNvSpPr>
          <p:nvPr/>
        </p:nvSpPr>
        <p:spPr>
          <a:xfrm>
            <a:off x="9982200" y="244792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score in [0,1]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56F205-E866-4673-9FE4-2F67B35A8EB4}"/>
              </a:ext>
            </a:extLst>
          </p:cNvPr>
          <p:cNvSpPr>
            <a:spLocks noGrp="1"/>
          </p:cNvSpPr>
          <p:nvPr/>
        </p:nvSpPr>
        <p:spPr>
          <a:xfrm>
            <a:off x="9982200" y="2714625"/>
            <a:ext cx="1047750" cy="923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y_score /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y_agent_score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+ rubric JSON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D8D0BB-DE43-4530-895F-0C6CCB7637B8}"/>
              </a:ext>
            </a:extLst>
          </p:cNvPr>
          <p:cNvSpPr>
            <a:spLocks noGrp="1"/>
          </p:cNvSpPr>
          <p:nvPr/>
        </p:nvSpPr>
        <p:spPr>
          <a:xfrm>
            <a:off x="3009900" y="2876550"/>
            <a:ext cx="3810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C296C3-6989-42C0-BBBB-FF998D43A6B7}"/>
              </a:ext>
            </a:extLst>
          </p:cNvPr>
          <p:cNvSpPr>
            <a:spLocks noGrp="1"/>
          </p:cNvSpPr>
          <p:nvPr/>
        </p:nvSpPr>
        <p:spPr>
          <a:xfrm>
            <a:off x="5657850" y="2571750"/>
            <a:ext cx="6667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B528A6-700C-4437-AE38-D84074F5A5F4}"/>
              </a:ext>
            </a:extLst>
          </p:cNvPr>
          <p:cNvSpPr>
            <a:spLocks noGrp="1"/>
          </p:cNvSpPr>
          <p:nvPr/>
        </p:nvSpPr>
        <p:spPr>
          <a:xfrm>
            <a:off x="5657850" y="3714750"/>
            <a:ext cx="6667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A30050-9730-4D76-93C5-D9328B81648F}"/>
              </a:ext>
            </a:extLst>
          </p:cNvPr>
          <p:cNvSpPr>
            <a:spLocks noGrp="1"/>
          </p:cNvSpPr>
          <p:nvPr/>
        </p:nvSpPr>
        <p:spPr>
          <a:xfrm>
            <a:off x="8858250" y="3067050"/>
            <a:ext cx="609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C9F5A9-3CE2-4FDB-8955-D188B31A304B}"/>
              </a:ext>
            </a:extLst>
          </p:cNvPr>
          <p:cNvSpPr>
            <a:spLocks noGrp="1"/>
          </p:cNvSpPr>
          <p:nvPr/>
        </p:nvSpPr>
        <p:spPr>
          <a:xfrm>
            <a:off x="1238250" y="4619625"/>
            <a:ext cx="2000250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045A01-7AD3-445A-8FD1-24FA847E0D13}"/>
              </a:ext>
            </a:extLst>
          </p:cNvPr>
          <p:cNvSpPr>
            <a:spLocks noGrp="1"/>
          </p:cNvSpPr>
          <p:nvPr/>
        </p:nvSpPr>
        <p:spPr>
          <a:xfrm>
            <a:off x="1314450" y="4695825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Scorer 类型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0D9D0B9-34A7-4D31-8F27-05193D819F9A}"/>
              </a:ext>
            </a:extLst>
          </p:cNvPr>
          <p:cNvSpPr>
            <a:spLocks noGrp="1"/>
          </p:cNvSpPr>
          <p:nvPr/>
        </p:nvSpPr>
        <p:spPr>
          <a:xfrm>
            <a:off x="3238500" y="4619625"/>
            <a:ext cx="3952875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1B0035-44B9-463F-AA05-E60DD1295875}"/>
              </a:ext>
            </a:extLst>
          </p:cNvPr>
          <p:cNvSpPr>
            <a:spLocks noGrp="1"/>
          </p:cNvSpPr>
          <p:nvPr/>
        </p:nvSpPr>
        <p:spPr>
          <a:xfrm>
            <a:off x="3314700" y="4695825"/>
            <a:ext cx="38004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训练/调用方式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A55A5C-638F-44BF-B7C0-751C385F8525}"/>
              </a:ext>
            </a:extLst>
          </p:cNvPr>
          <p:cNvSpPr>
            <a:spLocks noGrp="1"/>
          </p:cNvSpPr>
          <p:nvPr/>
        </p:nvSpPr>
        <p:spPr>
          <a:xfrm>
            <a:off x="7191375" y="4619625"/>
            <a:ext cx="3952875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232D81-7E85-4184-853B-22245406DBE9}"/>
              </a:ext>
            </a:extLst>
          </p:cNvPr>
          <p:cNvSpPr>
            <a:spLocks noGrp="1"/>
          </p:cNvSpPr>
          <p:nvPr/>
        </p:nvSpPr>
        <p:spPr>
          <a:xfrm>
            <a:off x="7267575" y="4695825"/>
            <a:ext cx="38004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适合回答的问题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F3363D-F7FB-4FAF-8A0E-3E49268AD62D}"/>
              </a:ext>
            </a:extLst>
          </p:cNvPr>
          <p:cNvSpPr>
            <a:spLocks noGrp="1"/>
          </p:cNvSpPr>
          <p:nvPr/>
        </p:nvSpPr>
        <p:spPr>
          <a:xfrm>
            <a:off x="1238250" y="4943475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F3FECA-876F-4B54-AE72-4B2BBBD7E337}"/>
              </a:ext>
            </a:extLst>
          </p:cNvPr>
          <p:cNvSpPr>
            <a:spLocks noGrp="1"/>
          </p:cNvSpPr>
          <p:nvPr/>
        </p:nvSpPr>
        <p:spPr>
          <a:xfrm>
            <a:off x="1314450" y="5019675"/>
            <a:ext cx="1847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LLM-as-Judge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C84220-7C77-4CE4-BEF6-7501FCC2F59D}"/>
              </a:ext>
            </a:extLst>
          </p:cNvPr>
          <p:cNvSpPr>
            <a:spLocks noGrp="1"/>
          </p:cNvSpPr>
          <p:nvPr/>
        </p:nvSpPr>
        <p:spPr>
          <a:xfrm>
            <a:off x="3238500" y="4943475"/>
            <a:ext cx="395287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796BD6-CEF5-4437-B1ED-5E2632A0E3D5}"/>
              </a:ext>
            </a:extLst>
          </p:cNvPr>
          <p:cNvSpPr>
            <a:spLocks noGrp="1"/>
          </p:cNvSpPr>
          <p:nvPr/>
        </p:nvSpPr>
        <p:spPr>
          <a:xfrm>
            <a:off x="3314700" y="5019675"/>
            <a:ext cx="38004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prompt + rubric 直接对 (X,A) 评分；可跨 vendor 重跑。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06ADA6-DE05-41B1-8377-F445714C6771}"/>
              </a:ext>
            </a:extLst>
          </p:cNvPr>
          <p:cNvSpPr>
            <a:spLocks noGrp="1"/>
          </p:cNvSpPr>
          <p:nvPr/>
        </p:nvSpPr>
        <p:spPr>
          <a:xfrm>
            <a:off x="7191375" y="4943475"/>
            <a:ext cx="395287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D1E36E-D785-4977-948A-CC3641F353AE}"/>
              </a:ext>
            </a:extLst>
          </p:cNvPr>
          <p:cNvSpPr>
            <a:spLocks noGrp="1"/>
          </p:cNvSpPr>
          <p:nvPr/>
        </p:nvSpPr>
        <p:spPr>
          <a:xfrm>
            <a:off x="7267575" y="5019675"/>
            <a:ext cx="38004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快速得到 surrogate reward；主要风险是 judge bias。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26C790-B148-4901-9022-3AD36BAA2337}"/>
              </a:ext>
            </a:extLst>
          </p:cNvPr>
          <p:cNvSpPr>
            <a:spLocks noGrp="1"/>
          </p:cNvSpPr>
          <p:nvPr/>
        </p:nvSpPr>
        <p:spPr>
          <a:xfrm>
            <a:off x="1238250" y="5457825"/>
            <a:ext cx="2000250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52175F-BA12-4CAA-AE42-46CB4C800661}"/>
              </a:ext>
            </a:extLst>
          </p:cNvPr>
          <p:cNvSpPr>
            <a:spLocks noGrp="1"/>
          </p:cNvSpPr>
          <p:nvPr/>
        </p:nvSpPr>
        <p:spPr>
          <a:xfrm>
            <a:off x="1314450" y="5534025"/>
            <a:ext cx="1847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Reward Model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BFCC73-6171-4D34-BBBF-C0D031E23DC0}"/>
              </a:ext>
            </a:extLst>
          </p:cNvPr>
          <p:cNvSpPr>
            <a:spLocks noGrp="1"/>
          </p:cNvSpPr>
          <p:nvPr/>
        </p:nvSpPr>
        <p:spPr>
          <a:xfrm>
            <a:off x="3238500" y="5457825"/>
            <a:ext cx="3952875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49690D-1EB6-4D37-AF8A-9DDCAA094EE7}"/>
              </a:ext>
            </a:extLst>
          </p:cNvPr>
          <p:cNvSpPr>
            <a:spLocks noGrp="1"/>
          </p:cNvSpPr>
          <p:nvPr/>
        </p:nvSpPr>
        <p:spPr>
          <a:xfrm>
            <a:off x="3314700" y="5534025"/>
            <a:ext cx="38004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用已打分 rows 监督训练 f(X,A)-&gt;Y；冻结后批量评分。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3CDC38-FE8F-4870-A6FB-5DACC4581172}"/>
              </a:ext>
            </a:extLst>
          </p:cNvPr>
          <p:cNvSpPr>
            <a:spLocks noGrp="1"/>
          </p:cNvSpPr>
          <p:nvPr/>
        </p:nvSpPr>
        <p:spPr>
          <a:xfrm>
            <a:off x="7191375" y="5457825"/>
            <a:ext cx="3952875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A7023BF-42E6-4C5D-A829-640AB5593740}"/>
              </a:ext>
            </a:extLst>
          </p:cNvPr>
          <p:cNvSpPr>
            <a:spLocks noGrp="1"/>
          </p:cNvSpPr>
          <p:nvPr/>
        </p:nvSpPr>
        <p:spPr>
          <a:xfrm>
            <a:off x="7267575" y="5534025"/>
            <a:ext cx="38004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降低推理成本；可用专家标签校准或检验 LLM judge。</a:t>
            </a:r>
          </a:p>
        </p:txBody>
      </p:sp>
    </p:spTree>
    <p:extLst>
      <p:ext uri="{BB962C8B-B14F-4D97-AF65-F5344CB8AC3E}">
        <p14:creationId xmlns:p14="http://schemas.microsoft.com/office/powerpoint/2010/main" val="1790266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0D08F7FF-BF47-4063-B522-F78868BA4D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95398A1-4BFF-4366-91F7-0C47E566F4C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33A1167-3DD0-4034-BD9C-27069E39E929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HOW TO TRAIN 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B81D1-61AA-4E58-8708-A017B9EDF036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训练 Reward Model 时，数据集的最小训练样本是一条 scored action row。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1F38A-10A7-496D-B437-EF6C8B223861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不要把 raw note 当 label，也不要把同一个 context 的 clinician/agent action 分到不同 split。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86EBE3-7FB5-4C4A-B9DF-34CB858A5E93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B35758-69D5-4E76-AD60-03FCFD594FFC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README.md scoring workflow; src/cce_data/effect.py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77B2A-D909-4993-B050-DF8658734D78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95871F-EA55-4F4A-A103-BFCCC9EE6876}"/>
              </a:ext>
            </a:extLst>
          </p:cNvPr>
          <p:cNvSpPr>
            <a:spLocks noGrp="1"/>
          </p:cNvSpPr>
          <p:nvPr/>
        </p:nvSpPr>
        <p:spPr>
          <a:xfrm>
            <a:off x="628650" y="1905000"/>
            <a:ext cx="161925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534D7B-4258-424E-884E-BE0EA2C0258A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步骤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0FB278-CC28-43BD-AEAA-A863E5FBDC6A}"/>
              </a:ext>
            </a:extLst>
          </p:cNvPr>
          <p:cNvSpPr>
            <a:spLocks noGrp="1"/>
          </p:cNvSpPr>
          <p:nvPr/>
        </p:nvSpPr>
        <p:spPr>
          <a:xfrm>
            <a:off x="2247900" y="1905000"/>
            <a:ext cx="323850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F147D3-843B-4414-9D1A-0AAE1769AF33}"/>
              </a:ext>
            </a:extLst>
          </p:cNvPr>
          <p:cNvSpPr>
            <a:spLocks noGrp="1"/>
          </p:cNvSpPr>
          <p:nvPr/>
        </p:nvSpPr>
        <p:spPr>
          <a:xfrm>
            <a:off x="2324100" y="19812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9A559C-31FD-4968-AFA3-83040A3B4719}"/>
              </a:ext>
            </a:extLst>
          </p:cNvPr>
          <p:cNvSpPr>
            <a:spLocks noGrp="1"/>
          </p:cNvSpPr>
          <p:nvPr/>
        </p:nvSpPr>
        <p:spPr>
          <a:xfrm>
            <a:off x="5486400" y="1905000"/>
            <a:ext cx="3381375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A8017B-04CA-42C3-B24C-14801174B65E}"/>
              </a:ext>
            </a:extLst>
          </p:cNvPr>
          <p:cNvSpPr>
            <a:spLocks noGrp="1"/>
          </p:cNvSpPr>
          <p:nvPr/>
        </p:nvSpPr>
        <p:spPr>
          <a:xfrm>
            <a:off x="5562600" y="1981200"/>
            <a:ext cx="32289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训练信号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9F17F-AD5D-4A50-819C-66E1631BEDC6}"/>
              </a:ext>
            </a:extLst>
          </p:cNvPr>
          <p:cNvSpPr>
            <a:spLocks noGrp="1"/>
          </p:cNvSpPr>
          <p:nvPr/>
        </p:nvSpPr>
        <p:spPr>
          <a:xfrm>
            <a:off x="8867775" y="1905000"/>
            <a:ext cx="238125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7540D2-29C8-4BC3-BE7A-FBB9319E1545}"/>
              </a:ext>
            </a:extLst>
          </p:cNvPr>
          <p:cNvSpPr>
            <a:spLocks noGrp="1"/>
          </p:cNvSpPr>
          <p:nvPr/>
        </p:nvSpPr>
        <p:spPr>
          <a:xfrm>
            <a:off x="8943975" y="198120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注意事项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289BA8-59F0-42E2-AE3B-0A095E7C39D8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1619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2920B5-49A8-4F5B-A550-5F48E6338D33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1. Row 展开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AA43BC-FBA7-44DF-A982-C0B4DFD4566D}"/>
              </a:ext>
            </a:extLst>
          </p:cNvPr>
          <p:cNvSpPr>
            <a:spLocks noGrp="1"/>
          </p:cNvSpPr>
          <p:nvPr/>
        </p:nvSpPr>
        <p:spPr>
          <a:xfrm>
            <a:off x="2247900" y="2266950"/>
            <a:ext cx="3238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9A8905-42A9-4D3F-B755-76BD24FF2FEF}"/>
              </a:ext>
            </a:extLst>
          </p:cNvPr>
          <p:cNvSpPr>
            <a:spLocks noGrp="1"/>
          </p:cNvSpPr>
          <p:nvPr/>
        </p:nvSpPr>
        <p:spPr>
          <a:xfrm>
            <a:off x="2324100" y="2343150"/>
            <a:ext cx="3086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对每个 example 保留 (X, a_clinician, y_score)；有 agent 后再加入 (X, a_agent, y_agent_score)。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6CC56E-388B-4B90-829B-6FE5CB76EB90}"/>
              </a:ext>
            </a:extLst>
          </p:cNvPr>
          <p:cNvSpPr>
            <a:spLocks noGrp="1"/>
          </p:cNvSpPr>
          <p:nvPr/>
        </p:nvSpPr>
        <p:spPr>
          <a:xfrm>
            <a:off x="5486400" y="2266950"/>
            <a:ext cx="33813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8B578D-8AE8-4136-8D4C-8CDD06BB92DD}"/>
              </a:ext>
            </a:extLst>
          </p:cNvPr>
          <p:cNvSpPr>
            <a:spLocks noGrp="1"/>
          </p:cNvSpPr>
          <p:nvPr/>
        </p:nvSpPr>
        <p:spPr>
          <a:xfrm>
            <a:off x="5562600" y="2343150"/>
            <a:ext cx="3228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pointwise label y∈[0,1]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03E3A8-13D9-4099-9F5B-BBDBD1DC8B60}"/>
              </a:ext>
            </a:extLst>
          </p:cNvPr>
          <p:cNvSpPr>
            <a:spLocks noGrp="1"/>
          </p:cNvSpPr>
          <p:nvPr/>
        </p:nvSpPr>
        <p:spPr>
          <a:xfrm>
            <a:off x="8867775" y="2266950"/>
            <a:ext cx="2381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38214F-33F9-4537-A741-06F01183C4E2}"/>
              </a:ext>
            </a:extLst>
          </p:cNvPr>
          <p:cNvSpPr>
            <a:spLocks noGrp="1"/>
          </p:cNvSpPr>
          <p:nvPr/>
        </p:nvSpPr>
        <p:spPr>
          <a:xfrm>
            <a:off x="8943975" y="2343150"/>
            <a:ext cx="2228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split by example_id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A3D0C7-2FDC-4D4F-81E6-8E7226AF0C1D}"/>
              </a:ext>
            </a:extLst>
          </p:cNvPr>
          <p:cNvSpPr>
            <a:spLocks noGrp="1"/>
          </p:cNvSpPr>
          <p:nvPr/>
        </p:nvSpPr>
        <p:spPr>
          <a:xfrm>
            <a:off x="628650" y="2838450"/>
            <a:ext cx="161925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11E6BA-89FB-455D-A355-DEC54F015264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2. 文本拼接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84D2D5-775A-4E6E-A4CD-A84A6F533E61}"/>
              </a:ext>
            </a:extLst>
          </p:cNvPr>
          <p:cNvSpPr>
            <a:spLocks noGrp="1"/>
          </p:cNvSpPr>
          <p:nvPr/>
        </p:nvSpPr>
        <p:spPr>
          <a:xfrm>
            <a:off x="2247900" y="2838450"/>
            <a:ext cx="323850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3D782D-40E2-4D5D-9414-948E957F2F3C}"/>
              </a:ext>
            </a:extLst>
          </p:cNvPr>
          <p:cNvSpPr>
            <a:spLocks noGrp="1"/>
          </p:cNvSpPr>
          <p:nvPr/>
        </p:nvSpPr>
        <p:spPr>
          <a:xfrm>
            <a:off x="2324100" y="2914650"/>
            <a:ext cx="3086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构造 prompt: patient context + candidate action + rubric dimensions。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8F7C77-818B-47DF-83B6-33477B29D622}"/>
              </a:ext>
            </a:extLst>
          </p:cNvPr>
          <p:cNvSpPr>
            <a:spLocks noGrp="1"/>
          </p:cNvSpPr>
          <p:nvPr/>
        </p:nvSpPr>
        <p:spPr>
          <a:xfrm>
            <a:off x="5486400" y="2838450"/>
            <a:ext cx="3381375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8C627A-8653-4BD2-9BBC-29ADECC4E327}"/>
              </a:ext>
            </a:extLst>
          </p:cNvPr>
          <p:cNvSpPr>
            <a:spLocks noGrp="1"/>
          </p:cNvSpPr>
          <p:nvPr/>
        </p:nvSpPr>
        <p:spPr>
          <a:xfrm>
            <a:off x="5562600" y="2914650"/>
            <a:ext cx="3228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f_theta(X,A)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6FB7C4-8267-4486-A0A3-544304155C65}"/>
              </a:ext>
            </a:extLst>
          </p:cNvPr>
          <p:cNvSpPr>
            <a:spLocks noGrp="1"/>
          </p:cNvSpPr>
          <p:nvPr/>
        </p:nvSpPr>
        <p:spPr>
          <a:xfrm>
            <a:off x="8867775" y="2838450"/>
            <a:ext cx="238125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A4F2E0-D172-462B-B4CA-3A5CE898E0F1}"/>
              </a:ext>
            </a:extLst>
          </p:cNvPr>
          <p:cNvSpPr>
            <a:spLocks noGrp="1"/>
          </p:cNvSpPr>
          <p:nvPr/>
        </p:nvSpPr>
        <p:spPr>
          <a:xfrm>
            <a:off x="8943975" y="2914650"/>
            <a:ext cx="2228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不能加入 note 中未来 action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51FE1D-BC78-45D5-9B72-CE464D1743F4}"/>
              </a:ext>
            </a:extLst>
          </p:cNvPr>
          <p:cNvSpPr>
            <a:spLocks noGrp="1"/>
          </p:cNvSpPr>
          <p:nvPr/>
        </p:nvSpPr>
        <p:spPr>
          <a:xfrm>
            <a:off x="628650" y="3409950"/>
            <a:ext cx="1619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98B81B-81EA-4559-8DD7-8202A1AD087A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3. Loss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7D505E-2031-458E-A7C6-77A101C71F92}"/>
              </a:ext>
            </a:extLst>
          </p:cNvPr>
          <p:cNvSpPr>
            <a:spLocks noGrp="1"/>
          </p:cNvSpPr>
          <p:nvPr/>
        </p:nvSpPr>
        <p:spPr>
          <a:xfrm>
            <a:off x="2247900" y="3409950"/>
            <a:ext cx="3238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488A66-5875-464F-BEC1-0744407D85E6}"/>
              </a:ext>
            </a:extLst>
          </p:cNvPr>
          <p:cNvSpPr>
            <a:spLocks noGrp="1"/>
          </p:cNvSpPr>
          <p:nvPr/>
        </p:nvSpPr>
        <p:spPr>
          <a:xfrm>
            <a:off x="2324100" y="3486150"/>
            <a:ext cx="3086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回归：MSE/Huber；可选 pairwise: sign(y_agent-y_clinician)。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E0CE52-3A26-405D-B205-D4EB5228F399}"/>
              </a:ext>
            </a:extLst>
          </p:cNvPr>
          <p:cNvSpPr>
            <a:spLocks noGrp="1"/>
          </p:cNvSpPr>
          <p:nvPr/>
        </p:nvSpPr>
        <p:spPr>
          <a:xfrm>
            <a:off x="5486400" y="3409950"/>
            <a:ext cx="33813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73D229-9A75-469A-8D2C-FC92FC1F9DBE}"/>
              </a:ext>
            </a:extLst>
          </p:cNvPr>
          <p:cNvSpPr>
            <a:spLocks noGrp="1"/>
          </p:cNvSpPr>
          <p:nvPr/>
        </p:nvSpPr>
        <p:spPr>
          <a:xfrm>
            <a:off x="5562600" y="3486150"/>
            <a:ext cx="3228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score calibration + ranking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F190AA-6389-456A-9F9E-61D7425350F2}"/>
              </a:ext>
            </a:extLst>
          </p:cNvPr>
          <p:cNvSpPr>
            <a:spLocks noGrp="1"/>
          </p:cNvSpPr>
          <p:nvPr/>
        </p:nvSpPr>
        <p:spPr>
          <a:xfrm>
            <a:off x="8867775" y="3409950"/>
            <a:ext cx="2381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AAF628B-2E0A-4AF2-9146-FE1557052EBA}"/>
              </a:ext>
            </a:extLst>
          </p:cNvPr>
          <p:cNvSpPr>
            <a:spLocks noGrp="1"/>
          </p:cNvSpPr>
          <p:nvPr/>
        </p:nvSpPr>
        <p:spPr>
          <a:xfrm>
            <a:off x="8943975" y="3486150"/>
            <a:ext cx="2228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pointwise 与 pairwise 可同时报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41C88A-BB8E-4C0D-B9FD-B0F34FE2AB9B}"/>
              </a:ext>
            </a:extLst>
          </p:cNvPr>
          <p:cNvSpPr>
            <a:spLocks noGrp="1"/>
          </p:cNvSpPr>
          <p:nvPr/>
        </p:nvSpPr>
        <p:spPr>
          <a:xfrm>
            <a:off x="628650" y="3981450"/>
            <a:ext cx="161925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CA1A6BF-1F4D-420A-A3A5-6F93A142DD98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4. 校准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BE6B71A-D79B-4615-B96E-45CEB3B19921}"/>
              </a:ext>
            </a:extLst>
          </p:cNvPr>
          <p:cNvSpPr>
            <a:spLocks noGrp="1"/>
          </p:cNvSpPr>
          <p:nvPr/>
        </p:nvSpPr>
        <p:spPr>
          <a:xfrm>
            <a:off x="2247900" y="3981450"/>
            <a:ext cx="323850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3E03E1-BEA1-4372-8B5B-C626E059AAC7}"/>
              </a:ext>
            </a:extLst>
          </p:cNvPr>
          <p:cNvSpPr>
            <a:spLocks noGrp="1"/>
          </p:cNvSpPr>
          <p:nvPr/>
        </p:nvSpPr>
        <p:spPr>
          <a:xfrm>
            <a:off x="2324100" y="4057650"/>
            <a:ext cx="3086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held-out source 或 split 上检查 Pearson/Spearman、MAE、方向一致率。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ED4F09-28E7-4335-AF3A-3A4A705C016E}"/>
              </a:ext>
            </a:extLst>
          </p:cNvPr>
          <p:cNvSpPr>
            <a:spLocks noGrp="1"/>
          </p:cNvSpPr>
          <p:nvPr/>
        </p:nvSpPr>
        <p:spPr>
          <a:xfrm>
            <a:off x="5486400" y="3981450"/>
            <a:ext cx="3381375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DB72A53-5D8F-428F-A166-AF4F5F5CA2F0}"/>
              </a:ext>
            </a:extLst>
          </p:cNvPr>
          <p:cNvSpPr>
            <a:spLocks noGrp="1"/>
          </p:cNvSpPr>
          <p:nvPr/>
        </p:nvSpPr>
        <p:spPr>
          <a:xfrm>
            <a:off x="5562600" y="4057650"/>
            <a:ext cx="3228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RM score -&gt; [0,1]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223C66D-32D4-49A4-9A30-00996B1A487E}"/>
              </a:ext>
            </a:extLst>
          </p:cNvPr>
          <p:cNvSpPr>
            <a:spLocks noGrp="1"/>
          </p:cNvSpPr>
          <p:nvPr/>
        </p:nvSpPr>
        <p:spPr>
          <a:xfrm>
            <a:off x="8867775" y="3981450"/>
            <a:ext cx="238125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F65881-BED6-431E-BB1C-A8E3474C9C40}"/>
              </a:ext>
            </a:extLst>
          </p:cNvPr>
          <p:cNvSpPr>
            <a:spLocks noGrp="1"/>
          </p:cNvSpPr>
          <p:nvPr/>
        </p:nvSpPr>
        <p:spPr>
          <a:xfrm>
            <a:off x="8943975" y="4057650"/>
            <a:ext cx="2228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不要只看训练集拟合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DB2D1F9-3C09-4429-BAFA-9F2311770EA4}"/>
              </a:ext>
            </a:extLst>
          </p:cNvPr>
          <p:cNvSpPr>
            <a:spLocks noGrp="1"/>
          </p:cNvSpPr>
          <p:nvPr/>
        </p:nvSpPr>
        <p:spPr>
          <a:xfrm>
            <a:off x="628650" y="4552950"/>
            <a:ext cx="1619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1F3BF9-E709-4E43-9734-0832E5C6E9DC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5. 冻结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8D48B75-C953-40AC-87AB-8925466D4199}"/>
              </a:ext>
            </a:extLst>
          </p:cNvPr>
          <p:cNvSpPr>
            <a:spLocks noGrp="1"/>
          </p:cNvSpPr>
          <p:nvPr/>
        </p:nvSpPr>
        <p:spPr>
          <a:xfrm>
            <a:off x="2247900" y="4552950"/>
            <a:ext cx="3238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3FB322-951D-482A-ABFF-B234E51734E4}"/>
              </a:ext>
            </a:extLst>
          </p:cNvPr>
          <p:cNvSpPr>
            <a:spLocks noGrp="1"/>
          </p:cNvSpPr>
          <p:nvPr/>
        </p:nvSpPr>
        <p:spPr>
          <a:xfrm>
            <a:off x="2324100" y="4629150"/>
            <a:ext cx="3086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固定 RM checkpoint / prompt / rubric version 后再批量打分。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5EC8D88-AB9A-4E56-BFA0-409C8A9D5A33}"/>
              </a:ext>
            </a:extLst>
          </p:cNvPr>
          <p:cNvSpPr>
            <a:spLocks noGrp="1"/>
          </p:cNvSpPr>
          <p:nvPr/>
        </p:nvSpPr>
        <p:spPr>
          <a:xfrm>
            <a:off x="5486400" y="4552950"/>
            <a:ext cx="33813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A7A9C50-56CC-45CB-9DD8-1AF70D3F7F4C}"/>
              </a:ext>
            </a:extLst>
          </p:cNvPr>
          <p:cNvSpPr>
            <a:spLocks noGrp="1"/>
          </p:cNvSpPr>
          <p:nvPr/>
        </p:nvSpPr>
        <p:spPr>
          <a:xfrm>
            <a:off x="5562600" y="4629150"/>
            <a:ext cx="3228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可复现 y_source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9DB2356-22AB-4D41-8809-CFFAB2021130}"/>
              </a:ext>
            </a:extLst>
          </p:cNvPr>
          <p:cNvSpPr>
            <a:spLocks noGrp="1"/>
          </p:cNvSpPr>
          <p:nvPr/>
        </p:nvSpPr>
        <p:spPr>
          <a:xfrm>
            <a:off x="8867775" y="4552950"/>
            <a:ext cx="2381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E958B35-0ACF-48FC-A57F-65CF805A6479}"/>
              </a:ext>
            </a:extLst>
          </p:cNvPr>
          <p:cNvSpPr>
            <a:spLocks noGrp="1"/>
          </p:cNvSpPr>
          <p:nvPr/>
        </p:nvSpPr>
        <p:spPr>
          <a:xfrm>
            <a:off x="8943975" y="4629150"/>
            <a:ext cx="2228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记录 model id 和日期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E4706CA-7C8E-47D8-85FC-216C46086C9A}"/>
              </a:ext>
            </a:extLst>
          </p:cNvPr>
          <p:cNvSpPr>
            <a:spLocks noGrp="1"/>
          </p:cNvSpPr>
          <p:nvPr/>
        </p:nvSpPr>
        <p:spPr>
          <a:xfrm>
            <a:off x="628650" y="5124450"/>
            <a:ext cx="161925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11C1601-ED57-48DF-96BF-C30CFDE86DE4}"/>
              </a:ext>
            </a:extLst>
          </p:cNvPr>
          <p:cNvSpPr>
            <a:spLocks noGrp="1"/>
          </p:cNvSpPr>
          <p:nvPr/>
        </p:nvSpPr>
        <p:spPr>
          <a:xfrm>
            <a:off x="704850" y="520065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6. OPE 使用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38A5BCC-4343-48DD-B3ED-B7596333C288}"/>
              </a:ext>
            </a:extLst>
          </p:cNvPr>
          <p:cNvSpPr>
            <a:spLocks noGrp="1"/>
          </p:cNvSpPr>
          <p:nvPr/>
        </p:nvSpPr>
        <p:spPr>
          <a:xfrm>
            <a:off x="2247900" y="5124450"/>
            <a:ext cx="323850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2ADFCC6-3021-4CBA-B1A2-5979BCFBD1F7}"/>
              </a:ext>
            </a:extLst>
          </p:cNvPr>
          <p:cNvSpPr>
            <a:spLocks noGrp="1"/>
          </p:cNvSpPr>
          <p:nvPr/>
        </p:nvSpPr>
        <p:spPr>
          <a:xfrm>
            <a:off x="2324100" y="5200650"/>
            <a:ext cx="3086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OPE estimator 只消费 X、A、Y；RM 是产生 Y 的机制。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3BA367-9F59-47F7-AD38-34D2D748540A}"/>
              </a:ext>
            </a:extLst>
          </p:cNvPr>
          <p:cNvSpPr>
            <a:spLocks noGrp="1"/>
          </p:cNvSpPr>
          <p:nvPr/>
        </p:nvSpPr>
        <p:spPr>
          <a:xfrm>
            <a:off x="5486400" y="5124450"/>
            <a:ext cx="3381375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0CD50B1-53D4-45B9-A717-F31A4A05A981}"/>
              </a:ext>
            </a:extLst>
          </p:cNvPr>
          <p:cNvSpPr>
            <a:spLocks noGrp="1"/>
          </p:cNvSpPr>
          <p:nvPr/>
        </p:nvSpPr>
        <p:spPr>
          <a:xfrm>
            <a:off x="5562600" y="5200650"/>
            <a:ext cx="3228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V(pi_b), V(pi_agent), effect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4C08E8E-2661-4D1F-A763-35A5EB2ED35C}"/>
              </a:ext>
            </a:extLst>
          </p:cNvPr>
          <p:cNvSpPr>
            <a:spLocks noGrp="1"/>
          </p:cNvSpPr>
          <p:nvPr/>
        </p:nvSpPr>
        <p:spPr>
          <a:xfrm>
            <a:off x="8867775" y="5124450"/>
            <a:ext cx="238125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53F45B5-4ABB-4285-B277-E056F545B2CB}"/>
              </a:ext>
            </a:extLst>
          </p:cNvPr>
          <p:cNvSpPr>
            <a:spLocks noGrp="1"/>
          </p:cNvSpPr>
          <p:nvPr/>
        </p:nvSpPr>
        <p:spPr>
          <a:xfrm>
            <a:off x="8943975" y="5200650"/>
            <a:ext cx="2228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评估时区分 label noise 与 estimator bias</a:t>
            </a:r>
          </a:p>
        </p:txBody>
      </p:sp>
    </p:spTree>
    <p:extLst>
      <p:ext uri="{BB962C8B-B14F-4D97-AF65-F5344CB8AC3E}">
        <p14:creationId xmlns:p14="http://schemas.microsoft.com/office/powerpoint/2010/main" val="1668864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38A9AA3-BB2A-4CEF-9854-9C3C8DBDBC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3B73633-530B-4648-8AE7-B610EFFE9345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544F4CF-C39E-4332-A872-D853BB643423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PAIRED PHASE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794FA4-DFB5-46D5-8931-FAF995386B22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Phase 3 把每个 context 变成 clinician-vs-agent 的成对比较。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CB3C6F-DFAB-4AF4-BD94-DFED7A14F8E0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这一步不是重新构造 X，而是在相同 X 下补充 target-policy action 和对应 reward。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1C3735-13B3-4118-8E1C-6570B2908963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A304EF-3175-4FFE-BCB1-8256519C7513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README.md agent generation and cce-effect commands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19214-1DFA-47F2-BB1B-0714DE23D954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3A6926-FEF7-434C-B4AA-4904CCF0208C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2476500" cy="2762250"/>
          </a:xfrm>
          <a:prstGeom prst="rect">
            <a:avLst/>
          </a:prstGeom>
          <a:solidFill>
            <a:srgbClr val="DCEFEB"/>
          </a:solidFill>
          <a:ln w="0">
            <a:solidFill>
              <a:srgbClr val="DCE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D6C8FB-3BE1-4106-98DF-DB08EDDF6C83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同一个 X_i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E30C75-39CF-467B-AC63-21C337783C03}"/>
              </a:ext>
            </a:extLst>
          </p:cNvPr>
          <p:cNvSpPr>
            <a:spLocks noGrp="1"/>
          </p:cNvSpPr>
          <p:nvPr/>
        </p:nvSpPr>
        <p:spPr>
          <a:xfrm>
            <a:off x="981075" y="2857500"/>
            <a:ext cx="195262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患者上下文</a:t>
            </a:r>
          </a:p>
          <a:p>
            <a:pPr algn="ctr">
              <a:defRPr sz="12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不含最终诊疗结论</a:t>
            </a:r>
          </a:p>
          <a:p>
            <a:pPr algn="ctr">
              <a:defRPr sz="12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作为 behavior 与 target 的共同输入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E4C371-7C50-4380-A1D0-7FC1FD2EF1DA}"/>
              </a:ext>
            </a:extLst>
          </p:cNvPr>
          <p:cNvSpPr>
            <a:spLocks noGrp="1"/>
          </p:cNvSpPr>
          <p:nvPr/>
        </p:nvSpPr>
        <p:spPr>
          <a:xfrm>
            <a:off x="3905250" y="1905000"/>
            <a:ext cx="300037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7F7363-664E-4249-BFA5-8784FBC4D80D}"/>
              </a:ext>
            </a:extLst>
          </p:cNvPr>
          <p:cNvSpPr>
            <a:spLocks noGrp="1"/>
          </p:cNvSpPr>
          <p:nvPr/>
        </p:nvSpPr>
        <p:spPr>
          <a:xfrm>
            <a:off x="3905250" y="1905000"/>
            <a:ext cx="3000375" cy="47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ADBA2F-C167-4AE3-8A23-CCE0BCA13EA7}"/>
              </a:ext>
            </a:extLst>
          </p:cNvPr>
          <p:cNvSpPr>
            <a:spLocks noGrp="1"/>
          </p:cNvSpPr>
          <p:nvPr/>
        </p:nvSpPr>
        <p:spPr>
          <a:xfrm>
            <a:off x="4143375" y="2133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Behavior policy π_b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65F798-6EE0-4F26-AA7A-20B2B26CFF2C}"/>
              </a:ext>
            </a:extLst>
          </p:cNvPr>
          <p:cNvSpPr>
            <a:spLocks noGrp="1"/>
          </p:cNvSpPr>
          <p:nvPr/>
        </p:nvSpPr>
        <p:spPr>
          <a:xfrm>
            <a:off x="4143375" y="2505075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A_i^b = clinician final A&amp;P</a:t>
            </a:r>
          </a:p>
          <a:p>
            <a:pPr algn="l">
              <a:def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y_i^b = score(A_i^b | X_i)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07B681-EE3E-4148-B240-5D45A5236848}"/>
              </a:ext>
            </a:extLst>
          </p:cNvPr>
          <p:cNvSpPr>
            <a:spLocks noGrp="1"/>
          </p:cNvSpPr>
          <p:nvPr/>
        </p:nvSpPr>
        <p:spPr>
          <a:xfrm>
            <a:off x="3905250" y="3581400"/>
            <a:ext cx="300037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5859F5-4584-4303-8C8E-7D37BBB94FC3}"/>
              </a:ext>
            </a:extLst>
          </p:cNvPr>
          <p:cNvSpPr>
            <a:spLocks noGrp="1"/>
          </p:cNvSpPr>
          <p:nvPr/>
        </p:nvSpPr>
        <p:spPr>
          <a:xfrm>
            <a:off x="3905250" y="3581400"/>
            <a:ext cx="3000375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F11240-2506-45DC-A7CA-1D2EB78D4DE3}"/>
              </a:ext>
            </a:extLst>
          </p:cNvPr>
          <p:cNvSpPr>
            <a:spLocks noGrp="1"/>
          </p:cNvSpPr>
          <p:nvPr/>
        </p:nvSpPr>
        <p:spPr>
          <a:xfrm>
            <a:off x="4143375" y="38100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Target policy π_agent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09C833-F4F6-4371-843F-C18E6EFA0C61}"/>
              </a:ext>
            </a:extLst>
          </p:cNvPr>
          <p:cNvSpPr>
            <a:spLocks noGrp="1"/>
          </p:cNvSpPr>
          <p:nvPr/>
        </p:nvSpPr>
        <p:spPr>
          <a:xfrm>
            <a:off x="4143375" y="4181475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A_i^agent = GPT-4.1 output</a:t>
            </a:r>
          </a:p>
          <a:p>
            <a:pPr algn="l">
              <a:def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y_i^agent = score(A_i^agent | X_i)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0F0D5B-C984-4DA6-A9C3-3348892F9B8C}"/>
              </a:ext>
            </a:extLst>
          </p:cNvPr>
          <p:cNvSpPr>
            <a:spLocks noGrp="1"/>
          </p:cNvSpPr>
          <p:nvPr/>
        </p:nvSpPr>
        <p:spPr>
          <a:xfrm>
            <a:off x="7762875" y="2305050"/>
            <a:ext cx="3190875" cy="20764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CACC2B-5111-44E7-AD6D-873FAE42DE00}"/>
              </a:ext>
            </a:extLst>
          </p:cNvPr>
          <p:cNvSpPr>
            <a:spLocks noGrp="1"/>
          </p:cNvSpPr>
          <p:nvPr/>
        </p:nvSpPr>
        <p:spPr>
          <a:xfrm>
            <a:off x="8039100" y="2552700"/>
            <a:ext cx="2647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Ground-truth effect from paired scoring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63A016-F813-49C5-A193-A23A3ABB2E13}"/>
              </a:ext>
            </a:extLst>
          </p:cNvPr>
          <p:cNvSpPr>
            <a:spLocks noGrp="1"/>
          </p:cNvSpPr>
          <p:nvPr/>
        </p:nvSpPr>
        <p:spPr>
          <a:xfrm>
            <a:off x="8172450" y="3095625"/>
            <a:ext cx="2381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V_true(π_b) = mean(y_i^b)</a:t>
            </a:r>
          </a:p>
          <a:p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V_true(π_agent) = mean(y_i^agent)</a:t>
            </a:r>
          </a:p>
          <a:p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Effect = V_agent - V_b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060128-89E7-4F29-864B-23062F11F956}"/>
              </a:ext>
            </a:extLst>
          </p:cNvPr>
          <p:cNvSpPr>
            <a:spLocks noGrp="1"/>
          </p:cNvSpPr>
          <p:nvPr/>
        </p:nvSpPr>
        <p:spPr>
          <a:xfrm>
            <a:off x="3209925" y="3381375"/>
            <a:ext cx="6667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551BF8-6725-45F5-BBEF-33352551C07A}"/>
              </a:ext>
            </a:extLst>
          </p:cNvPr>
          <p:cNvSpPr>
            <a:spLocks noGrp="1"/>
          </p:cNvSpPr>
          <p:nvPr/>
        </p:nvSpPr>
        <p:spPr>
          <a:xfrm>
            <a:off x="6953250" y="3028950"/>
            <a:ext cx="7620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C7092F-95DA-4A09-A8C2-050BB103B640}"/>
              </a:ext>
            </a:extLst>
          </p:cNvPr>
          <p:cNvSpPr>
            <a:spLocks noGrp="1"/>
          </p:cNvSpPr>
          <p:nvPr/>
        </p:nvSpPr>
        <p:spPr>
          <a:xfrm>
            <a:off x="6953250" y="4286250"/>
            <a:ext cx="7620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395986-3630-4A79-A173-33DB9604B872}"/>
              </a:ext>
            </a:extLst>
          </p:cNvPr>
          <p:cNvSpPr>
            <a:spLocks noGrp="1"/>
          </p:cNvSpPr>
          <p:nvPr/>
        </p:nvSpPr>
        <p:spPr>
          <a:xfrm>
            <a:off x="1123950" y="5476875"/>
            <a:ext cx="9477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这就是后面 GPT vs Sonnet judge table 中 V_b、V_agent 和 true effect 的计算来源。</a:t>
            </a:r>
          </a:p>
        </p:txBody>
      </p:sp>
    </p:spTree>
    <p:extLst>
      <p:ext uri="{BB962C8B-B14F-4D97-AF65-F5344CB8AC3E}">
        <p14:creationId xmlns:p14="http://schemas.microsoft.com/office/powerpoint/2010/main" val="1045541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90E2A20F-7183-4ABA-876C-D2A2A05B0C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A492B770-A5E1-497C-B584-722C15884DBB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B067B02-181A-4488-809C-13CEA9C6FA9E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COUNSELBENCH-EVAL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A9EF44-558C-45AA-8B96-0BB4F6763F86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引入的是专家标注的 mental-health response benchmark。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4588C3-DCE2-4C1C-BDA3-042C23D6EC11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它不是医疗 note extraction 数据；它提供匿名心理健康问题、human/LLM responses 和专业评审标注。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60165-BF8B-4D2A-A3B5-EF02FA50E975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4ED19-4C2C-4562-9E72-5CF2C9398D2A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data/counselbench/manifest.json; https://huggingface.co/datasets/izi-ano/CounselBench-Eval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8A45FE-71A9-4EDD-9DFB-784FD459C648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E7A4C0-7FAF-4F6F-83FD-B6BC1B0CFFAC}"/>
              </a:ext>
            </a:extLst>
          </p:cNvPr>
          <p:cNvSpPr>
            <a:spLocks noGrp="1"/>
          </p:cNvSpPr>
          <p:nvPr/>
        </p:nvSpPr>
        <p:spPr>
          <a:xfrm>
            <a:off x="742950" y="2047875"/>
            <a:ext cx="2190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868534-212A-4B5F-ABA2-A04F52F34200}"/>
              </a:ext>
            </a:extLst>
          </p:cNvPr>
          <p:cNvSpPr>
            <a:spLocks noGrp="1"/>
          </p:cNvSpPr>
          <p:nvPr/>
        </p:nvSpPr>
        <p:spPr>
          <a:xfrm>
            <a:off x="742950" y="2047875"/>
            <a:ext cx="2190750" cy="476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C88D15-B25C-48CE-81DD-835653933CB1}"/>
              </a:ext>
            </a:extLst>
          </p:cNvPr>
          <p:cNvSpPr>
            <a:spLocks noGrp="1"/>
          </p:cNvSpPr>
          <p:nvPr/>
        </p:nvSpPr>
        <p:spPr>
          <a:xfrm>
            <a:off x="914400" y="2238375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2,000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E8E109-BDCB-4ABC-8E9D-1D03E06EBE48}"/>
              </a:ext>
            </a:extLst>
          </p:cNvPr>
          <p:cNvSpPr>
            <a:spLocks noGrp="1"/>
          </p:cNvSpPr>
          <p:nvPr/>
        </p:nvSpPr>
        <p:spPr>
          <a:xfrm>
            <a:off x="914400" y="2600325"/>
            <a:ext cx="1847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raw annotation rows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139AB5-CBF9-4AAC-9AB8-02C7763EF0DB}"/>
              </a:ext>
            </a:extLst>
          </p:cNvPr>
          <p:cNvSpPr>
            <a:spLocks noGrp="1"/>
          </p:cNvSpPr>
          <p:nvPr/>
        </p:nvSpPr>
        <p:spPr>
          <a:xfrm>
            <a:off x="914400" y="2847975"/>
            <a:ext cx="1847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HF split: default/test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24C1EE-9926-4143-84E8-2E12D5D8D91E}"/>
              </a:ext>
            </a:extLst>
          </p:cNvPr>
          <p:cNvSpPr>
            <a:spLocks noGrp="1"/>
          </p:cNvSpPr>
          <p:nvPr/>
        </p:nvSpPr>
        <p:spPr>
          <a:xfrm>
            <a:off x="3190875" y="2047875"/>
            <a:ext cx="2190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5C25FE-49DC-47C3-B8B6-C43457F548BE}"/>
              </a:ext>
            </a:extLst>
          </p:cNvPr>
          <p:cNvSpPr>
            <a:spLocks noGrp="1"/>
          </p:cNvSpPr>
          <p:nvPr/>
        </p:nvSpPr>
        <p:spPr>
          <a:xfrm>
            <a:off x="3190875" y="2047875"/>
            <a:ext cx="21907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4D7776-8C70-4AC0-86A2-5EBF1D112E72}"/>
              </a:ext>
            </a:extLst>
          </p:cNvPr>
          <p:cNvSpPr>
            <a:spLocks noGrp="1"/>
          </p:cNvSpPr>
          <p:nvPr/>
        </p:nvSpPr>
        <p:spPr>
          <a:xfrm>
            <a:off x="3362325" y="2238375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400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D67079-CEFA-4559-9949-321287A08E3D}"/>
              </a:ext>
            </a:extLst>
          </p:cNvPr>
          <p:cNvSpPr>
            <a:spLocks noGrp="1"/>
          </p:cNvSpPr>
          <p:nvPr/>
        </p:nvSpPr>
        <p:spPr>
          <a:xfrm>
            <a:off x="3362325" y="2600325"/>
            <a:ext cx="1847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aggregated rows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7A2B64-B75E-4BD3-A871-47470738F92B}"/>
              </a:ext>
            </a:extLst>
          </p:cNvPr>
          <p:cNvSpPr>
            <a:spLocks noGrp="1"/>
          </p:cNvSpPr>
          <p:nvPr/>
        </p:nvSpPr>
        <p:spPr>
          <a:xfrm>
            <a:off x="3362325" y="2847975"/>
            <a:ext cx="1847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100 questions × 4 responders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1451BD-F0EE-45B4-8C5D-FDB91019B0FD}"/>
              </a:ext>
            </a:extLst>
          </p:cNvPr>
          <p:cNvSpPr>
            <a:spLocks noGrp="1"/>
          </p:cNvSpPr>
          <p:nvPr/>
        </p:nvSpPr>
        <p:spPr>
          <a:xfrm>
            <a:off x="5638800" y="2047875"/>
            <a:ext cx="2190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E07ED-306D-40F4-83CC-ABF900A9F973}"/>
              </a:ext>
            </a:extLst>
          </p:cNvPr>
          <p:cNvSpPr>
            <a:spLocks noGrp="1"/>
          </p:cNvSpPr>
          <p:nvPr/>
        </p:nvSpPr>
        <p:spPr>
          <a:xfrm>
            <a:off x="5638800" y="2047875"/>
            <a:ext cx="2190750" cy="47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D87814-C040-41B8-A13F-489B09BCD6CE}"/>
              </a:ext>
            </a:extLst>
          </p:cNvPr>
          <p:cNvSpPr>
            <a:spLocks noGrp="1"/>
          </p:cNvSpPr>
          <p:nvPr/>
        </p:nvSpPr>
        <p:spPr>
          <a:xfrm>
            <a:off x="5810250" y="2238375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666FE9-2047-4D83-BF01-1E1531F33CE2}"/>
              </a:ext>
            </a:extLst>
          </p:cNvPr>
          <p:cNvSpPr>
            <a:spLocks noGrp="1"/>
          </p:cNvSpPr>
          <p:nvPr/>
        </p:nvSpPr>
        <p:spPr>
          <a:xfrm>
            <a:off x="5810250" y="2600325"/>
            <a:ext cx="1847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human baseline rows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87DD59-77C9-4350-8D75-C8F6508BE9C1}"/>
              </a:ext>
            </a:extLst>
          </p:cNvPr>
          <p:cNvSpPr>
            <a:spLocks noGrp="1"/>
          </p:cNvSpPr>
          <p:nvPr/>
        </p:nvSpPr>
        <p:spPr>
          <a:xfrm>
            <a:off x="5810250" y="2847975"/>
            <a:ext cx="1847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Phase 2 CounselBench shape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BAB2E6-749E-4DD2-846F-3462A9DD5600}"/>
              </a:ext>
            </a:extLst>
          </p:cNvPr>
          <p:cNvSpPr>
            <a:spLocks noGrp="1"/>
          </p:cNvSpPr>
          <p:nvPr/>
        </p:nvSpPr>
        <p:spPr>
          <a:xfrm>
            <a:off x="8086725" y="2047875"/>
            <a:ext cx="2190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3E3DB4-D946-4BA8-AF42-DF2C6C185D0E}"/>
              </a:ext>
            </a:extLst>
          </p:cNvPr>
          <p:cNvSpPr>
            <a:spLocks noGrp="1"/>
          </p:cNvSpPr>
          <p:nvPr/>
        </p:nvSpPr>
        <p:spPr>
          <a:xfrm>
            <a:off x="8086725" y="2047875"/>
            <a:ext cx="219075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F89A20-D2CC-471E-95AA-9E2191CCD250}"/>
              </a:ext>
            </a:extLst>
          </p:cNvPr>
          <p:cNvSpPr>
            <a:spLocks noGrp="1"/>
          </p:cNvSpPr>
          <p:nvPr/>
        </p:nvSpPr>
        <p:spPr>
          <a:xfrm>
            <a:off x="8258175" y="2238375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 dirty="0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3×100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C35A22-3171-4099-9AB5-4AB0072BF01B}"/>
              </a:ext>
            </a:extLst>
          </p:cNvPr>
          <p:cNvSpPr>
            <a:spLocks noGrp="1"/>
          </p:cNvSpPr>
          <p:nvPr/>
        </p:nvSpPr>
        <p:spPr>
          <a:xfrm>
            <a:off x="8258175" y="2600325"/>
            <a:ext cx="1847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target paired files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1B59BD-370F-4139-8475-9E1B51658897}"/>
              </a:ext>
            </a:extLst>
          </p:cNvPr>
          <p:cNvSpPr>
            <a:spLocks noGrp="1"/>
          </p:cNvSpPr>
          <p:nvPr/>
        </p:nvSpPr>
        <p:spPr>
          <a:xfrm>
            <a:off x="8258175" y="2847975"/>
            <a:ext cx="1847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 dirty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gpt4 / llama3 / </a:t>
            </a:r>
            <a:r>
              <a:rPr sz="825" b="0" dirty="0" err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gemini</a:t>
            </a:r>
            <a:endParaRPr sz="825" b="0" dirty="0">
              <a:solidFill>
                <a:srgbClr val="5F687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1F82B3-9436-4890-8CC9-7E479D04B9F5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857375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E6A83B-9092-4374-ACF7-68CE71D9EA35}"/>
              </a:ext>
            </a:extLst>
          </p:cNvPr>
          <p:cNvSpPr>
            <a:spLocks noGrp="1"/>
          </p:cNvSpPr>
          <p:nvPr/>
        </p:nvSpPr>
        <p:spPr>
          <a:xfrm>
            <a:off x="952500" y="3790950"/>
            <a:ext cx="17049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字段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BBCF05-7FD7-4F04-99B6-879930D8756D}"/>
              </a:ext>
            </a:extLst>
          </p:cNvPr>
          <p:cNvSpPr>
            <a:spLocks noGrp="1"/>
          </p:cNvSpPr>
          <p:nvPr/>
        </p:nvSpPr>
        <p:spPr>
          <a:xfrm>
            <a:off x="2733675" y="3714750"/>
            <a:ext cx="3048000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99B0A5-C871-4AA1-9C11-683BA20946E8}"/>
              </a:ext>
            </a:extLst>
          </p:cNvPr>
          <p:cNvSpPr>
            <a:spLocks noGrp="1"/>
          </p:cNvSpPr>
          <p:nvPr/>
        </p:nvSpPr>
        <p:spPr>
          <a:xfrm>
            <a:off x="2809875" y="3790950"/>
            <a:ext cx="289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BFF6A5-57F6-4A0E-A848-A7BA4109D841}"/>
              </a:ext>
            </a:extLst>
          </p:cNvPr>
          <p:cNvSpPr>
            <a:spLocks noGrp="1"/>
          </p:cNvSpPr>
          <p:nvPr/>
        </p:nvSpPr>
        <p:spPr>
          <a:xfrm>
            <a:off x="5781675" y="3714750"/>
            <a:ext cx="3048000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69A6E5-B333-4899-9C88-16A57D962D76}"/>
              </a:ext>
            </a:extLst>
          </p:cNvPr>
          <p:cNvSpPr>
            <a:spLocks noGrp="1"/>
          </p:cNvSpPr>
          <p:nvPr/>
        </p:nvSpPr>
        <p:spPr>
          <a:xfrm>
            <a:off x="5857875" y="3790950"/>
            <a:ext cx="289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 / response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462A41-BDE4-49EC-B183-741998387631}"/>
              </a:ext>
            </a:extLst>
          </p:cNvPr>
          <p:cNvSpPr>
            <a:spLocks noGrp="1"/>
          </p:cNvSpPr>
          <p:nvPr/>
        </p:nvSpPr>
        <p:spPr>
          <a:xfrm>
            <a:off x="8829675" y="3714750"/>
            <a:ext cx="2714625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DCB73A-7238-4F1A-AE11-713C4F91DD81}"/>
              </a:ext>
            </a:extLst>
          </p:cNvPr>
          <p:cNvSpPr>
            <a:spLocks noGrp="1"/>
          </p:cNvSpPr>
          <p:nvPr/>
        </p:nvSpPr>
        <p:spPr>
          <a:xfrm>
            <a:off x="8905875" y="3790950"/>
            <a:ext cx="25622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Y / reward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5CD7D2-3E15-43F7-AB35-05F6F7A921AA}"/>
              </a:ext>
            </a:extLst>
          </p:cNvPr>
          <p:cNvSpPr>
            <a:spLocks noGrp="1"/>
          </p:cNvSpPr>
          <p:nvPr/>
        </p:nvSpPr>
        <p:spPr>
          <a:xfrm>
            <a:off x="876300" y="4038600"/>
            <a:ext cx="18573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E656AEE-C6CC-48E6-9F31-E660334DF358}"/>
              </a:ext>
            </a:extLst>
          </p:cNvPr>
          <p:cNvSpPr>
            <a:spLocks noGrp="1"/>
          </p:cNvSpPr>
          <p:nvPr/>
        </p:nvSpPr>
        <p:spPr>
          <a:xfrm>
            <a:off x="952500" y="4114800"/>
            <a:ext cx="1704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Human baseline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EDD91E-2DA5-4297-95D9-8D81F6835419}"/>
              </a:ext>
            </a:extLst>
          </p:cNvPr>
          <p:cNvSpPr>
            <a:spLocks noGrp="1"/>
          </p:cNvSpPr>
          <p:nvPr/>
        </p:nvSpPr>
        <p:spPr>
          <a:xfrm>
            <a:off x="2733675" y="4038600"/>
            <a:ext cx="3048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C298F4-F19C-4AD7-A1EF-5D9089CB828E}"/>
              </a:ext>
            </a:extLst>
          </p:cNvPr>
          <p:cNvSpPr>
            <a:spLocks noGrp="1"/>
          </p:cNvSpPr>
          <p:nvPr/>
        </p:nvSpPr>
        <p:spPr>
          <a:xfrm>
            <a:off x="2809875" y="411480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topic + questionTitle + questionText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C78AB8-3884-4D32-BC5A-443EA0BCBA4D}"/>
              </a:ext>
            </a:extLst>
          </p:cNvPr>
          <p:cNvSpPr>
            <a:spLocks noGrp="1"/>
          </p:cNvSpPr>
          <p:nvPr/>
        </p:nvSpPr>
        <p:spPr>
          <a:xfrm>
            <a:off x="5781675" y="4038600"/>
            <a:ext cx="3048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2ADFDD-54F0-47F3-AB1B-6AD6364F3B15}"/>
              </a:ext>
            </a:extLst>
          </p:cNvPr>
          <p:cNvSpPr>
            <a:spLocks noGrp="1"/>
          </p:cNvSpPr>
          <p:nvPr/>
        </p:nvSpPr>
        <p:spPr>
          <a:xfrm>
            <a:off x="5857875" y="411480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human therapist response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80F2F5-C359-423D-AACF-8FCD091FF574}"/>
              </a:ext>
            </a:extLst>
          </p:cNvPr>
          <p:cNvSpPr>
            <a:spLocks noGrp="1"/>
          </p:cNvSpPr>
          <p:nvPr/>
        </p:nvSpPr>
        <p:spPr>
          <a:xfrm>
            <a:off x="8829675" y="4038600"/>
            <a:ext cx="27146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1C16A4-B899-4BFD-AD02-E3FE4DF2FA31}"/>
              </a:ext>
            </a:extLst>
          </p:cNvPr>
          <p:cNvSpPr>
            <a:spLocks noGrp="1"/>
          </p:cNvSpPr>
          <p:nvPr/>
        </p:nvSpPr>
        <p:spPr>
          <a:xfrm>
            <a:off x="8905875" y="4114800"/>
            <a:ext cx="25622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expert_reward from 5 annotations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9369FB5-AB7F-4853-9A08-A8301487726A}"/>
              </a:ext>
            </a:extLst>
          </p:cNvPr>
          <p:cNvSpPr>
            <a:spLocks noGrp="1"/>
          </p:cNvSpPr>
          <p:nvPr/>
        </p:nvSpPr>
        <p:spPr>
          <a:xfrm>
            <a:off x="876300" y="4610100"/>
            <a:ext cx="1857375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F540A04-AAB2-4117-A2C6-84AE59A5F987}"/>
              </a:ext>
            </a:extLst>
          </p:cNvPr>
          <p:cNvSpPr>
            <a:spLocks noGrp="1"/>
          </p:cNvSpPr>
          <p:nvPr/>
        </p:nvSpPr>
        <p:spPr>
          <a:xfrm>
            <a:off x="952500" y="4686300"/>
            <a:ext cx="1704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Target responders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B33AD2D-FB36-4E28-9FAC-220F5D64E5D3}"/>
              </a:ext>
            </a:extLst>
          </p:cNvPr>
          <p:cNvSpPr>
            <a:spLocks noGrp="1"/>
          </p:cNvSpPr>
          <p:nvPr/>
        </p:nvSpPr>
        <p:spPr>
          <a:xfrm>
            <a:off x="2733675" y="4610100"/>
            <a:ext cx="304800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ACE370A-D768-410E-85D0-3C02065EFED8}"/>
              </a:ext>
            </a:extLst>
          </p:cNvPr>
          <p:cNvSpPr>
            <a:spLocks noGrp="1"/>
          </p:cNvSpPr>
          <p:nvPr/>
        </p:nvSpPr>
        <p:spPr>
          <a:xfrm>
            <a:off x="2809875" y="468630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same question context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873A126-2494-45EF-AE96-E0B5D36FCC7C}"/>
              </a:ext>
            </a:extLst>
          </p:cNvPr>
          <p:cNvSpPr>
            <a:spLocks noGrp="1"/>
          </p:cNvSpPr>
          <p:nvPr/>
        </p:nvSpPr>
        <p:spPr>
          <a:xfrm>
            <a:off x="5781675" y="4610100"/>
            <a:ext cx="304800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F52F25-654A-4A7C-B8EA-CF8AF640F079}"/>
              </a:ext>
            </a:extLst>
          </p:cNvPr>
          <p:cNvSpPr>
            <a:spLocks noGrp="1"/>
          </p:cNvSpPr>
          <p:nvPr/>
        </p:nvSpPr>
        <p:spPr>
          <a:xfrm>
            <a:off x="5857875" y="468630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gpt4 / llama3 / gemini response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D1D7819-9EF6-4647-A78B-BC9AA3C0C461}"/>
              </a:ext>
            </a:extLst>
          </p:cNvPr>
          <p:cNvSpPr>
            <a:spLocks noGrp="1"/>
          </p:cNvSpPr>
          <p:nvPr/>
        </p:nvSpPr>
        <p:spPr>
          <a:xfrm>
            <a:off x="8829675" y="4610100"/>
            <a:ext cx="2714625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59A22C-F9E9-4FF1-B5CD-434A6F1A556D}"/>
              </a:ext>
            </a:extLst>
          </p:cNvPr>
          <p:cNvSpPr>
            <a:spLocks noGrp="1"/>
          </p:cNvSpPr>
          <p:nvPr/>
        </p:nvSpPr>
        <p:spPr>
          <a:xfrm>
            <a:off x="8905875" y="4686300"/>
            <a:ext cx="25622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same expert aggregation method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C51103-1DCB-4D63-9D60-79B68CB32312}"/>
              </a:ext>
            </a:extLst>
          </p:cNvPr>
          <p:cNvSpPr>
            <a:spLocks noGrp="1"/>
          </p:cNvSpPr>
          <p:nvPr/>
        </p:nvSpPr>
        <p:spPr>
          <a:xfrm>
            <a:off x="923925" y="5476875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公开链接： https://huggingface.co/datasets/izi-ano/CounselBench-Eval</a:t>
            </a:r>
          </a:p>
        </p:txBody>
      </p:sp>
    </p:spTree>
    <p:extLst>
      <p:ext uri="{BB962C8B-B14F-4D97-AF65-F5344CB8AC3E}">
        <p14:creationId xmlns:p14="http://schemas.microsoft.com/office/powerpoint/2010/main" val="525705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8C0613CC-39E1-48C6-ACF5-172B200933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8DD6521-10BF-403E-9A93-AD283D7D31AC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ABD01EF-A046-44CF-9D40-97F500CE4C68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COUNSELBENCH BUILD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42FC85-8678-4206-BE39-F93BBFAAF013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的构造核心是按 (questionID, responder) 聚合专家标注。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ACA7C0-9862-47C0-B4AE-7ABA48B99813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human response 作为 behavior baseline；三个 logged LLM responders 分别形成 target-policy paired files。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2DD4A-3AA1-49CD-A3BB-7E46D9E68239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694B63-ED54-40B4-9DBA-CFF91B5762CC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src/cce_data/counselbench.py build_counselbench_dataset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050130-2443-46DA-86CF-E2DCAED74227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2DF069-1945-4A65-972E-AE8F92BE7E20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000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3444ED-0C4F-46E1-A8E0-0133B2C63BCC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323850" cy="15240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A5FE7F-74E3-467C-A300-A0AB6781E90F}"/>
              </a:ext>
            </a:extLst>
          </p:cNvPr>
          <p:cNvSpPr>
            <a:spLocks noGrp="1"/>
          </p:cNvSpPr>
          <p:nvPr/>
        </p:nvSpPr>
        <p:spPr>
          <a:xfrm>
            <a:off x="714375" y="206692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88236-2A15-49B4-83C1-A8A6267CCD46}"/>
              </a:ext>
            </a:extLst>
          </p:cNvPr>
          <p:cNvSpPr>
            <a:spLocks noGrp="1"/>
          </p:cNvSpPr>
          <p:nvPr/>
        </p:nvSpPr>
        <p:spPr>
          <a:xfrm>
            <a:off x="1123950" y="20669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Load HF rows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0A141E-314D-4AF5-A7AD-A8EB9BA1C525}"/>
              </a:ext>
            </a:extLst>
          </p:cNvPr>
          <p:cNvSpPr>
            <a:spLocks noGrp="1"/>
          </p:cNvSpPr>
          <p:nvPr/>
        </p:nvSpPr>
        <p:spPr>
          <a:xfrm>
            <a:off x="1123950" y="2333625"/>
            <a:ext cx="14287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CounselBench-Eval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2,000 raw rows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CAF70-D9B7-408E-9EE1-8B300BA96A65}"/>
              </a:ext>
            </a:extLst>
          </p:cNvPr>
          <p:cNvSpPr>
            <a:spLocks noGrp="1"/>
          </p:cNvSpPr>
          <p:nvPr/>
        </p:nvSpPr>
        <p:spPr>
          <a:xfrm>
            <a:off x="3000375" y="1952625"/>
            <a:ext cx="2000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A531B4-8683-48F7-AAE0-9C8BA3214864}"/>
              </a:ext>
            </a:extLst>
          </p:cNvPr>
          <p:cNvSpPr>
            <a:spLocks noGrp="1"/>
          </p:cNvSpPr>
          <p:nvPr/>
        </p:nvSpPr>
        <p:spPr>
          <a:xfrm>
            <a:off x="3000375" y="1952625"/>
            <a:ext cx="323850" cy="15240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F1837B-6E52-414D-96EC-5685100EC0A7}"/>
              </a:ext>
            </a:extLst>
          </p:cNvPr>
          <p:cNvSpPr>
            <a:spLocks noGrp="1"/>
          </p:cNvSpPr>
          <p:nvPr/>
        </p:nvSpPr>
        <p:spPr>
          <a:xfrm>
            <a:off x="3048000" y="206692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E84895-916D-4080-9A08-868F936A1C59}"/>
              </a:ext>
            </a:extLst>
          </p:cNvPr>
          <p:cNvSpPr>
            <a:spLocks noGrp="1"/>
          </p:cNvSpPr>
          <p:nvPr/>
        </p:nvSpPr>
        <p:spPr>
          <a:xfrm>
            <a:off x="3457575" y="20669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Aggregate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FAEAE1-062E-4563-8C69-388F27ACE12F}"/>
              </a:ext>
            </a:extLst>
          </p:cNvPr>
          <p:cNvSpPr>
            <a:spLocks noGrp="1"/>
          </p:cNvSpPr>
          <p:nvPr/>
        </p:nvSpPr>
        <p:spPr>
          <a:xfrm>
            <a:off x="3457575" y="2333625"/>
            <a:ext cx="14287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groupby(questionID,responder)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mean of 5 expert annotations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788573-C275-45AF-AD83-8C1A0F32107D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000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9BBAF4-F7B2-40CF-A6EE-1F4AEA5DB09A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323850" cy="1524000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440C30-8B0C-4EB6-9909-9432951F9D80}"/>
              </a:ext>
            </a:extLst>
          </p:cNvPr>
          <p:cNvSpPr>
            <a:spLocks noGrp="1"/>
          </p:cNvSpPr>
          <p:nvPr/>
        </p:nvSpPr>
        <p:spPr>
          <a:xfrm>
            <a:off x="5381625" y="206692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C42F7A-3DB9-450D-AE8A-FBDF0C85F79B}"/>
              </a:ext>
            </a:extLst>
          </p:cNvPr>
          <p:cNvSpPr>
            <a:spLocks noGrp="1"/>
          </p:cNvSpPr>
          <p:nvPr/>
        </p:nvSpPr>
        <p:spPr>
          <a:xfrm>
            <a:off x="5791200" y="20669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Build Phase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CBBFB3-6C72-45A5-8B29-A3F3049A3EC9}"/>
              </a:ext>
            </a:extLst>
          </p:cNvPr>
          <p:cNvSpPr>
            <a:spLocks noGrp="1"/>
          </p:cNvSpPr>
          <p:nvPr/>
        </p:nvSpPr>
        <p:spPr>
          <a:xfrm>
            <a:off x="5791200" y="2333625"/>
            <a:ext cx="14287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100 human baseline rows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source=counselbench_eval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3B67AB-A4EE-41B7-8A6F-A4BFB4DF5859}"/>
              </a:ext>
            </a:extLst>
          </p:cNvPr>
          <p:cNvSpPr>
            <a:spLocks noGrp="1"/>
          </p:cNvSpPr>
          <p:nvPr/>
        </p:nvSpPr>
        <p:spPr>
          <a:xfrm>
            <a:off x="7667625" y="1952625"/>
            <a:ext cx="2000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4A79A5-5B1A-4CFC-96D1-6417861B469F}"/>
              </a:ext>
            </a:extLst>
          </p:cNvPr>
          <p:cNvSpPr>
            <a:spLocks noGrp="1"/>
          </p:cNvSpPr>
          <p:nvPr/>
        </p:nvSpPr>
        <p:spPr>
          <a:xfrm>
            <a:off x="7667625" y="1952625"/>
            <a:ext cx="323850" cy="15240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7AB218-1232-420A-A014-5C5A89F14421}"/>
              </a:ext>
            </a:extLst>
          </p:cNvPr>
          <p:cNvSpPr>
            <a:spLocks noGrp="1"/>
          </p:cNvSpPr>
          <p:nvPr/>
        </p:nvSpPr>
        <p:spPr>
          <a:xfrm>
            <a:off x="7715250" y="206692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100876-C6E3-436F-8844-5CC4611186F7}"/>
              </a:ext>
            </a:extLst>
          </p:cNvPr>
          <p:cNvSpPr>
            <a:spLocks noGrp="1"/>
          </p:cNvSpPr>
          <p:nvPr/>
        </p:nvSpPr>
        <p:spPr>
          <a:xfrm>
            <a:off x="8124825" y="20669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Pair targets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08F4D4-E22E-4EF3-8F92-97C4221CF61E}"/>
              </a:ext>
            </a:extLst>
          </p:cNvPr>
          <p:cNvSpPr>
            <a:spLocks noGrp="1"/>
          </p:cNvSpPr>
          <p:nvPr/>
        </p:nvSpPr>
        <p:spPr>
          <a:xfrm>
            <a:off x="8124825" y="2333625"/>
            <a:ext cx="14287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gpt4 / llama3 / gemini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100 records each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4FAC7C-184F-4981-AC8C-C8FF1BDBF27E}"/>
              </a:ext>
            </a:extLst>
          </p:cNvPr>
          <p:cNvSpPr>
            <a:spLocks noGrp="1"/>
          </p:cNvSpPr>
          <p:nvPr/>
        </p:nvSpPr>
        <p:spPr>
          <a:xfrm>
            <a:off x="10001250" y="1952625"/>
            <a:ext cx="14287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398914-0814-41BC-B56A-3B6965AAF861}"/>
              </a:ext>
            </a:extLst>
          </p:cNvPr>
          <p:cNvSpPr>
            <a:spLocks noGrp="1"/>
          </p:cNvSpPr>
          <p:nvPr/>
        </p:nvSpPr>
        <p:spPr>
          <a:xfrm>
            <a:off x="10001250" y="1952625"/>
            <a:ext cx="323850" cy="15240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16AE62-614F-4D30-BA7F-6C8C1B1693A2}"/>
              </a:ext>
            </a:extLst>
          </p:cNvPr>
          <p:cNvSpPr>
            <a:spLocks noGrp="1"/>
          </p:cNvSpPr>
          <p:nvPr/>
        </p:nvSpPr>
        <p:spPr>
          <a:xfrm>
            <a:off x="10048875" y="206692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1AE545-AEE5-41B4-A837-24A050E27EB3}"/>
              </a:ext>
            </a:extLst>
          </p:cNvPr>
          <p:cNvSpPr>
            <a:spLocks noGrp="1"/>
          </p:cNvSpPr>
          <p:nvPr/>
        </p:nvSpPr>
        <p:spPr>
          <a:xfrm>
            <a:off x="10458450" y="2066925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Effect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1B5E3D-0459-4168-9B71-2B9BC610829F}"/>
              </a:ext>
            </a:extLst>
          </p:cNvPr>
          <p:cNvSpPr>
            <a:spLocks noGrp="1"/>
          </p:cNvSpPr>
          <p:nvPr/>
        </p:nvSpPr>
        <p:spPr>
          <a:xfrm>
            <a:off x="10458450" y="2333625"/>
            <a:ext cx="8572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compute</a:t>
            </a:r>
          </a:p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V_agent - V_b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9B9C4B-3BD2-426B-AFB6-AD8190E921BD}"/>
              </a:ext>
            </a:extLst>
          </p:cNvPr>
          <p:cNvSpPr>
            <a:spLocks noGrp="1"/>
          </p:cNvSpPr>
          <p:nvPr/>
        </p:nvSpPr>
        <p:spPr>
          <a:xfrm>
            <a:off x="2686050" y="2714625"/>
            <a:ext cx="2667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9D615F-231E-403C-91B0-D0F0C9DB49AE}"/>
              </a:ext>
            </a:extLst>
          </p:cNvPr>
          <p:cNvSpPr>
            <a:spLocks noGrp="1"/>
          </p:cNvSpPr>
          <p:nvPr/>
        </p:nvSpPr>
        <p:spPr>
          <a:xfrm>
            <a:off x="5019675" y="2714625"/>
            <a:ext cx="2667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752DE-6B1C-4FA7-8629-DDF0A5B43991}"/>
              </a:ext>
            </a:extLst>
          </p:cNvPr>
          <p:cNvSpPr>
            <a:spLocks noGrp="1"/>
          </p:cNvSpPr>
          <p:nvPr/>
        </p:nvSpPr>
        <p:spPr>
          <a:xfrm>
            <a:off x="7353300" y="2714625"/>
            <a:ext cx="2667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5CA9C4-AC2F-44D6-8059-9F071127538C}"/>
              </a:ext>
            </a:extLst>
          </p:cNvPr>
          <p:cNvSpPr>
            <a:spLocks noGrp="1"/>
          </p:cNvSpPr>
          <p:nvPr/>
        </p:nvSpPr>
        <p:spPr>
          <a:xfrm>
            <a:off x="9686925" y="2714625"/>
            <a:ext cx="2667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66B648-5C45-4EFF-9DFC-6683F7BD0361}"/>
              </a:ext>
            </a:extLst>
          </p:cNvPr>
          <p:cNvSpPr>
            <a:spLocks noGrp="1"/>
          </p:cNvSpPr>
          <p:nvPr/>
        </p:nvSpPr>
        <p:spPr>
          <a:xfrm>
            <a:off x="1143000" y="4191000"/>
            <a:ext cx="2286000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44D86A-C645-43FB-85EB-063740C287BF}"/>
              </a:ext>
            </a:extLst>
          </p:cNvPr>
          <p:cNvSpPr>
            <a:spLocks noGrp="1"/>
          </p:cNvSpPr>
          <p:nvPr/>
        </p:nvSpPr>
        <p:spPr>
          <a:xfrm>
            <a:off x="1219200" y="426720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输出文件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8AD13B8-C2F6-4E9A-A5A4-27711FCE0125}"/>
              </a:ext>
            </a:extLst>
          </p:cNvPr>
          <p:cNvSpPr>
            <a:spLocks noGrp="1"/>
          </p:cNvSpPr>
          <p:nvPr/>
        </p:nvSpPr>
        <p:spPr>
          <a:xfrm>
            <a:off x="3429000" y="4191000"/>
            <a:ext cx="3857625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D1F945-404A-4E30-AB2F-EF4F9718BBDA}"/>
              </a:ext>
            </a:extLst>
          </p:cNvPr>
          <p:cNvSpPr>
            <a:spLocks noGrp="1"/>
          </p:cNvSpPr>
          <p:nvPr/>
        </p:nvSpPr>
        <p:spPr>
          <a:xfrm>
            <a:off x="3505200" y="4267200"/>
            <a:ext cx="37052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包含内容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5B04D3-D3D1-4F01-9B18-37AAD363C7C9}"/>
              </a:ext>
            </a:extLst>
          </p:cNvPr>
          <p:cNvSpPr>
            <a:spLocks noGrp="1"/>
          </p:cNvSpPr>
          <p:nvPr/>
        </p:nvSpPr>
        <p:spPr>
          <a:xfrm>
            <a:off x="7286625" y="4191000"/>
            <a:ext cx="3857625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48AF94-10F0-473B-9990-88AF943CE714}"/>
              </a:ext>
            </a:extLst>
          </p:cNvPr>
          <p:cNvSpPr>
            <a:spLocks noGrp="1"/>
          </p:cNvSpPr>
          <p:nvPr/>
        </p:nvSpPr>
        <p:spPr>
          <a:xfrm>
            <a:off x="7362825" y="4267200"/>
            <a:ext cx="37052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用途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F32BCC-269D-4B4C-A33D-3175416A9E06}"/>
              </a:ext>
            </a:extLst>
          </p:cNvPr>
          <p:cNvSpPr>
            <a:spLocks noGrp="1"/>
          </p:cNvSpPr>
          <p:nvPr/>
        </p:nvSpPr>
        <p:spPr>
          <a:xfrm>
            <a:off x="1143000" y="4514850"/>
            <a:ext cx="2286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26F9C78-EF7C-48A5-921A-5D8D27033658}"/>
              </a:ext>
            </a:extLst>
          </p:cNvPr>
          <p:cNvSpPr>
            <a:spLocks noGrp="1"/>
          </p:cNvSpPr>
          <p:nvPr/>
        </p:nvSpPr>
        <p:spPr>
          <a:xfrm>
            <a:off x="1219200" y="4591050"/>
            <a:ext cx="2133600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phase2_dataset.jsonl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80A720-8C7D-4E29-8077-306EC784D944}"/>
              </a:ext>
            </a:extLst>
          </p:cNvPr>
          <p:cNvSpPr>
            <a:spLocks noGrp="1"/>
          </p:cNvSpPr>
          <p:nvPr/>
        </p:nvSpPr>
        <p:spPr>
          <a:xfrm>
            <a:off x="3429000" y="4514850"/>
            <a:ext cx="3857625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93EA98-908D-446D-AAF5-4FDD0FD9FEF4}"/>
              </a:ext>
            </a:extLst>
          </p:cNvPr>
          <p:cNvSpPr>
            <a:spLocks noGrp="1"/>
          </p:cNvSpPr>
          <p:nvPr/>
        </p:nvSpPr>
        <p:spPr>
          <a:xfrm>
            <a:off x="3505200" y="4591050"/>
            <a:ext cx="3705225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100 条 human baseline rows；y_score 已是 expert_reward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C38678C-728E-44FF-B873-8DEED30BEAC8}"/>
              </a:ext>
            </a:extLst>
          </p:cNvPr>
          <p:cNvSpPr>
            <a:spLocks noGrp="1"/>
          </p:cNvSpPr>
          <p:nvPr/>
        </p:nvSpPr>
        <p:spPr>
          <a:xfrm>
            <a:off x="7286625" y="4514850"/>
            <a:ext cx="3857625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886BC5-94FB-4DBA-848A-CF5894C054F6}"/>
              </a:ext>
            </a:extLst>
          </p:cNvPr>
          <p:cNvSpPr>
            <a:spLocks noGrp="1"/>
          </p:cNvSpPr>
          <p:nvPr/>
        </p:nvSpPr>
        <p:spPr>
          <a:xfrm>
            <a:off x="7362825" y="4591050"/>
            <a:ext cx="3705225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训练/验证 expert-labeled RM 或作为 baseline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DD08061-674D-424B-AE6E-F9BAFBC38B81}"/>
              </a:ext>
            </a:extLst>
          </p:cNvPr>
          <p:cNvSpPr>
            <a:spLocks noGrp="1"/>
          </p:cNvSpPr>
          <p:nvPr/>
        </p:nvSpPr>
        <p:spPr>
          <a:xfrm>
            <a:off x="1143000" y="5038725"/>
            <a:ext cx="2286000" cy="523875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46626A8-CBD2-4738-85F5-028982435B38}"/>
              </a:ext>
            </a:extLst>
          </p:cNvPr>
          <p:cNvSpPr>
            <a:spLocks noGrp="1"/>
          </p:cNvSpPr>
          <p:nvPr/>
        </p:nvSpPr>
        <p:spPr>
          <a:xfrm>
            <a:off x="1219200" y="5114925"/>
            <a:ext cx="2133600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phase3_*_expert_scored.jsonl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F0047D8-7BF6-46DA-87EF-30126B5509D1}"/>
              </a:ext>
            </a:extLst>
          </p:cNvPr>
          <p:cNvSpPr>
            <a:spLocks noGrp="1"/>
          </p:cNvSpPr>
          <p:nvPr/>
        </p:nvSpPr>
        <p:spPr>
          <a:xfrm>
            <a:off x="3429000" y="5038725"/>
            <a:ext cx="3857625" cy="523875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162E55-DCB7-43BB-80A1-14BCCEFDF698}"/>
              </a:ext>
            </a:extLst>
          </p:cNvPr>
          <p:cNvSpPr>
            <a:spLocks noGrp="1"/>
          </p:cNvSpPr>
          <p:nvPr/>
        </p:nvSpPr>
        <p:spPr>
          <a:xfrm>
            <a:off x="3505200" y="5114925"/>
            <a:ext cx="3705225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同一 X 下 human response + target response + 两个 expert scores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D5B34BA-2D6C-4251-95A3-802D0431F440}"/>
              </a:ext>
            </a:extLst>
          </p:cNvPr>
          <p:cNvSpPr>
            <a:spLocks noGrp="1"/>
          </p:cNvSpPr>
          <p:nvPr/>
        </p:nvSpPr>
        <p:spPr>
          <a:xfrm>
            <a:off x="7286625" y="5038725"/>
            <a:ext cx="3857625" cy="523875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5A4339-2193-4AAA-BC68-265FD08604F8}"/>
              </a:ext>
            </a:extLst>
          </p:cNvPr>
          <p:cNvSpPr>
            <a:spLocks noGrp="1"/>
          </p:cNvSpPr>
          <p:nvPr/>
        </p:nvSpPr>
        <p:spPr>
          <a:xfrm>
            <a:off x="7362825" y="5114925"/>
            <a:ext cx="3705225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计算 target responder effect；做 sensitivity benchmark</a:t>
            </a:r>
          </a:p>
        </p:txBody>
      </p:sp>
    </p:spTree>
    <p:extLst>
      <p:ext uri="{BB962C8B-B14F-4D97-AF65-F5344CB8AC3E}">
        <p14:creationId xmlns:p14="http://schemas.microsoft.com/office/powerpoint/2010/main" val="1518071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C64F897C-3618-40F4-B249-BB9A2325BB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A8AC351-5D52-4EBD-AC3F-4152159021E2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3DA0309-D608-499B-BFC9-9137E98DAB37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EXPERT REWARD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D9BC3-0F5F-486D-A832-87149F275381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的 reward 是加权专家复合分，不依赖 LLM judge。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24D397-F9FF-4AA5-8527-E4B0F09C8C06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默认 reward_mode=composite；也可切换为 only overall score。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97F20B-EA72-40D3-8830-806E436A8802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A2E01F-E929-4B99-872E-EA16993B8C9A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src/cce_data/counselbench.py COMPOSITE_WEIGHTS; data/counselbench/ground_truth_effect_*.json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99A700-F2F2-4586-A284-5BE8CBE460C3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67E2ED-FECA-4AC2-835F-31C26B596C39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4953000" cy="1095375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C9015-06F1-44A9-8B9B-61B212CF194C}"/>
              </a:ext>
            </a:extLst>
          </p:cNvPr>
          <p:cNvSpPr>
            <a:spLocks noGrp="1"/>
          </p:cNvSpPr>
          <p:nvPr/>
        </p:nvSpPr>
        <p:spPr>
          <a:xfrm>
            <a:off x="895350" y="2238375"/>
            <a:ext cx="4457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reward = 0.30 overall + 0.20 empathy + 0.20 specificity</a:t>
            </a:r>
          </a:p>
          <a:p>
            <a:pPr algn="l"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     + 0.15 factual + 0.10 low toxicity + 0.05 low medical-advice risk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2B3BD8-FC4F-47B6-9FD9-06645C8F2B78}"/>
              </a:ext>
            </a:extLst>
          </p:cNvPr>
          <p:cNvSpPr>
            <a:spLocks noGrp="1"/>
          </p:cNvSpPr>
          <p:nvPr/>
        </p:nvSpPr>
        <p:spPr>
          <a:xfrm>
            <a:off x="6191250" y="1885950"/>
            <a:ext cx="1619250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544AAB-7548-4466-89DB-208FB1061073}"/>
              </a:ext>
            </a:extLst>
          </p:cNvPr>
          <p:cNvSpPr>
            <a:spLocks noGrp="1"/>
          </p:cNvSpPr>
          <p:nvPr/>
        </p:nvSpPr>
        <p:spPr>
          <a:xfrm>
            <a:off x="6267450" y="196215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维度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5243E3-AC4D-41F1-9791-4AAABA652B0B}"/>
              </a:ext>
            </a:extLst>
          </p:cNvPr>
          <p:cNvSpPr>
            <a:spLocks noGrp="1"/>
          </p:cNvSpPr>
          <p:nvPr/>
        </p:nvSpPr>
        <p:spPr>
          <a:xfrm>
            <a:off x="7810500" y="1885950"/>
            <a:ext cx="1143000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29539A-0041-4BE5-9490-9F22960B6AA4}"/>
              </a:ext>
            </a:extLst>
          </p:cNvPr>
          <p:cNvSpPr>
            <a:spLocks noGrp="1"/>
          </p:cNvSpPr>
          <p:nvPr/>
        </p:nvSpPr>
        <p:spPr>
          <a:xfrm>
            <a:off x="7886700" y="19621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原始量表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615A5-5D16-425C-B5F1-427D7DABB93F}"/>
              </a:ext>
            </a:extLst>
          </p:cNvPr>
          <p:cNvSpPr>
            <a:spLocks noGrp="1"/>
          </p:cNvSpPr>
          <p:nvPr/>
        </p:nvSpPr>
        <p:spPr>
          <a:xfrm>
            <a:off x="8953500" y="1885950"/>
            <a:ext cx="1524000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20BAE3-40F6-47A2-A9F4-EDD2B867B75B}"/>
              </a:ext>
            </a:extLst>
          </p:cNvPr>
          <p:cNvSpPr>
            <a:spLocks noGrp="1"/>
          </p:cNvSpPr>
          <p:nvPr/>
        </p:nvSpPr>
        <p:spPr>
          <a:xfrm>
            <a:off x="9029700" y="196215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归一化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8293E8-9707-4253-B7D6-1475F890D947}"/>
              </a:ext>
            </a:extLst>
          </p:cNvPr>
          <p:cNvSpPr>
            <a:spLocks noGrp="1"/>
          </p:cNvSpPr>
          <p:nvPr/>
        </p:nvSpPr>
        <p:spPr>
          <a:xfrm>
            <a:off x="10477500" y="1885950"/>
            <a:ext cx="1666875" cy="3238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755537-4E7D-4925-ABE3-A3BB8319C820}"/>
              </a:ext>
            </a:extLst>
          </p:cNvPr>
          <p:cNvSpPr>
            <a:spLocks noGrp="1"/>
          </p:cNvSpPr>
          <p:nvPr/>
        </p:nvSpPr>
        <p:spPr>
          <a:xfrm>
            <a:off x="10553700" y="1962150"/>
            <a:ext cx="15144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权重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CDC860-F1FF-4056-A9FD-A8BD19B12155}"/>
              </a:ext>
            </a:extLst>
          </p:cNvPr>
          <p:cNvSpPr>
            <a:spLocks noGrp="1"/>
          </p:cNvSpPr>
          <p:nvPr/>
        </p:nvSpPr>
        <p:spPr>
          <a:xfrm>
            <a:off x="6191250" y="2209800"/>
            <a:ext cx="1619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4F2635-F1E0-49F1-B920-DF2AF1CDC26A}"/>
              </a:ext>
            </a:extLst>
          </p:cNvPr>
          <p:cNvSpPr>
            <a:spLocks noGrp="1"/>
          </p:cNvSpPr>
          <p:nvPr/>
        </p:nvSpPr>
        <p:spPr>
          <a:xfrm>
            <a:off x="6267450" y="22860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overall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031753-98B2-4716-8284-E5557D763727}"/>
              </a:ext>
            </a:extLst>
          </p:cNvPr>
          <p:cNvSpPr>
            <a:spLocks noGrp="1"/>
          </p:cNvSpPr>
          <p:nvPr/>
        </p:nvSpPr>
        <p:spPr>
          <a:xfrm>
            <a:off x="7810500" y="2209800"/>
            <a:ext cx="1143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6E1F0F-6378-4FE3-9DF5-5A7884B21A1D}"/>
              </a:ext>
            </a:extLst>
          </p:cNvPr>
          <p:cNvSpPr>
            <a:spLocks noGrp="1"/>
          </p:cNvSpPr>
          <p:nvPr/>
        </p:nvSpPr>
        <p:spPr>
          <a:xfrm>
            <a:off x="7886700" y="22860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1-5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69036E-9645-4C51-A091-A4662660A6E0}"/>
              </a:ext>
            </a:extLst>
          </p:cNvPr>
          <p:cNvSpPr>
            <a:spLocks noGrp="1"/>
          </p:cNvSpPr>
          <p:nvPr/>
        </p:nvSpPr>
        <p:spPr>
          <a:xfrm>
            <a:off x="8953500" y="220980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DFDDBE-8651-4A1C-A72B-6A74E5C7FEA6}"/>
              </a:ext>
            </a:extLst>
          </p:cNvPr>
          <p:cNvSpPr>
            <a:spLocks noGrp="1"/>
          </p:cNvSpPr>
          <p:nvPr/>
        </p:nvSpPr>
        <p:spPr>
          <a:xfrm>
            <a:off x="9029700" y="2286000"/>
            <a:ext cx="1371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(x-1)/4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5D7DE4-87E7-4FD8-9747-D14A885D2A5F}"/>
              </a:ext>
            </a:extLst>
          </p:cNvPr>
          <p:cNvSpPr>
            <a:spLocks noGrp="1"/>
          </p:cNvSpPr>
          <p:nvPr/>
        </p:nvSpPr>
        <p:spPr>
          <a:xfrm>
            <a:off x="10477500" y="2209800"/>
            <a:ext cx="1666875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6E4CA0-64AC-4305-A208-1F7493B8F97F}"/>
              </a:ext>
            </a:extLst>
          </p:cNvPr>
          <p:cNvSpPr>
            <a:spLocks noGrp="1"/>
          </p:cNvSpPr>
          <p:nvPr/>
        </p:nvSpPr>
        <p:spPr>
          <a:xfrm>
            <a:off x="10553700" y="2286000"/>
            <a:ext cx="15144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0.30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BFED13-CC70-4713-A368-18369D0D7C8E}"/>
              </a:ext>
            </a:extLst>
          </p:cNvPr>
          <p:cNvSpPr>
            <a:spLocks noGrp="1"/>
          </p:cNvSpPr>
          <p:nvPr/>
        </p:nvSpPr>
        <p:spPr>
          <a:xfrm>
            <a:off x="6191250" y="2552700"/>
            <a:ext cx="1619250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8924FE-3D55-42F7-8FB5-8EFDBDBA4157}"/>
              </a:ext>
            </a:extLst>
          </p:cNvPr>
          <p:cNvSpPr>
            <a:spLocks noGrp="1"/>
          </p:cNvSpPr>
          <p:nvPr/>
        </p:nvSpPr>
        <p:spPr>
          <a:xfrm>
            <a:off x="6267450" y="26289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empathy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50BFEB-29CE-42D7-87D0-4DBF32DD97E1}"/>
              </a:ext>
            </a:extLst>
          </p:cNvPr>
          <p:cNvSpPr>
            <a:spLocks noGrp="1"/>
          </p:cNvSpPr>
          <p:nvPr/>
        </p:nvSpPr>
        <p:spPr>
          <a:xfrm>
            <a:off x="7810500" y="2552700"/>
            <a:ext cx="1143000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D199BF-7D76-4889-B6B9-8F15AE4A21D4}"/>
              </a:ext>
            </a:extLst>
          </p:cNvPr>
          <p:cNvSpPr>
            <a:spLocks noGrp="1"/>
          </p:cNvSpPr>
          <p:nvPr/>
        </p:nvSpPr>
        <p:spPr>
          <a:xfrm>
            <a:off x="7886700" y="26289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1-5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9F4754-7EE3-41AA-9221-C9008C106A6E}"/>
              </a:ext>
            </a:extLst>
          </p:cNvPr>
          <p:cNvSpPr>
            <a:spLocks noGrp="1"/>
          </p:cNvSpPr>
          <p:nvPr/>
        </p:nvSpPr>
        <p:spPr>
          <a:xfrm>
            <a:off x="8953500" y="2552700"/>
            <a:ext cx="1524000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A190C2-C11B-41C8-90E9-0CA0C7B67196}"/>
              </a:ext>
            </a:extLst>
          </p:cNvPr>
          <p:cNvSpPr>
            <a:spLocks noGrp="1"/>
          </p:cNvSpPr>
          <p:nvPr/>
        </p:nvSpPr>
        <p:spPr>
          <a:xfrm>
            <a:off x="9029700" y="2628900"/>
            <a:ext cx="1371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(x-1)/4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3336D0-D245-4094-BCF9-1184A3B48EBB}"/>
              </a:ext>
            </a:extLst>
          </p:cNvPr>
          <p:cNvSpPr>
            <a:spLocks noGrp="1"/>
          </p:cNvSpPr>
          <p:nvPr/>
        </p:nvSpPr>
        <p:spPr>
          <a:xfrm>
            <a:off x="10477500" y="2552700"/>
            <a:ext cx="1666875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E0972D-2F79-4942-98A1-82F56BEDAE1B}"/>
              </a:ext>
            </a:extLst>
          </p:cNvPr>
          <p:cNvSpPr>
            <a:spLocks noGrp="1"/>
          </p:cNvSpPr>
          <p:nvPr/>
        </p:nvSpPr>
        <p:spPr>
          <a:xfrm>
            <a:off x="10553700" y="2628900"/>
            <a:ext cx="15144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0.20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E2A01B-AE6A-4348-85F4-43FD8F84E08A}"/>
              </a:ext>
            </a:extLst>
          </p:cNvPr>
          <p:cNvSpPr>
            <a:spLocks noGrp="1"/>
          </p:cNvSpPr>
          <p:nvPr/>
        </p:nvSpPr>
        <p:spPr>
          <a:xfrm>
            <a:off x="6191250" y="2895600"/>
            <a:ext cx="1619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28947B-91AF-4F61-8A3E-8E2CE387B565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specificity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AA0186-97C5-48FA-B7A7-FC459D42AEB6}"/>
              </a:ext>
            </a:extLst>
          </p:cNvPr>
          <p:cNvSpPr>
            <a:spLocks noGrp="1"/>
          </p:cNvSpPr>
          <p:nvPr/>
        </p:nvSpPr>
        <p:spPr>
          <a:xfrm>
            <a:off x="7810500" y="2895600"/>
            <a:ext cx="1143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6DFA72-D3D1-4B6E-8ED9-011CD16330C7}"/>
              </a:ext>
            </a:extLst>
          </p:cNvPr>
          <p:cNvSpPr>
            <a:spLocks noGrp="1"/>
          </p:cNvSpPr>
          <p:nvPr/>
        </p:nvSpPr>
        <p:spPr>
          <a:xfrm>
            <a:off x="7886700" y="29718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1-5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0147AF-2015-405B-9CBF-C97596326932}"/>
              </a:ext>
            </a:extLst>
          </p:cNvPr>
          <p:cNvSpPr>
            <a:spLocks noGrp="1"/>
          </p:cNvSpPr>
          <p:nvPr/>
        </p:nvSpPr>
        <p:spPr>
          <a:xfrm>
            <a:off x="8953500" y="289560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BF0DC6-8451-4925-8BF1-5660BD12DF85}"/>
              </a:ext>
            </a:extLst>
          </p:cNvPr>
          <p:cNvSpPr>
            <a:spLocks noGrp="1"/>
          </p:cNvSpPr>
          <p:nvPr/>
        </p:nvSpPr>
        <p:spPr>
          <a:xfrm>
            <a:off x="9029700" y="2971800"/>
            <a:ext cx="1371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(x-1)/4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05F8F0-DFF6-4BFB-893E-B6216966B349}"/>
              </a:ext>
            </a:extLst>
          </p:cNvPr>
          <p:cNvSpPr>
            <a:spLocks noGrp="1"/>
          </p:cNvSpPr>
          <p:nvPr/>
        </p:nvSpPr>
        <p:spPr>
          <a:xfrm>
            <a:off x="10477500" y="2895600"/>
            <a:ext cx="1666875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4991949-3943-4266-BC1A-5506400E7B4F}"/>
              </a:ext>
            </a:extLst>
          </p:cNvPr>
          <p:cNvSpPr>
            <a:spLocks noGrp="1"/>
          </p:cNvSpPr>
          <p:nvPr/>
        </p:nvSpPr>
        <p:spPr>
          <a:xfrm>
            <a:off x="10553700" y="2971800"/>
            <a:ext cx="15144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0.20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3C359A4-BB69-4FF2-A397-22DFF1268EF6}"/>
              </a:ext>
            </a:extLst>
          </p:cNvPr>
          <p:cNvSpPr>
            <a:spLocks noGrp="1"/>
          </p:cNvSpPr>
          <p:nvPr/>
        </p:nvSpPr>
        <p:spPr>
          <a:xfrm>
            <a:off x="6191250" y="3238500"/>
            <a:ext cx="1619250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5CB11F-3057-45E5-A6C9-31A84D1EC896}"/>
              </a:ext>
            </a:extLst>
          </p:cNvPr>
          <p:cNvSpPr>
            <a:spLocks noGrp="1"/>
          </p:cNvSpPr>
          <p:nvPr/>
        </p:nvSpPr>
        <p:spPr>
          <a:xfrm>
            <a:off x="6267450" y="33147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factual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E56626-FA03-47AE-9BFD-627774F17D58}"/>
              </a:ext>
            </a:extLst>
          </p:cNvPr>
          <p:cNvSpPr>
            <a:spLocks noGrp="1"/>
          </p:cNvSpPr>
          <p:nvPr/>
        </p:nvSpPr>
        <p:spPr>
          <a:xfrm>
            <a:off x="7810500" y="3238500"/>
            <a:ext cx="1143000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EFAAFF-9623-4F8A-902F-2EE5C4F7B64F}"/>
              </a:ext>
            </a:extLst>
          </p:cNvPr>
          <p:cNvSpPr>
            <a:spLocks noGrp="1"/>
          </p:cNvSpPr>
          <p:nvPr/>
        </p:nvSpPr>
        <p:spPr>
          <a:xfrm>
            <a:off x="7886700" y="33147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1-4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85AB8A3-7DAA-45E1-8A72-AFA6232B7597}"/>
              </a:ext>
            </a:extLst>
          </p:cNvPr>
          <p:cNvSpPr>
            <a:spLocks noGrp="1"/>
          </p:cNvSpPr>
          <p:nvPr/>
        </p:nvSpPr>
        <p:spPr>
          <a:xfrm>
            <a:off x="8953500" y="3238500"/>
            <a:ext cx="1524000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EE185E8-3D12-4B27-AE8C-C9FA4BCDF442}"/>
              </a:ext>
            </a:extLst>
          </p:cNvPr>
          <p:cNvSpPr>
            <a:spLocks noGrp="1"/>
          </p:cNvSpPr>
          <p:nvPr/>
        </p:nvSpPr>
        <p:spPr>
          <a:xfrm>
            <a:off x="9029700" y="3314700"/>
            <a:ext cx="1371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(x-1)/3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2FFFB13-B019-4451-B070-5AAE1B15EA6B}"/>
              </a:ext>
            </a:extLst>
          </p:cNvPr>
          <p:cNvSpPr>
            <a:spLocks noGrp="1"/>
          </p:cNvSpPr>
          <p:nvPr/>
        </p:nvSpPr>
        <p:spPr>
          <a:xfrm>
            <a:off x="10477500" y="3238500"/>
            <a:ext cx="1666875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3123160-9BD0-4BCB-A11E-45C869380A9D}"/>
              </a:ext>
            </a:extLst>
          </p:cNvPr>
          <p:cNvSpPr>
            <a:spLocks noGrp="1"/>
          </p:cNvSpPr>
          <p:nvPr/>
        </p:nvSpPr>
        <p:spPr>
          <a:xfrm>
            <a:off x="10553700" y="3314700"/>
            <a:ext cx="15144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0.15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3FA9C29-EC5D-4CA8-83B5-243BA1F98947}"/>
              </a:ext>
            </a:extLst>
          </p:cNvPr>
          <p:cNvSpPr>
            <a:spLocks noGrp="1"/>
          </p:cNvSpPr>
          <p:nvPr/>
        </p:nvSpPr>
        <p:spPr>
          <a:xfrm>
            <a:off x="6191250" y="3581400"/>
            <a:ext cx="1619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6EBAB83-C0F4-4FFF-9683-B3609C728A77}"/>
              </a:ext>
            </a:extLst>
          </p:cNvPr>
          <p:cNvSpPr>
            <a:spLocks noGrp="1"/>
          </p:cNvSpPr>
          <p:nvPr/>
        </p:nvSpPr>
        <p:spPr>
          <a:xfrm>
            <a:off x="6267450" y="36576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toxicity safe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2CB65F6-840D-4159-9C2D-25CB6D17449E}"/>
              </a:ext>
            </a:extLst>
          </p:cNvPr>
          <p:cNvSpPr>
            <a:spLocks noGrp="1"/>
          </p:cNvSpPr>
          <p:nvPr/>
        </p:nvSpPr>
        <p:spPr>
          <a:xfrm>
            <a:off x="7810500" y="3581400"/>
            <a:ext cx="1143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A12DF1-350D-49F8-AC20-81C59F802BFC}"/>
              </a:ext>
            </a:extLst>
          </p:cNvPr>
          <p:cNvSpPr>
            <a:spLocks noGrp="1"/>
          </p:cNvSpPr>
          <p:nvPr/>
        </p:nvSpPr>
        <p:spPr>
          <a:xfrm>
            <a:off x="788670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1-5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4D5E8C6-F16D-4A69-9A04-07B6DAE7C3D2}"/>
              </a:ext>
            </a:extLst>
          </p:cNvPr>
          <p:cNvSpPr>
            <a:spLocks noGrp="1"/>
          </p:cNvSpPr>
          <p:nvPr/>
        </p:nvSpPr>
        <p:spPr>
          <a:xfrm>
            <a:off x="8953500" y="358140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E5A1FE-58A0-43CD-B313-8A7A8991BDF2}"/>
              </a:ext>
            </a:extLst>
          </p:cNvPr>
          <p:cNvSpPr>
            <a:spLocks noGrp="1"/>
          </p:cNvSpPr>
          <p:nvPr/>
        </p:nvSpPr>
        <p:spPr>
          <a:xfrm>
            <a:off x="9029700" y="3657600"/>
            <a:ext cx="1371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1 - norm(toxicity)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426336D-4ED6-47F9-95C5-BB7E2CB04757}"/>
              </a:ext>
            </a:extLst>
          </p:cNvPr>
          <p:cNvSpPr>
            <a:spLocks noGrp="1"/>
          </p:cNvSpPr>
          <p:nvPr/>
        </p:nvSpPr>
        <p:spPr>
          <a:xfrm>
            <a:off x="10477500" y="3581400"/>
            <a:ext cx="1666875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B15FFF-DE01-451B-AE6B-E99F9065B206}"/>
              </a:ext>
            </a:extLst>
          </p:cNvPr>
          <p:cNvSpPr>
            <a:spLocks noGrp="1"/>
          </p:cNvSpPr>
          <p:nvPr/>
        </p:nvSpPr>
        <p:spPr>
          <a:xfrm>
            <a:off x="10553700" y="3657600"/>
            <a:ext cx="15144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0.10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B81CEA8-1E15-499E-96D1-963FF24241F4}"/>
              </a:ext>
            </a:extLst>
          </p:cNvPr>
          <p:cNvSpPr>
            <a:spLocks noGrp="1"/>
          </p:cNvSpPr>
          <p:nvPr/>
        </p:nvSpPr>
        <p:spPr>
          <a:xfrm>
            <a:off x="6191250" y="3924300"/>
            <a:ext cx="1619250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FE245A-EC4E-4AD0-8A98-B960D2CC3D37}"/>
              </a:ext>
            </a:extLst>
          </p:cNvPr>
          <p:cNvSpPr>
            <a:spLocks noGrp="1"/>
          </p:cNvSpPr>
          <p:nvPr/>
        </p:nvSpPr>
        <p:spPr>
          <a:xfrm>
            <a:off x="6267450" y="40005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medical safe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00C33FA-CEA8-4C71-ACE8-1F99A0A131E3}"/>
              </a:ext>
            </a:extLst>
          </p:cNvPr>
          <p:cNvSpPr>
            <a:spLocks noGrp="1"/>
          </p:cNvSpPr>
          <p:nvPr/>
        </p:nvSpPr>
        <p:spPr>
          <a:xfrm>
            <a:off x="7810500" y="3924300"/>
            <a:ext cx="1143000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ABA3C20-FDD1-483E-900C-8765036BD30E}"/>
              </a:ext>
            </a:extLst>
          </p:cNvPr>
          <p:cNvSpPr>
            <a:spLocks noGrp="1"/>
          </p:cNvSpPr>
          <p:nvPr/>
        </p:nvSpPr>
        <p:spPr>
          <a:xfrm>
            <a:off x="7886700" y="40005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Yes/No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D8B7FE7-C392-412F-81D5-6636D7F6A66D}"/>
              </a:ext>
            </a:extLst>
          </p:cNvPr>
          <p:cNvSpPr>
            <a:spLocks noGrp="1"/>
          </p:cNvSpPr>
          <p:nvPr/>
        </p:nvSpPr>
        <p:spPr>
          <a:xfrm>
            <a:off x="8953500" y="3924300"/>
            <a:ext cx="1524000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6122212-9EE9-439E-AF36-F3DF6E6EDD19}"/>
              </a:ext>
            </a:extLst>
          </p:cNvPr>
          <p:cNvSpPr>
            <a:spLocks noGrp="1"/>
          </p:cNvSpPr>
          <p:nvPr/>
        </p:nvSpPr>
        <p:spPr>
          <a:xfrm>
            <a:off x="9029700" y="4000500"/>
            <a:ext cx="1371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1 - yes_rate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2440FFE-BE88-4849-BA1E-DB5A708DDB3F}"/>
              </a:ext>
            </a:extLst>
          </p:cNvPr>
          <p:cNvSpPr>
            <a:spLocks noGrp="1"/>
          </p:cNvSpPr>
          <p:nvPr/>
        </p:nvSpPr>
        <p:spPr>
          <a:xfrm>
            <a:off x="10477500" y="3924300"/>
            <a:ext cx="1666875" cy="342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91C15D0-7C42-44E6-972D-5A8824754200}"/>
              </a:ext>
            </a:extLst>
          </p:cNvPr>
          <p:cNvSpPr>
            <a:spLocks noGrp="1"/>
          </p:cNvSpPr>
          <p:nvPr/>
        </p:nvSpPr>
        <p:spPr>
          <a:xfrm>
            <a:off x="10553700" y="4000500"/>
            <a:ext cx="15144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0.05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4CAD222-CE73-407E-8C69-745361233393}"/>
              </a:ext>
            </a:extLst>
          </p:cNvPr>
          <p:cNvSpPr>
            <a:spLocks noGrp="1"/>
          </p:cNvSpPr>
          <p:nvPr/>
        </p:nvSpPr>
        <p:spPr>
          <a:xfrm>
            <a:off x="904875" y="4810125"/>
            <a:ext cx="1428750" cy="2857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84E4AD1-2FC5-4A06-8718-5EF2DF6200D6}"/>
              </a:ext>
            </a:extLst>
          </p:cNvPr>
          <p:cNvSpPr>
            <a:spLocks noGrp="1"/>
          </p:cNvSpPr>
          <p:nvPr/>
        </p:nvSpPr>
        <p:spPr>
          <a:xfrm>
            <a:off x="981075" y="4886325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Target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7CBA6B0-C729-4424-81BD-3B88260C93E4}"/>
              </a:ext>
            </a:extLst>
          </p:cNvPr>
          <p:cNvSpPr>
            <a:spLocks noGrp="1"/>
          </p:cNvSpPr>
          <p:nvPr/>
        </p:nvSpPr>
        <p:spPr>
          <a:xfrm>
            <a:off x="2333625" y="4810125"/>
            <a:ext cx="1285875" cy="2857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2968CAB-5AB8-4410-B36F-C6BDAEC604B5}"/>
              </a:ext>
            </a:extLst>
          </p:cNvPr>
          <p:cNvSpPr>
            <a:spLocks noGrp="1"/>
          </p:cNvSpPr>
          <p:nvPr/>
        </p:nvSpPr>
        <p:spPr>
          <a:xfrm>
            <a:off x="2409825" y="4886325"/>
            <a:ext cx="11334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V_b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5E55275-A74D-42AA-9F45-C3FD5C7060E5}"/>
              </a:ext>
            </a:extLst>
          </p:cNvPr>
          <p:cNvSpPr>
            <a:spLocks noGrp="1"/>
          </p:cNvSpPr>
          <p:nvPr/>
        </p:nvSpPr>
        <p:spPr>
          <a:xfrm>
            <a:off x="3619500" y="4810125"/>
            <a:ext cx="1285875" cy="2857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4CC474E-626C-48A9-AF4B-2BA9285C52EF}"/>
              </a:ext>
            </a:extLst>
          </p:cNvPr>
          <p:cNvSpPr>
            <a:spLocks noGrp="1"/>
          </p:cNvSpPr>
          <p:nvPr/>
        </p:nvSpPr>
        <p:spPr>
          <a:xfrm>
            <a:off x="3695700" y="4886325"/>
            <a:ext cx="11334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V_agent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2B6C637-1898-4786-8ADB-019F504AF253}"/>
              </a:ext>
            </a:extLst>
          </p:cNvPr>
          <p:cNvSpPr>
            <a:spLocks noGrp="1"/>
          </p:cNvSpPr>
          <p:nvPr/>
        </p:nvSpPr>
        <p:spPr>
          <a:xfrm>
            <a:off x="4905375" y="4810125"/>
            <a:ext cx="1381125" cy="2857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F43CF6C-6E84-4C5B-8C15-B677087663F0}"/>
              </a:ext>
            </a:extLst>
          </p:cNvPr>
          <p:cNvSpPr>
            <a:spLocks noGrp="1"/>
          </p:cNvSpPr>
          <p:nvPr/>
        </p:nvSpPr>
        <p:spPr>
          <a:xfrm>
            <a:off x="4981575" y="4886325"/>
            <a:ext cx="12287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Effect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9BFC67B-7357-4E58-B381-0BAAA84EC0CE}"/>
              </a:ext>
            </a:extLst>
          </p:cNvPr>
          <p:cNvSpPr>
            <a:spLocks noGrp="1"/>
          </p:cNvSpPr>
          <p:nvPr/>
        </p:nvSpPr>
        <p:spPr>
          <a:xfrm>
            <a:off x="6286500" y="4810125"/>
            <a:ext cx="1714500" cy="2857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A800013-38E2-456B-86FC-B7B294411681}"/>
              </a:ext>
            </a:extLst>
          </p:cNvPr>
          <p:cNvSpPr>
            <a:spLocks noGrp="1"/>
          </p:cNvSpPr>
          <p:nvPr/>
        </p:nvSpPr>
        <p:spPr>
          <a:xfrm>
            <a:off x="6362700" y="4886325"/>
            <a:ext cx="1562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9A596B1-E798-4F2C-99D3-90DE565C0F87}"/>
              </a:ext>
            </a:extLst>
          </p:cNvPr>
          <p:cNvSpPr>
            <a:spLocks noGrp="1"/>
          </p:cNvSpPr>
          <p:nvPr/>
        </p:nvSpPr>
        <p:spPr>
          <a:xfrm>
            <a:off x="8001000" y="4810125"/>
            <a:ext cx="1381125" cy="2857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87060C5-EA9B-45E7-8250-3E69D0B67B92}"/>
              </a:ext>
            </a:extLst>
          </p:cNvPr>
          <p:cNvSpPr>
            <a:spLocks noGrp="1"/>
          </p:cNvSpPr>
          <p:nvPr/>
        </p:nvSpPr>
        <p:spPr>
          <a:xfrm>
            <a:off x="8077200" y="4886325"/>
            <a:ext cx="12287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Dir rate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CA61D0E-CC85-4689-B2BC-DAF59AAB2EFA}"/>
              </a:ext>
            </a:extLst>
          </p:cNvPr>
          <p:cNvSpPr>
            <a:spLocks noGrp="1"/>
          </p:cNvSpPr>
          <p:nvPr/>
        </p:nvSpPr>
        <p:spPr>
          <a:xfrm>
            <a:off x="904875" y="5095875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96D30E2-5783-4868-9D9D-C64D40A7BBD4}"/>
              </a:ext>
            </a:extLst>
          </p:cNvPr>
          <p:cNvSpPr>
            <a:spLocks noGrp="1"/>
          </p:cNvSpPr>
          <p:nvPr/>
        </p:nvSpPr>
        <p:spPr>
          <a:xfrm>
            <a:off x="981075" y="517207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gpt4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9610986-150A-4FC2-8809-A0DB4C3783AB}"/>
              </a:ext>
            </a:extLst>
          </p:cNvPr>
          <p:cNvSpPr>
            <a:spLocks noGrp="1"/>
          </p:cNvSpPr>
          <p:nvPr/>
        </p:nvSpPr>
        <p:spPr>
          <a:xfrm>
            <a:off x="2333625" y="5095875"/>
            <a:ext cx="128587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A11E89-976F-47B0-88F6-7F19CF6CFA26}"/>
              </a:ext>
            </a:extLst>
          </p:cNvPr>
          <p:cNvSpPr>
            <a:spLocks noGrp="1"/>
          </p:cNvSpPr>
          <p:nvPr/>
        </p:nvSpPr>
        <p:spPr>
          <a:xfrm>
            <a:off x="2409825" y="5172075"/>
            <a:ext cx="11334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0.5191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722986-1334-43DB-9F74-1B674ACA4AB4}"/>
              </a:ext>
            </a:extLst>
          </p:cNvPr>
          <p:cNvSpPr>
            <a:spLocks noGrp="1"/>
          </p:cNvSpPr>
          <p:nvPr/>
        </p:nvSpPr>
        <p:spPr>
          <a:xfrm>
            <a:off x="3619500" y="5095875"/>
            <a:ext cx="128587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39D31C7-9DC5-41F8-972F-759228B63F69}"/>
              </a:ext>
            </a:extLst>
          </p:cNvPr>
          <p:cNvSpPr>
            <a:spLocks noGrp="1"/>
          </p:cNvSpPr>
          <p:nvPr/>
        </p:nvSpPr>
        <p:spPr>
          <a:xfrm>
            <a:off x="3695700" y="5172075"/>
            <a:ext cx="11334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0.6664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223B877-C07F-4861-B9B1-4C07EB1B7026}"/>
              </a:ext>
            </a:extLst>
          </p:cNvPr>
          <p:cNvSpPr>
            <a:spLocks noGrp="1"/>
          </p:cNvSpPr>
          <p:nvPr/>
        </p:nvSpPr>
        <p:spPr>
          <a:xfrm>
            <a:off x="4905375" y="5095875"/>
            <a:ext cx="13811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45D1AA8-1F8A-4C6D-9126-13CD6B4917B5}"/>
              </a:ext>
            </a:extLst>
          </p:cNvPr>
          <p:cNvSpPr>
            <a:spLocks noGrp="1"/>
          </p:cNvSpPr>
          <p:nvPr/>
        </p:nvSpPr>
        <p:spPr>
          <a:xfrm>
            <a:off x="4981575" y="5172075"/>
            <a:ext cx="1228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+0.1473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DCA9EA3-DA4F-4276-90C6-B31FA5FC907A}"/>
              </a:ext>
            </a:extLst>
          </p:cNvPr>
          <p:cNvSpPr>
            <a:spLocks noGrp="1"/>
          </p:cNvSpPr>
          <p:nvPr/>
        </p:nvSpPr>
        <p:spPr>
          <a:xfrm>
            <a:off x="6286500" y="5095875"/>
            <a:ext cx="1714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FE11C65-305E-4284-A3D0-40A0CBA5B8DC}"/>
              </a:ext>
            </a:extLst>
          </p:cNvPr>
          <p:cNvSpPr>
            <a:spLocks noGrp="1"/>
          </p:cNvSpPr>
          <p:nvPr/>
        </p:nvSpPr>
        <p:spPr>
          <a:xfrm>
            <a:off x="6362700" y="517207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[0.107, 0.202]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E60AE41-1BEF-476A-B504-5A47450DE6A7}"/>
              </a:ext>
            </a:extLst>
          </p:cNvPr>
          <p:cNvSpPr>
            <a:spLocks noGrp="1"/>
          </p:cNvSpPr>
          <p:nvPr/>
        </p:nvSpPr>
        <p:spPr>
          <a:xfrm>
            <a:off x="8001000" y="5095875"/>
            <a:ext cx="13811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3074AD0-7D53-4FB4-B979-FE896CD1CC64}"/>
              </a:ext>
            </a:extLst>
          </p:cNvPr>
          <p:cNvSpPr>
            <a:spLocks noGrp="1"/>
          </p:cNvSpPr>
          <p:nvPr/>
        </p:nvSpPr>
        <p:spPr>
          <a:xfrm>
            <a:off x="8077200" y="5172075"/>
            <a:ext cx="1228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72%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26A74D8-3D39-42BF-A771-E90E35EF8BC0}"/>
              </a:ext>
            </a:extLst>
          </p:cNvPr>
          <p:cNvSpPr>
            <a:spLocks noGrp="1"/>
          </p:cNvSpPr>
          <p:nvPr/>
        </p:nvSpPr>
        <p:spPr>
          <a:xfrm>
            <a:off x="904875" y="5457825"/>
            <a:ext cx="1428750" cy="3619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780581C-6E5D-4AFB-AFFD-1AB7E643CF08}"/>
              </a:ext>
            </a:extLst>
          </p:cNvPr>
          <p:cNvSpPr>
            <a:spLocks noGrp="1"/>
          </p:cNvSpPr>
          <p:nvPr/>
        </p:nvSpPr>
        <p:spPr>
          <a:xfrm>
            <a:off x="981075" y="553402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llama3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3D89436-2064-4A61-BEA3-CB15BFFDD994}"/>
              </a:ext>
            </a:extLst>
          </p:cNvPr>
          <p:cNvSpPr>
            <a:spLocks noGrp="1"/>
          </p:cNvSpPr>
          <p:nvPr/>
        </p:nvSpPr>
        <p:spPr>
          <a:xfrm>
            <a:off x="2333625" y="5457825"/>
            <a:ext cx="1285875" cy="3619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AF4513E-6CC6-41AE-A061-842B825CC032}"/>
              </a:ext>
            </a:extLst>
          </p:cNvPr>
          <p:cNvSpPr>
            <a:spLocks noGrp="1"/>
          </p:cNvSpPr>
          <p:nvPr/>
        </p:nvSpPr>
        <p:spPr>
          <a:xfrm>
            <a:off x="2409825" y="5534025"/>
            <a:ext cx="11334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0.5191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AF1665D-34A3-4027-9E38-EEECD372652B}"/>
              </a:ext>
            </a:extLst>
          </p:cNvPr>
          <p:cNvSpPr>
            <a:spLocks noGrp="1"/>
          </p:cNvSpPr>
          <p:nvPr/>
        </p:nvSpPr>
        <p:spPr>
          <a:xfrm>
            <a:off x="3619500" y="5457825"/>
            <a:ext cx="1285875" cy="3619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2987DB9-DF06-47E7-B9BE-A8EF73367502}"/>
              </a:ext>
            </a:extLst>
          </p:cNvPr>
          <p:cNvSpPr>
            <a:spLocks noGrp="1"/>
          </p:cNvSpPr>
          <p:nvPr/>
        </p:nvSpPr>
        <p:spPr>
          <a:xfrm>
            <a:off x="3695700" y="5534025"/>
            <a:ext cx="11334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0.8580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DE0E888-B4BF-46B8-BBE8-1E225347E4F3}"/>
              </a:ext>
            </a:extLst>
          </p:cNvPr>
          <p:cNvSpPr>
            <a:spLocks noGrp="1"/>
          </p:cNvSpPr>
          <p:nvPr/>
        </p:nvSpPr>
        <p:spPr>
          <a:xfrm>
            <a:off x="4905375" y="5457825"/>
            <a:ext cx="1381125" cy="3619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19ACAE-25CA-482A-8A0F-6BDFA95EAF2E}"/>
              </a:ext>
            </a:extLst>
          </p:cNvPr>
          <p:cNvSpPr>
            <a:spLocks noGrp="1"/>
          </p:cNvSpPr>
          <p:nvPr/>
        </p:nvSpPr>
        <p:spPr>
          <a:xfrm>
            <a:off x="4981575" y="5534025"/>
            <a:ext cx="1228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+0.3389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13AC815-5F3E-4A07-8911-827EDCE36D38}"/>
              </a:ext>
            </a:extLst>
          </p:cNvPr>
          <p:cNvSpPr>
            <a:spLocks noGrp="1"/>
          </p:cNvSpPr>
          <p:nvPr/>
        </p:nvSpPr>
        <p:spPr>
          <a:xfrm>
            <a:off x="6286500" y="5457825"/>
            <a:ext cx="1714500" cy="3619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36EA05E-6085-48DE-8AE3-B5C795B81E21}"/>
              </a:ext>
            </a:extLst>
          </p:cNvPr>
          <p:cNvSpPr>
            <a:spLocks noGrp="1"/>
          </p:cNvSpPr>
          <p:nvPr/>
        </p:nvSpPr>
        <p:spPr>
          <a:xfrm>
            <a:off x="6362700" y="553402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[0.309, 0.368]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7137E0A-8D52-4778-8789-F667A0D1C601}"/>
              </a:ext>
            </a:extLst>
          </p:cNvPr>
          <p:cNvSpPr>
            <a:spLocks noGrp="1"/>
          </p:cNvSpPr>
          <p:nvPr/>
        </p:nvSpPr>
        <p:spPr>
          <a:xfrm>
            <a:off x="8001000" y="5457825"/>
            <a:ext cx="1381125" cy="3619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C4EFA2E-0E71-47B7-BF03-56167BEFDA36}"/>
              </a:ext>
            </a:extLst>
          </p:cNvPr>
          <p:cNvSpPr>
            <a:spLocks noGrp="1"/>
          </p:cNvSpPr>
          <p:nvPr/>
        </p:nvSpPr>
        <p:spPr>
          <a:xfrm>
            <a:off x="8077200" y="5534025"/>
            <a:ext cx="1228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98%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6B050C1-8787-4612-A4D8-AE80564004E5}"/>
              </a:ext>
            </a:extLst>
          </p:cNvPr>
          <p:cNvSpPr>
            <a:spLocks noGrp="1"/>
          </p:cNvSpPr>
          <p:nvPr/>
        </p:nvSpPr>
        <p:spPr>
          <a:xfrm>
            <a:off x="904875" y="5819775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1466E84-472D-4267-9BA1-C7A78D7E0AEB}"/>
              </a:ext>
            </a:extLst>
          </p:cNvPr>
          <p:cNvSpPr>
            <a:spLocks noGrp="1"/>
          </p:cNvSpPr>
          <p:nvPr/>
        </p:nvSpPr>
        <p:spPr>
          <a:xfrm>
            <a:off x="981075" y="589597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gemini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069B9A8-9EE0-4E38-AD6A-CC90EAB031F0}"/>
              </a:ext>
            </a:extLst>
          </p:cNvPr>
          <p:cNvSpPr>
            <a:spLocks noGrp="1"/>
          </p:cNvSpPr>
          <p:nvPr/>
        </p:nvSpPr>
        <p:spPr>
          <a:xfrm>
            <a:off x="2333625" y="5819775"/>
            <a:ext cx="128587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BCC80E7-DE54-451D-80C5-A50AF8AF9EB9}"/>
              </a:ext>
            </a:extLst>
          </p:cNvPr>
          <p:cNvSpPr>
            <a:spLocks noGrp="1"/>
          </p:cNvSpPr>
          <p:nvPr/>
        </p:nvSpPr>
        <p:spPr>
          <a:xfrm>
            <a:off x="2409825" y="5895975"/>
            <a:ext cx="11334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0.5191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606433-0E6B-4F02-9C04-7E10194717DB}"/>
              </a:ext>
            </a:extLst>
          </p:cNvPr>
          <p:cNvSpPr>
            <a:spLocks noGrp="1"/>
          </p:cNvSpPr>
          <p:nvPr/>
        </p:nvSpPr>
        <p:spPr>
          <a:xfrm>
            <a:off x="3619500" y="5819775"/>
            <a:ext cx="128587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628EA89-0D9E-48CE-86BA-BC75E684216D}"/>
              </a:ext>
            </a:extLst>
          </p:cNvPr>
          <p:cNvSpPr>
            <a:spLocks noGrp="1"/>
          </p:cNvSpPr>
          <p:nvPr/>
        </p:nvSpPr>
        <p:spPr>
          <a:xfrm>
            <a:off x="3695700" y="5895975"/>
            <a:ext cx="11334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0.6382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D397F0E-13D5-4403-BC63-2B1A82141033}"/>
              </a:ext>
            </a:extLst>
          </p:cNvPr>
          <p:cNvSpPr>
            <a:spLocks noGrp="1"/>
          </p:cNvSpPr>
          <p:nvPr/>
        </p:nvSpPr>
        <p:spPr>
          <a:xfrm>
            <a:off x="4905375" y="5819775"/>
            <a:ext cx="13811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71708F1-A3D5-4275-919D-FE394CEF25F9}"/>
              </a:ext>
            </a:extLst>
          </p:cNvPr>
          <p:cNvSpPr>
            <a:spLocks noGrp="1"/>
          </p:cNvSpPr>
          <p:nvPr/>
        </p:nvSpPr>
        <p:spPr>
          <a:xfrm>
            <a:off x="4981575" y="5895975"/>
            <a:ext cx="1228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+0.1191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99DB2EB-9491-490E-A8D4-3AA8569D8C66}"/>
              </a:ext>
            </a:extLst>
          </p:cNvPr>
          <p:cNvSpPr>
            <a:spLocks noGrp="1"/>
          </p:cNvSpPr>
          <p:nvPr/>
        </p:nvSpPr>
        <p:spPr>
          <a:xfrm>
            <a:off x="6286500" y="5819775"/>
            <a:ext cx="1714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8AFE367-55C0-40FD-9A45-8178E630007C}"/>
              </a:ext>
            </a:extLst>
          </p:cNvPr>
          <p:cNvSpPr>
            <a:spLocks noGrp="1"/>
          </p:cNvSpPr>
          <p:nvPr/>
        </p:nvSpPr>
        <p:spPr>
          <a:xfrm>
            <a:off x="6362700" y="589597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[0.081, 0.155]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9A191CB-ADE3-4909-BE87-5ECD83E7591C}"/>
              </a:ext>
            </a:extLst>
          </p:cNvPr>
          <p:cNvSpPr>
            <a:spLocks noGrp="1"/>
          </p:cNvSpPr>
          <p:nvPr/>
        </p:nvSpPr>
        <p:spPr>
          <a:xfrm>
            <a:off x="8001000" y="5819775"/>
            <a:ext cx="13811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679FCC3-A6BC-4ADE-9C56-09283D808367}"/>
              </a:ext>
            </a:extLst>
          </p:cNvPr>
          <p:cNvSpPr>
            <a:spLocks noGrp="1"/>
          </p:cNvSpPr>
          <p:nvPr/>
        </p:nvSpPr>
        <p:spPr>
          <a:xfrm>
            <a:off x="8077200" y="5895975"/>
            <a:ext cx="1228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69%</a:t>
            </a:r>
          </a:p>
        </p:txBody>
      </p:sp>
    </p:spTree>
    <p:extLst>
      <p:ext uri="{BB962C8B-B14F-4D97-AF65-F5344CB8AC3E}">
        <p14:creationId xmlns:p14="http://schemas.microsoft.com/office/powerpoint/2010/main" val="1240029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0EC5136F-3EDE-4678-8190-30C1822786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3ED26B3-A7D3-465D-B0A1-CCD7BFAF9688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FABADB9-89ED-44B2-A6E7-DD5DD47D079C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CONSTRUCTION DIFFERENCES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77FC45-9F88-4179-AD93-F2C5C9F4726D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与之前四类 source 的差异主要在 action 对象和 reward 来源。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6510A-E680-472B-A41F-8C4DC4C20BBD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这里把 MedDialog 作为 Phase 2 review 中的 auxiliary candidate 放入对照；它没有进入 397-row main freeze。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2CB88F-804D-4DAD-8A6D-2A87AB6F78F8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10B2F-FE6D-44A2-8793-582DA24EB880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docs/phase2_data_construction_review.md; src/cce_data/counselbench.py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BCD5A4-2A03-4D13-9CE1-C57DD0E7395B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28E492-4FB8-4E14-B83A-361DF7D09F64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118110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8ACAF-8E19-4568-86FC-365658B12DE4}"/>
              </a:ext>
            </a:extLst>
          </p:cNvPr>
          <p:cNvSpPr>
            <a:spLocks noGrp="1"/>
          </p:cNvSpPr>
          <p:nvPr/>
        </p:nvSpPr>
        <p:spPr>
          <a:xfrm>
            <a:off x="495300" y="2028825"/>
            <a:ext cx="1028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Source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0FE9B8-387B-4CD1-B555-9E95C5BC9EA5}"/>
              </a:ext>
            </a:extLst>
          </p:cNvPr>
          <p:cNvSpPr>
            <a:spLocks noGrp="1"/>
          </p:cNvSpPr>
          <p:nvPr/>
        </p:nvSpPr>
        <p:spPr>
          <a:xfrm>
            <a:off x="1600200" y="1952625"/>
            <a:ext cx="1762125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4059A2-48DD-43B0-ADFA-EE290E809FA8}"/>
              </a:ext>
            </a:extLst>
          </p:cNvPr>
          <p:cNvSpPr>
            <a:spLocks noGrp="1"/>
          </p:cNvSpPr>
          <p:nvPr/>
        </p:nvSpPr>
        <p:spPr>
          <a:xfrm>
            <a:off x="1676400" y="2028825"/>
            <a:ext cx="1609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Raw object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63180-09F4-4932-99A1-329CBC96B844}"/>
              </a:ext>
            </a:extLst>
          </p:cNvPr>
          <p:cNvSpPr>
            <a:spLocks noGrp="1"/>
          </p:cNvSpPr>
          <p:nvPr/>
        </p:nvSpPr>
        <p:spPr>
          <a:xfrm>
            <a:off x="3362325" y="1952625"/>
            <a:ext cx="2333625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86553-E4C7-44FE-83AB-95EFBB516C85}"/>
              </a:ext>
            </a:extLst>
          </p:cNvPr>
          <p:cNvSpPr>
            <a:spLocks noGrp="1"/>
          </p:cNvSpPr>
          <p:nvPr/>
        </p:nvSpPr>
        <p:spPr>
          <a:xfrm>
            <a:off x="3438525" y="2028825"/>
            <a:ext cx="21812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301317-84E2-4D4D-8B22-EE60F840EDED}"/>
              </a:ext>
            </a:extLst>
          </p:cNvPr>
          <p:cNvSpPr>
            <a:spLocks noGrp="1"/>
          </p:cNvSpPr>
          <p:nvPr/>
        </p:nvSpPr>
        <p:spPr>
          <a:xfrm>
            <a:off x="5695950" y="1952625"/>
            <a:ext cx="238125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DFB541-DD26-45F6-849D-63AB9C71007E}"/>
              </a:ext>
            </a:extLst>
          </p:cNvPr>
          <p:cNvSpPr>
            <a:spLocks noGrp="1"/>
          </p:cNvSpPr>
          <p:nvPr/>
        </p:nvSpPr>
        <p:spPr>
          <a:xfrm>
            <a:off x="5772150" y="2028825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 / target action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240F9-5EB5-4053-9C6C-05841A0731A1}"/>
              </a:ext>
            </a:extLst>
          </p:cNvPr>
          <p:cNvSpPr>
            <a:spLocks noGrp="1"/>
          </p:cNvSpPr>
          <p:nvPr/>
        </p:nvSpPr>
        <p:spPr>
          <a:xfrm>
            <a:off x="8077200" y="1952625"/>
            <a:ext cx="180975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3B7C80-F237-48AB-A885-E697638EAEAF}"/>
              </a:ext>
            </a:extLst>
          </p:cNvPr>
          <p:cNvSpPr>
            <a:spLocks noGrp="1"/>
          </p:cNvSpPr>
          <p:nvPr/>
        </p:nvSpPr>
        <p:spPr>
          <a:xfrm>
            <a:off x="8153400" y="202882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Y / reward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BBFEBD-AA4A-4EA1-B9D3-4A961F74267D}"/>
              </a:ext>
            </a:extLst>
          </p:cNvPr>
          <p:cNvSpPr>
            <a:spLocks noGrp="1"/>
          </p:cNvSpPr>
          <p:nvPr/>
        </p:nvSpPr>
        <p:spPr>
          <a:xfrm>
            <a:off x="9886950" y="1952625"/>
            <a:ext cx="1285875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F4E1AD-4335-49D8-A6D7-82B717167DD5}"/>
              </a:ext>
            </a:extLst>
          </p:cNvPr>
          <p:cNvSpPr>
            <a:spLocks noGrp="1"/>
          </p:cNvSpPr>
          <p:nvPr/>
        </p:nvSpPr>
        <p:spPr>
          <a:xfrm>
            <a:off x="9963150" y="2028825"/>
            <a:ext cx="1133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Main status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B34831-6048-4505-BEA0-5ED3E1E45C36}"/>
              </a:ext>
            </a:extLst>
          </p:cNvPr>
          <p:cNvSpPr>
            <a:spLocks noGrp="1"/>
          </p:cNvSpPr>
          <p:nvPr/>
        </p:nvSpPr>
        <p:spPr>
          <a:xfrm>
            <a:off x="419100" y="2314575"/>
            <a:ext cx="11811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EF274E-E7B9-4785-80C0-6F39402E9BB9}"/>
              </a:ext>
            </a:extLst>
          </p:cNvPr>
          <p:cNvSpPr>
            <a:spLocks noGrp="1"/>
          </p:cNvSpPr>
          <p:nvPr/>
        </p:nvSpPr>
        <p:spPr>
          <a:xfrm>
            <a:off x="495300" y="2390775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ACI-Bench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3D6AF4-3DE3-4F0E-9F6B-310BA772001F}"/>
              </a:ext>
            </a:extLst>
          </p:cNvPr>
          <p:cNvSpPr>
            <a:spLocks noGrp="1"/>
          </p:cNvSpPr>
          <p:nvPr/>
        </p:nvSpPr>
        <p:spPr>
          <a:xfrm>
            <a:off x="1600200" y="2314575"/>
            <a:ext cx="1762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613ABB-4D79-4585-B45C-C93B35CCB63D}"/>
              </a:ext>
            </a:extLst>
          </p:cNvPr>
          <p:cNvSpPr>
            <a:spLocks noGrp="1"/>
          </p:cNvSpPr>
          <p:nvPr/>
        </p:nvSpPr>
        <p:spPr>
          <a:xfrm>
            <a:off x="1676400" y="2390775"/>
            <a:ext cx="16097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conversation + clinical note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B9D9D1-9EEF-4862-9FA9-C54A30103B4A}"/>
              </a:ext>
            </a:extLst>
          </p:cNvPr>
          <p:cNvSpPr>
            <a:spLocks noGrp="1"/>
          </p:cNvSpPr>
          <p:nvPr/>
        </p:nvSpPr>
        <p:spPr>
          <a:xfrm>
            <a:off x="3362325" y="2314575"/>
            <a:ext cx="23336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80D22D-92EC-4AF5-81AF-462B4FB287C5}"/>
              </a:ext>
            </a:extLst>
          </p:cNvPr>
          <p:cNvSpPr>
            <a:spLocks noGrp="1"/>
          </p:cNvSpPr>
          <p:nvPr/>
        </p:nvSpPr>
        <p:spPr>
          <a:xfrm>
            <a:off x="3438525" y="2390775"/>
            <a:ext cx="21812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full visit dialogue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56FAEC-748A-4036-B1D1-513AB3AF429D}"/>
              </a:ext>
            </a:extLst>
          </p:cNvPr>
          <p:cNvSpPr>
            <a:spLocks noGrp="1"/>
          </p:cNvSpPr>
          <p:nvPr/>
        </p:nvSpPr>
        <p:spPr>
          <a:xfrm>
            <a:off x="5695950" y="2314575"/>
            <a:ext cx="2381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3B55B8-BA96-45CA-920E-95575CF77E47}"/>
              </a:ext>
            </a:extLst>
          </p:cNvPr>
          <p:cNvSpPr>
            <a:spLocks noGrp="1"/>
          </p:cNvSpPr>
          <p:nvPr/>
        </p:nvSpPr>
        <p:spPr>
          <a:xfrm>
            <a:off x="5772150" y="2390775"/>
            <a:ext cx="2228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assessment/impression/diagnosis/plan sections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406DC5-F918-4E3E-B9ED-49555FC0319C}"/>
              </a:ext>
            </a:extLst>
          </p:cNvPr>
          <p:cNvSpPr>
            <a:spLocks noGrp="1"/>
          </p:cNvSpPr>
          <p:nvPr/>
        </p:nvSpPr>
        <p:spPr>
          <a:xfrm>
            <a:off x="8077200" y="231457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45B2D5-7D9B-48E9-BF1F-4371F9B64780}"/>
              </a:ext>
            </a:extLst>
          </p:cNvPr>
          <p:cNvSpPr>
            <a:spLocks noGrp="1"/>
          </p:cNvSpPr>
          <p:nvPr/>
        </p:nvSpPr>
        <p:spPr>
          <a:xfrm>
            <a:off x="8153400" y="239077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 judge or RM score after scoring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7A6626-78FB-40AB-8B35-2853A35039D6}"/>
              </a:ext>
            </a:extLst>
          </p:cNvPr>
          <p:cNvSpPr>
            <a:spLocks noGrp="1"/>
          </p:cNvSpPr>
          <p:nvPr/>
        </p:nvSpPr>
        <p:spPr>
          <a:xfrm>
            <a:off x="9886950" y="2314575"/>
            <a:ext cx="12858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65C715-28BB-475F-A44F-57159B42AA8C}"/>
              </a:ext>
            </a:extLst>
          </p:cNvPr>
          <p:cNvSpPr>
            <a:spLocks noGrp="1"/>
          </p:cNvSpPr>
          <p:nvPr/>
        </p:nvSpPr>
        <p:spPr>
          <a:xfrm>
            <a:off x="9963150" y="2390775"/>
            <a:ext cx="11334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included</a:t>
            </a:r>
          </a:p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207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9860901-416D-449C-AAE5-7360D2D04E6F}"/>
              </a:ext>
            </a:extLst>
          </p:cNvPr>
          <p:cNvSpPr>
            <a:spLocks noGrp="1"/>
          </p:cNvSpPr>
          <p:nvPr/>
        </p:nvSpPr>
        <p:spPr>
          <a:xfrm>
            <a:off x="419100" y="2905125"/>
            <a:ext cx="118110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815F0A-58A4-4897-B235-1A3C8BCD9815}"/>
              </a:ext>
            </a:extLst>
          </p:cNvPr>
          <p:cNvSpPr>
            <a:spLocks noGrp="1"/>
          </p:cNvSpPr>
          <p:nvPr/>
        </p:nvSpPr>
        <p:spPr>
          <a:xfrm>
            <a:off x="495300" y="2981325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MTS-Dialog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53E7C5-8DAB-4677-AB00-2110EF89A06D}"/>
              </a:ext>
            </a:extLst>
          </p:cNvPr>
          <p:cNvSpPr>
            <a:spLocks noGrp="1"/>
          </p:cNvSpPr>
          <p:nvPr/>
        </p:nvSpPr>
        <p:spPr>
          <a:xfrm>
            <a:off x="1600200" y="2905125"/>
            <a:ext cx="1762125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1594BE-31C1-44E7-B9A0-7383C15BF44F}"/>
              </a:ext>
            </a:extLst>
          </p:cNvPr>
          <p:cNvSpPr>
            <a:spLocks noGrp="1"/>
          </p:cNvSpPr>
          <p:nvPr/>
        </p:nvSpPr>
        <p:spPr>
          <a:xfrm>
            <a:off x="1676400" y="2981325"/>
            <a:ext cx="16097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dialogue + section header + summary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AAC2DE-D14E-4F29-980F-952CEE188CEF}"/>
              </a:ext>
            </a:extLst>
          </p:cNvPr>
          <p:cNvSpPr>
            <a:spLocks noGrp="1"/>
          </p:cNvSpPr>
          <p:nvPr/>
        </p:nvSpPr>
        <p:spPr>
          <a:xfrm>
            <a:off x="3362325" y="2905125"/>
            <a:ext cx="2333625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2FDBE4-7D61-4A65-B2C9-2995788A8D73}"/>
              </a:ext>
            </a:extLst>
          </p:cNvPr>
          <p:cNvSpPr>
            <a:spLocks noGrp="1"/>
          </p:cNvSpPr>
          <p:nvPr/>
        </p:nvSpPr>
        <p:spPr>
          <a:xfrm>
            <a:off x="3438525" y="2981325"/>
            <a:ext cx="21812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short dialogue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D0D9E2-CFA2-4A45-84D4-6EB2EB339AC9}"/>
              </a:ext>
            </a:extLst>
          </p:cNvPr>
          <p:cNvSpPr>
            <a:spLocks noGrp="1"/>
          </p:cNvSpPr>
          <p:nvPr/>
        </p:nvSpPr>
        <p:spPr>
          <a:xfrm>
            <a:off x="5695950" y="2905125"/>
            <a:ext cx="23812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6A9BC4-AD06-48EF-9B48-B1ECA8C33D71}"/>
              </a:ext>
            </a:extLst>
          </p:cNvPr>
          <p:cNvSpPr>
            <a:spLocks noGrp="1"/>
          </p:cNvSpPr>
          <p:nvPr/>
        </p:nvSpPr>
        <p:spPr>
          <a:xfrm>
            <a:off x="5772150" y="2981325"/>
            <a:ext cx="2228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only action-like headers: assessment, diagnosis, plan, disposition, edcourse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B5E133-05F9-4B7B-BAA3-C4B72865D27F}"/>
              </a:ext>
            </a:extLst>
          </p:cNvPr>
          <p:cNvSpPr>
            <a:spLocks noGrp="1"/>
          </p:cNvSpPr>
          <p:nvPr/>
        </p:nvSpPr>
        <p:spPr>
          <a:xfrm>
            <a:off x="8077200" y="2905125"/>
            <a:ext cx="1809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0AAF5D1-FBA0-4A6B-A304-FDB3D565DA7A}"/>
              </a:ext>
            </a:extLst>
          </p:cNvPr>
          <p:cNvSpPr>
            <a:spLocks noGrp="1"/>
          </p:cNvSpPr>
          <p:nvPr/>
        </p:nvSpPr>
        <p:spPr>
          <a:xfrm>
            <a:off x="8153400" y="298132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 judge or RM score after scoring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60B6F3-9B64-4B07-8292-F98198B357A5}"/>
              </a:ext>
            </a:extLst>
          </p:cNvPr>
          <p:cNvSpPr>
            <a:spLocks noGrp="1"/>
          </p:cNvSpPr>
          <p:nvPr/>
        </p:nvSpPr>
        <p:spPr>
          <a:xfrm>
            <a:off x="9886950" y="2905125"/>
            <a:ext cx="1285875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069CDE-4A99-4B65-9E0F-008C9666497C}"/>
              </a:ext>
            </a:extLst>
          </p:cNvPr>
          <p:cNvSpPr>
            <a:spLocks noGrp="1"/>
          </p:cNvSpPr>
          <p:nvPr/>
        </p:nvSpPr>
        <p:spPr>
          <a:xfrm>
            <a:off x="9963150" y="2981325"/>
            <a:ext cx="11334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included</a:t>
            </a:r>
          </a:p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142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E89979-2DA6-4745-8E4D-EF2D6BBAB8FD}"/>
              </a:ext>
            </a:extLst>
          </p:cNvPr>
          <p:cNvSpPr>
            <a:spLocks noGrp="1"/>
          </p:cNvSpPr>
          <p:nvPr/>
        </p:nvSpPr>
        <p:spPr>
          <a:xfrm>
            <a:off x="419100" y="3495675"/>
            <a:ext cx="11811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756494B-BACD-4C7F-B033-9E49A75C0EFC}"/>
              </a:ext>
            </a:extLst>
          </p:cNvPr>
          <p:cNvSpPr>
            <a:spLocks noGrp="1"/>
          </p:cNvSpPr>
          <p:nvPr/>
        </p:nvSpPr>
        <p:spPr>
          <a:xfrm>
            <a:off x="495300" y="3571875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PriMock57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5A8BCC-C078-4470-BA3C-179D53FB965B}"/>
              </a:ext>
            </a:extLst>
          </p:cNvPr>
          <p:cNvSpPr>
            <a:spLocks noGrp="1"/>
          </p:cNvSpPr>
          <p:nvPr/>
        </p:nvSpPr>
        <p:spPr>
          <a:xfrm>
            <a:off x="1600200" y="3495675"/>
            <a:ext cx="1762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DDFD238-CF0B-4321-B094-5E4D1AD0D8C3}"/>
              </a:ext>
            </a:extLst>
          </p:cNvPr>
          <p:cNvSpPr>
            <a:spLocks noGrp="1"/>
          </p:cNvSpPr>
          <p:nvPr/>
        </p:nvSpPr>
        <p:spPr>
          <a:xfrm>
            <a:off x="1676400" y="3571875"/>
            <a:ext cx="16097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TextGrid transcript + clinician notes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36E134-B76C-4402-B3DC-D0EAC649D4B7}"/>
              </a:ext>
            </a:extLst>
          </p:cNvPr>
          <p:cNvSpPr>
            <a:spLocks noGrp="1"/>
          </p:cNvSpPr>
          <p:nvPr/>
        </p:nvSpPr>
        <p:spPr>
          <a:xfrm>
            <a:off x="3362325" y="3495675"/>
            <a:ext cx="23336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EC1A948-B548-44E9-904F-F28152D4E072}"/>
              </a:ext>
            </a:extLst>
          </p:cNvPr>
          <p:cNvSpPr>
            <a:spLocks noGrp="1"/>
          </p:cNvSpPr>
          <p:nvPr/>
        </p:nvSpPr>
        <p:spPr>
          <a:xfrm>
            <a:off x="3438525" y="3571875"/>
            <a:ext cx="21812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merged utterances by timestamp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5DFAFE9-19C5-4298-AA5B-511D7558854B}"/>
              </a:ext>
            </a:extLst>
          </p:cNvPr>
          <p:cNvSpPr>
            <a:spLocks noGrp="1"/>
          </p:cNvSpPr>
          <p:nvPr/>
        </p:nvSpPr>
        <p:spPr>
          <a:xfrm>
            <a:off x="5695950" y="3495675"/>
            <a:ext cx="2381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971FD13-4686-452B-BB09-9376C66FA372}"/>
              </a:ext>
            </a:extLst>
          </p:cNvPr>
          <p:cNvSpPr>
            <a:spLocks noGrp="1"/>
          </p:cNvSpPr>
          <p:nvPr/>
        </p:nvSpPr>
        <p:spPr>
          <a:xfrm>
            <a:off x="5772150" y="3571875"/>
            <a:ext cx="2228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impression/plan-like text from note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BE12A38-C94E-4444-A657-99497D6343D3}"/>
              </a:ext>
            </a:extLst>
          </p:cNvPr>
          <p:cNvSpPr>
            <a:spLocks noGrp="1"/>
          </p:cNvSpPr>
          <p:nvPr/>
        </p:nvSpPr>
        <p:spPr>
          <a:xfrm>
            <a:off x="8077200" y="349567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252FC5-7F21-485C-97F5-344AECD33A79}"/>
              </a:ext>
            </a:extLst>
          </p:cNvPr>
          <p:cNvSpPr>
            <a:spLocks noGrp="1"/>
          </p:cNvSpPr>
          <p:nvPr/>
        </p:nvSpPr>
        <p:spPr>
          <a:xfrm>
            <a:off x="8153400" y="357187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 judge or RM score after scoring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F404109-5866-47AF-B8F0-0617A15013CA}"/>
              </a:ext>
            </a:extLst>
          </p:cNvPr>
          <p:cNvSpPr>
            <a:spLocks noGrp="1"/>
          </p:cNvSpPr>
          <p:nvPr/>
        </p:nvSpPr>
        <p:spPr>
          <a:xfrm>
            <a:off x="9886950" y="3495675"/>
            <a:ext cx="12858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ACAEF6-7A16-471C-981A-BA0E5033ABA7}"/>
              </a:ext>
            </a:extLst>
          </p:cNvPr>
          <p:cNvSpPr>
            <a:spLocks noGrp="1"/>
          </p:cNvSpPr>
          <p:nvPr/>
        </p:nvSpPr>
        <p:spPr>
          <a:xfrm>
            <a:off x="9963150" y="3571875"/>
            <a:ext cx="11334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included</a:t>
            </a:r>
          </a:p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D72AC84-4807-49A5-8320-F63751D485EB}"/>
              </a:ext>
            </a:extLst>
          </p:cNvPr>
          <p:cNvSpPr>
            <a:spLocks noGrp="1"/>
          </p:cNvSpPr>
          <p:nvPr/>
        </p:nvSpPr>
        <p:spPr>
          <a:xfrm>
            <a:off x="419100" y="4086225"/>
            <a:ext cx="118110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12D8E99-C6A3-4E01-A796-7AF1680FDDA7}"/>
              </a:ext>
            </a:extLst>
          </p:cNvPr>
          <p:cNvSpPr>
            <a:spLocks noGrp="1"/>
          </p:cNvSpPr>
          <p:nvPr/>
        </p:nvSpPr>
        <p:spPr>
          <a:xfrm>
            <a:off x="495300" y="4162425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MedDialog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4B3E36B-96E8-4F68-A790-116E3AD90D21}"/>
              </a:ext>
            </a:extLst>
          </p:cNvPr>
          <p:cNvSpPr>
            <a:spLocks noGrp="1"/>
          </p:cNvSpPr>
          <p:nvPr/>
        </p:nvSpPr>
        <p:spPr>
          <a:xfrm>
            <a:off x="1600200" y="4086225"/>
            <a:ext cx="1762125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5DD1DD-948D-47C6-8F1E-2A6BA975F8B3}"/>
              </a:ext>
            </a:extLst>
          </p:cNvPr>
          <p:cNvSpPr>
            <a:spLocks noGrp="1"/>
          </p:cNvSpPr>
          <p:nvPr/>
        </p:nvSpPr>
        <p:spPr>
          <a:xfrm>
            <a:off x="1676400" y="4162425"/>
            <a:ext cx="16097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dialogue only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4B2177-3215-4C3E-9EB5-55817EC144DA}"/>
              </a:ext>
            </a:extLst>
          </p:cNvPr>
          <p:cNvSpPr>
            <a:spLocks noGrp="1"/>
          </p:cNvSpPr>
          <p:nvPr/>
        </p:nvSpPr>
        <p:spPr>
          <a:xfrm>
            <a:off x="3362325" y="4086225"/>
            <a:ext cx="2333625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05EC92E-487C-4D3B-8E32-94A5AEEE9609}"/>
              </a:ext>
            </a:extLst>
          </p:cNvPr>
          <p:cNvSpPr>
            <a:spLocks noGrp="1"/>
          </p:cNvSpPr>
          <p:nvPr/>
        </p:nvSpPr>
        <p:spPr>
          <a:xfrm>
            <a:off x="3438525" y="4162425"/>
            <a:ext cx="21812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patient-doctor dialogue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2F2AE83-7C60-4418-9E11-1A66358CB1A3}"/>
              </a:ext>
            </a:extLst>
          </p:cNvPr>
          <p:cNvSpPr>
            <a:spLocks noGrp="1"/>
          </p:cNvSpPr>
          <p:nvPr/>
        </p:nvSpPr>
        <p:spPr>
          <a:xfrm>
            <a:off x="5695950" y="4086225"/>
            <a:ext cx="23812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10AE5C6-71C6-4D27-95D3-29842C567299}"/>
              </a:ext>
            </a:extLst>
          </p:cNvPr>
          <p:cNvSpPr>
            <a:spLocks noGrp="1"/>
          </p:cNvSpPr>
          <p:nvPr/>
        </p:nvSpPr>
        <p:spPr>
          <a:xfrm>
            <a:off x="5772150" y="4162425"/>
            <a:ext cx="2228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final doctor turn if forced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8FD992E-8826-4DF3-8AC8-7EEB09C70DFA}"/>
              </a:ext>
            </a:extLst>
          </p:cNvPr>
          <p:cNvSpPr>
            <a:spLocks noGrp="1"/>
          </p:cNvSpPr>
          <p:nvPr/>
        </p:nvSpPr>
        <p:spPr>
          <a:xfrm>
            <a:off x="8077200" y="4086225"/>
            <a:ext cx="1809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FE35F40-C620-46EC-B1C7-95A4C9D12169}"/>
              </a:ext>
            </a:extLst>
          </p:cNvPr>
          <p:cNvSpPr>
            <a:spLocks noGrp="1"/>
          </p:cNvSpPr>
          <p:nvPr/>
        </p:nvSpPr>
        <p:spPr>
          <a:xfrm>
            <a:off x="8153400" y="416242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not primary: lacks clinician note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D69A046-2471-427B-949A-5573E0C3F2E0}"/>
              </a:ext>
            </a:extLst>
          </p:cNvPr>
          <p:cNvSpPr>
            <a:spLocks noGrp="1"/>
          </p:cNvSpPr>
          <p:nvPr/>
        </p:nvSpPr>
        <p:spPr>
          <a:xfrm>
            <a:off x="9886950" y="4086225"/>
            <a:ext cx="1285875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4CB2BA8-0EAE-4892-988A-839340CE3886}"/>
              </a:ext>
            </a:extLst>
          </p:cNvPr>
          <p:cNvSpPr>
            <a:spLocks noGrp="1"/>
          </p:cNvSpPr>
          <p:nvPr/>
        </p:nvSpPr>
        <p:spPr>
          <a:xfrm>
            <a:off x="9963150" y="4162425"/>
            <a:ext cx="11334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auxiliary only</a:t>
            </a:r>
          </a:p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 in main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9C9E6BA-AE75-4846-B28B-AD14E367AE5F}"/>
              </a:ext>
            </a:extLst>
          </p:cNvPr>
          <p:cNvSpPr>
            <a:spLocks noGrp="1"/>
          </p:cNvSpPr>
          <p:nvPr/>
        </p:nvSpPr>
        <p:spPr>
          <a:xfrm>
            <a:off x="419100" y="4676775"/>
            <a:ext cx="11811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473DB24-A22E-42EC-B9A7-E5C036E7EBA0}"/>
              </a:ext>
            </a:extLst>
          </p:cNvPr>
          <p:cNvSpPr>
            <a:spLocks noGrp="1"/>
          </p:cNvSpPr>
          <p:nvPr/>
        </p:nvSpPr>
        <p:spPr>
          <a:xfrm>
            <a:off x="495300" y="4752975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CounselBench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C3ABB7B-9DCB-4398-9D1D-062ECDB88939}"/>
              </a:ext>
            </a:extLst>
          </p:cNvPr>
          <p:cNvSpPr>
            <a:spLocks noGrp="1"/>
          </p:cNvSpPr>
          <p:nvPr/>
        </p:nvSpPr>
        <p:spPr>
          <a:xfrm>
            <a:off x="1600200" y="4676775"/>
            <a:ext cx="1762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8FCBD63-8834-4A5E-AE29-A0E668D906FC}"/>
              </a:ext>
            </a:extLst>
          </p:cNvPr>
          <p:cNvSpPr>
            <a:spLocks noGrp="1"/>
          </p:cNvSpPr>
          <p:nvPr/>
        </p:nvSpPr>
        <p:spPr>
          <a:xfrm>
            <a:off x="1676400" y="4752975"/>
            <a:ext cx="16097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question + responses + expert annotations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0DC983C-3FA1-4A5D-AD3C-DFB3CB290523}"/>
              </a:ext>
            </a:extLst>
          </p:cNvPr>
          <p:cNvSpPr>
            <a:spLocks noGrp="1"/>
          </p:cNvSpPr>
          <p:nvPr/>
        </p:nvSpPr>
        <p:spPr>
          <a:xfrm>
            <a:off x="3362325" y="4676775"/>
            <a:ext cx="23336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DA98E7B-A308-4874-BB4E-D1788218C0D9}"/>
              </a:ext>
            </a:extLst>
          </p:cNvPr>
          <p:cNvSpPr>
            <a:spLocks noGrp="1"/>
          </p:cNvSpPr>
          <p:nvPr/>
        </p:nvSpPr>
        <p:spPr>
          <a:xfrm>
            <a:off x="3438525" y="4752975"/>
            <a:ext cx="21812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topic/title/question text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6FB3AFD-7DA7-4E04-967D-6481505DA89F}"/>
              </a:ext>
            </a:extLst>
          </p:cNvPr>
          <p:cNvSpPr>
            <a:spLocks noGrp="1"/>
          </p:cNvSpPr>
          <p:nvPr/>
        </p:nvSpPr>
        <p:spPr>
          <a:xfrm>
            <a:off x="5695950" y="4676775"/>
            <a:ext cx="2381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8D55295-815D-4007-AF49-04061E660E07}"/>
              </a:ext>
            </a:extLst>
          </p:cNvPr>
          <p:cNvSpPr>
            <a:spLocks noGrp="1"/>
          </p:cNvSpPr>
          <p:nvPr/>
        </p:nvSpPr>
        <p:spPr>
          <a:xfrm>
            <a:off x="5772150" y="4752975"/>
            <a:ext cx="2228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human baseline response; target = gpt4/llama3/gemini response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2167C80-2EB5-4E19-BBBF-4CACF50C3E97}"/>
              </a:ext>
            </a:extLst>
          </p:cNvPr>
          <p:cNvSpPr>
            <a:spLocks noGrp="1"/>
          </p:cNvSpPr>
          <p:nvPr/>
        </p:nvSpPr>
        <p:spPr>
          <a:xfrm>
            <a:off x="8077200" y="467677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BEAAE9F-81DA-4C47-ABD2-910B90AD99B6}"/>
              </a:ext>
            </a:extLst>
          </p:cNvPr>
          <p:cNvSpPr>
            <a:spLocks noGrp="1"/>
          </p:cNvSpPr>
          <p:nvPr/>
        </p:nvSpPr>
        <p:spPr>
          <a:xfrm>
            <a:off x="8153400" y="475297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mental-health expert composite score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6DF15AE-AB04-44C0-A3FE-A211805D91DD}"/>
              </a:ext>
            </a:extLst>
          </p:cNvPr>
          <p:cNvSpPr>
            <a:spLocks noGrp="1"/>
          </p:cNvSpPr>
          <p:nvPr/>
        </p:nvSpPr>
        <p:spPr>
          <a:xfrm>
            <a:off x="9886950" y="4676775"/>
            <a:ext cx="12858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126C4D0-AE04-4DBB-98BD-19DCDEA9FC57}"/>
              </a:ext>
            </a:extLst>
          </p:cNvPr>
          <p:cNvSpPr>
            <a:spLocks noGrp="1"/>
          </p:cNvSpPr>
          <p:nvPr/>
        </p:nvSpPr>
        <p:spPr>
          <a:xfrm>
            <a:off x="9963150" y="4752975"/>
            <a:ext cx="11334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sensitivity</a:t>
            </a:r>
          </a:p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64F9CD3-28C5-4E20-A6B4-C416A0D6CC70}"/>
              </a:ext>
            </a:extLst>
          </p:cNvPr>
          <p:cNvSpPr>
            <a:spLocks noGrp="1"/>
          </p:cNvSpPr>
          <p:nvPr/>
        </p:nvSpPr>
        <p:spPr>
          <a:xfrm>
            <a:off x="742950" y="5886450"/>
            <a:ext cx="1009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结论：前三个医疗数据集是在 clinical note 中抽 action；CounselBench 是直接评价 response；MedDialog 因缺少 clinician note 不能定义同一主 estimand。</a:t>
            </a:r>
          </a:p>
        </p:txBody>
      </p:sp>
    </p:spTree>
    <p:extLst>
      <p:ext uri="{BB962C8B-B14F-4D97-AF65-F5344CB8AC3E}">
        <p14:creationId xmlns:p14="http://schemas.microsoft.com/office/powerpoint/2010/main" val="467313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179904B-37ED-482C-9EF3-BA83BE30CF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3EA7747-EC32-403C-A54E-DC9C8AB1124D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5EAF090-19FC-4413-8E24-05418A0EED0E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ESTIMAND IMPLICATIONS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86E53-15B9-4EFF-ABBF-EA55C6ADE77C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可以增强 reward 可信度，但不能直接替换医疗主实验。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20809-8D7C-46C5-9141-D6A43F4188F1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它回答的是 mental-health response quality，不是 clinical final assessment/plan replacement。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84ABF5-FC52-4340-A06E-699EA2CEFDF7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C82573-8078-44AC-AC6F-685C8D337BA7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CounselBench converter + Phase 2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4305D4-4E49-4618-A042-F6119AB92498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5E171-26A5-4505-9CAF-8D3D2097D2E8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048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F48E2C-53E3-4F01-8978-46A3FA51F21A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04800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C7E6D9-2FC5-4502-9798-5B79853F82DD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Domain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4FF889-A560-4DE6-BBA8-3C98BF88F5EE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医疗主数据：clinical encounter</a:t>
            </a: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CounselBench：心理健康咨询问答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07E47F-BF05-41AC-9ADB-BF155AFCD022}"/>
              </a:ext>
            </a:extLst>
          </p:cNvPr>
          <p:cNvSpPr>
            <a:spLocks noGrp="1"/>
          </p:cNvSpPr>
          <p:nvPr/>
        </p:nvSpPr>
        <p:spPr>
          <a:xfrm>
            <a:off x="4352925" y="2095500"/>
            <a:ext cx="3048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A545E3-6961-4983-B165-A38180AA1A82}"/>
              </a:ext>
            </a:extLst>
          </p:cNvPr>
          <p:cNvSpPr>
            <a:spLocks noGrp="1"/>
          </p:cNvSpPr>
          <p:nvPr/>
        </p:nvSpPr>
        <p:spPr>
          <a:xfrm>
            <a:off x="4352925" y="2095500"/>
            <a:ext cx="3048000" cy="47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2B022C-DC35-43D5-BAE7-E98032537B32}"/>
              </a:ext>
            </a:extLst>
          </p:cNvPr>
          <p:cNvSpPr>
            <a:spLocks noGrp="1"/>
          </p:cNvSpPr>
          <p:nvPr/>
        </p:nvSpPr>
        <p:spPr>
          <a:xfrm>
            <a:off x="4562475" y="23050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Action timing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ABD562-89A3-4211-9C34-FE51B2246979}"/>
              </a:ext>
            </a:extLst>
          </p:cNvPr>
          <p:cNvSpPr>
            <a:spLocks noGrp="1"/>
          </p:cNvSpPr>
          <p:nvPr/>
        </p:nvSpPr>
        <p:spPr>
          <a:xfrm>
            <a:off x="4562475" y="268605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医疗主数据：visit 后最终 A&amp;P</a:t>
            </a: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CounselBench：单轮 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691891-3862-4FD4-8A8B-EE118EA99E65}"/>
              </a:ext>
            </a:extLst>
          </p:cNvPr>
          <p:cNvSpPr>
            <a:spLocks noGrp="1"/>
          </p:cNvSpPr>
          <p:nvPr/>
        </p:nvSpPr>
        <p:spPr>
          <a:xfrm>
            <a:off x="7924800" y="2095500"/>
            <a:ext cx="3048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0239C-5B4E-4BD7-ABBC-A6713127E459}"/>
              </a:ext>
            </a:extLst>
          </p:cNvPr>
          <p:cNvSpPr>
            <a:spLocks noGrp="1"/>
          </p:cNvSpPr>
          <p:nvPr/>
        </p:nvSpPr>
        <p:spPr>
          <a:xfrm>
            <a:off x="7924800" y="2095500"/>
            <a:ext cx="3048000" cy="476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CB1E5E-1F81-4EC1-8B60-D05CEBB13F94}"/>
              </a:ext>
            </a:extLst>
          </p:cNvPr>
          <p:cNvSpPr>
            <a:spLocks noGrp="1"/>
          </p:cNvSpPr>
          <p:nvPr/>
        </p:nvSpPr>
        <p:spPr>
          <a:xfrm>
            <a:off x="8134350" y="23050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Reward source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568A28-70FA-4F47-97E2-24B51A5BFC70}"/>
              </a:ext>
            </a:extLst>
          </p:cNvPr>
          <p:cNvSpPr>
            <a:spLocks noGrp="1"/>
          </p:cNvSpPr>
          <p:nvPr/>
        </p:nvSpPr>
        <p:spPr>
          <a:xfrm>
            <a:off x="8134350" y="268605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医疗主数据：LLM judge / RM surrogate</a:t>
            </a: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CounselBench：专业人员标注均值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E6D150-1E70-48E5-8D0D-05488F2C7D80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3048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754EB3-153E-4CFA-8BCB-BB59073DD279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304800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0CB600-CF78-45EA-BED3-FBE098815D41}"/>
              </a:ext>
            </a:extLst>
          </p:cNvPr>
          <p:cNvSpPr>
            <a:spLocks noGrp="1"/>
          </p:cNvSpPr>
          <p:nvPr/>
        </p:nvSpPr>
        <p:spPr>
          <a:xfrm>
            <a:off x="990600" y="39243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Counterfactual contrast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9E91BD-9E52-47BF-A6B2-146A9B889511}"/>
              </a:ext>
            </a:extLst>
          </p:cNvPr>
          <p:cNvSpPr>
            <a:spLocks noGrp="1"/>
          </p:cNvSpPr>
          <p:nvPr/>
        </p:nvSpPr>
        <p:spPr>
          <a:xfrm>
            <a:off x="990600" y="430530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医疗主数据：clinician vs generated agent</a:t>
            </a: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CounselBench：human therapist vs logged LLM responder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E08133-3430-407B-9616-6B4BC9AED010}"/>
              </a:ext>
            </a:extLst>
          </p:cNvPr>
          <p:cNvSpPr>
            <a:spLocks noGrp="1"/>
          </p:cNvSpPr>
          <p:nvPr/>
        </p:nvSpPr>
        <p:spPr>
          <a:xfrm>
            <a:off x="4352925" y="3714750"/>
            <a:ext cx="3048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10B706-0456-4EA8-BD79-6509A2E46F60}"/>
              </a:ext>
            </a:extLst>
          </p:cNvPr>
          <p:cNvSpPr>
            <a:spLocks noGrp="1"/>
          </p:cNvSpPr>
          <p:nvPr/>
        </p:nvSpPr>
        <p:spPr>
          <a:xfrm>
            <a:off x="4352925" y="3714750"/>
            <a:ext cx="304800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0D7E3E-9AC0-4F65-8D8F-5C3A9C38A8D0}"/>
              </a:ext>
            </a:extLst>
          </p:cNvPr>
          <p:cNvSpPr>
            <a:spLocks noGrp="1"/>
          </p:cNvSpPr>
          <p:nvPr/>
        </p:nvSpPr>
        <p:spPr>
          <a:xfrm>
            <a:off x="4562475" y="39243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Coverage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1F2922-BDD7-4501-94BB-CCA82C852BED}"/>
              </a:ext>
            </a:extLst>
          </p:cNvPr>
          <p:cNvSpPr>
            <a:spLocks noGrp="1"/>
          </p:cNvSpPr>
          <p:nvPr/>
        </p:nvSpPr>
        <p:spPr>
          <a:xfrm>
            <a:off x="4562475" y="430530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医疗主数据：397 contexts, source heterogeneity</a:t>
            </a: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CounselBench：100 questions, 4 responders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BF4A09-0F37-40A6-8368-E81AAE46A06A}"/>
              </a:ext>
            </a:extLst>
          </p:cNvPr>
          <p:cNvSpPr>
            <a:spLocks noGrp="1"/>
          </p:cNvSpPr>
          <p:nvPr/>
        </p:nvSpPr>
        <p:spPr>
          <a:xfrm>
            <a:off x="7924800" y="3714750"/>
            <a:ext cx="3048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7D9C8E-099B-48A8-9EE4-A1ACC4A96DB3}"/>
              </a:ext>
            </a:extLst>
          </p:cNvPr>
          <p:cNvSpPr>
            <a:spLocks noGrp="1"/>
          </p:cNvSpPr>
          <p:nvPr/>
        </p:nvSpPr>
        <p:spPr>
          <a:xfrm>
            <a:off x="7924800" y="3714750"/>
            <a:ext cx="3048000" cy="47625"/>
          </a:xfrm>
          <a:prstGeom prst="rect">
            <a:avLst/>
          </a:prstGeom>
          <a:solidFill>
            <a:srgbClr val="3A7A4E"/>
          </a:solidFill>
          <a:ln w="0">
            <a:solidFill>
              <a:srgbClr val="3A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345B2F-7171-4CAC-8052-F0170F1E18B0}"/>
              </a:ext>
            </a:extLst>
          </p:cNvPr>
          <p:cNvSpPr>
            <a:spLocks noGrp="1"/>
          </p:cNvSpPr>
          <p:nvPr/>
        </p:nvSpPr>
        <p:spPr>
          <a:xfrm>
            <a:off x="8134350" y="39243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rPr>
              <a:t>Best use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BA8208-B49C-44BF-80D8-53E8303708E3}"/>
              </a:ext>
            </a:extLst>
          </p:cNvPr>
          <p:cNvSpPr>
            <a:spLocks noGrp="1"/>
          </p:cNvSpPr>
          <p:nvPr/>
        </p:nvSpPr>
        <p:spPr>
          <a:xfrm>
            <a:off x="8134350" y="430530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医疗主数据：headline OPE benchmark</a:t>
            </a: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CounselBench：expert-label sensitivity / RM calibration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5BC387-8BDA-495F-9189-EBB30053C4CC}"/>
              </a:ext>
            </a:extLst>
          </p:cNvPr>
          <p:cNvSpPr>
            <a:spLocks noGrp="1"/>
          </p:cNvSpPr>
          <p:nvPr/>
        </p:nvSpPr>
        <p:spPr>
          <a:xfrm>
            <a:off x="1143000" y="5476875"/>
            <a:ext cx="9906000" cy="400050"/>
          </a:xfrm>
          <a:prstGeom prst="rect">
            <a:avLst/>
          </a:prstGeom>
          <a:solidFill>
            <a:srgbClr val="F2E8CE"/>
          </a:solidFill>
          <a:ln w="0">
            <a:solidFill>
              <a:srgbClr val="F2E8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C5EDF-7C31-4F8F-87C0-677954F7FF6F}"/>
              </a:ext>
            </a:extLst>
          </p:cNvPr>
          <p:cNvSpPr>
            <a:spLocks noGrp="1"/>
          </p:cNvSpPr>
          <p:nvPr/>
        </p:nvSpPr>
        <p:spPr>
          <a:xfrm>
            <a:off x="1381125" y="5581650"/>
            <a:ext cx="942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汇报建议：把 CounselBench 称为“expert-labeled sensitivity benchmark / reward calibration set”，不要把它和 397-row clinical OPE headline 合并成一个总体 n。</a:t>
            </a:r>
          </a:p>
        </p:txBody>
      </p:sp>
    </p:spTree>
    <p:extLst>
      <p:ext uri="{BB962C8B-B14F-4D97-AF65-F5344CB8AC3E}">
        <p14:creationId xmlns:p14="http://schemas.microsoft.com/office/powerpoint/2010/main" val="1598436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FBF96D5D-62AF-4EF8-BE85-E14C426EFB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E62C463-E764-4FDB-9572-C56BF8922300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ADCE048-CC0D-4036-B54D-7286C60282BF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JUDGE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4B665-05EE-4078-996E-1087D42FA536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Sonnet 4.6 相比 GPT-4o 把 agent-clinician gap 从 +0.1895 放大到 +0.2236。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EC43F0-BEC1-4AAE-AAE0-AE2DB3FE6C95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主要原因是 Sonnet 对 clinician baseline 打得更低，同时 agent score 只小幅下降。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6081A2-FE2C-4890-8000-BD08CBAB4D98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6D7873-956F-4512-A599-0841BC40FAEC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docs/phase5_main_experiment.md; docs/phase5_sonnet46_judge_ablation.md; data/phase3/ground_truth_effect_judge_claude_sonnet46.json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2300EC-0B97-4D7A-8818-D9EA47BC574E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6DAECB-CC02-4632-9838-AE2495A66461}"/>
              </a:ext>
            </a:extLst>
          </p:cNvPr>
          <p:cNvSpPr>
            <a:spLocks noGrp="1"/>
          </p:cNvSpPr>
          <p:nvPr/>
        </p:nvSpPr>
        <p:spPr>
          <a:xfrm>
            <a:off x="819150" y="1952625"/>
            <a:ext cx="2333625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2EF440-605C-48BA-A422-C7F2520A22EA}"/>
              </a:ext>
            </a:extLst>
          </p:cNvPr>
          <p:cNvSpPr>
            <a:spLocks noGrp="1"/>
          </p:cNvSpPr>
          <p:nvPr/>
        </p:nvSpPr>
        <p:spPr>
          <a:xfrm>
            <a:off x="895350" y="2028825"/>
            <a:ext cx="21812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Judge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4A3351-52DA-4C93-BEA4-E983933F8B4B}"/>
              </a:ext>
            </a:extLst>
          </p:cNvPr>
          <p:cNvSpPr>
            <a:spLocks noGrp="1"/>
          </p:cNvSpPr>
          <p:nvPr/>
        </p:nvSpPr>
        <p:spPr>
          <a:xfrm>
            <a:off x="3152775" y="1952625"/>
            <a:ext cx="1476375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2F42FA-77B3-46A7-A0D4-CD6895F786BA}"/>
              </a:ext>
            </a:extLst>
          </p:cNvPr>
          <p:cNvSpPr>
            <a:spLocks noGrp="1"/>
          </p:cNvSpPr>
          <p:nvPr/>
        </p:nvSpPr>
        <p:spPr>
          <a:xfrm>
            <a:off x="3228975" y="2028825"/>
            <a:ext cx="13239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V_true(π_b)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0D7A57-4A0E-4C4B-A7E5-F90D22D7721A}"/>
              </a:ext>
            </a:extLst>
          </p:cNvPr>
          <p:cNvSpPr>
            <a:spLocks noGrp="1"/>
          </p:cNvSpPr>
          <p:nvPr/>
        </p:nvSpPr>
        <p:spPr>
          <a:xfrm>
            <a:off x="4629150" y="1952625"/>
            <a:ext cx="1571625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DC913C-C3C6-4C37-BF42-EB160B9840CB}"/>
              </a:ext>
            </a:extLst>
          </p:cNvPr>
          <p:cNvSpPr>
            <a:spLocks noGrp="1"/>
          </p:cNvSpPr>
          <p:nvPr/>
        </p:nvSpPr>
        <p:spPr>
          <a:xfrm>
            <a:off x="4705350" y="2028825"/>
            <a:ext cx="14192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V_true(π_agent)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3BAFB0-73D4-44B1-B307-CE3160848959}"/>
              </a:ext>
            </a:extLst>
          </p:cNvPr>
          <p:cNvSpPr>
            <a:spLocks noGrp="1"/>
          </p:cNvSpPr>
          <p:nvPr/>
        </p:nvSpPr>
        <p:spPr>
          <a:xfrm>
            <a:off x="6200775" y="1952625"/>
            <a:ext cx="161925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B686A7-0F0A-47A2-BA1A-E97F99FB11BA}"/>
              </a:ext>
            </a:extLst>
          </p:cNvPr>
          <p:cNvSpPr>
            <a:spLocks noGrp="1"/>
          </p:cNvSpPr>
          <p:nvPr/>
        </p:nvSpPr>
        <p:spPr>
          <a:xfrm>
            <a:off x="6276975" y="2028825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True effect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FA31C8-17A4-4FED-854A-EEB352F4BC8F}"/>
              </a:ext>
            </a:extLst>
          </p:cNvPr>
          <p:cNvSpPr>
            <a:spLocks noGrp="1"/>
          </p:cNvSpPr>
          <p:nvPr/>
        </p:nvSpPr>
        <p:spPr>
          <a:xfrm>
            <a:off x="7820025" y="1952625"/>
            <a:ext cx="2428875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1F0DC5-C737-49C3-96DE-592DB9B96DFC}"/>
              </a:ext>
            </a:extLst>
          </p:cNvPr>
          <p:cNvSpPr>
            <a:spLocks noGrp="1"/>
          </p:cNvSpPr>
          <p:nvPr/>
        </p:nvSpPr>
        <p:spPr>
          <a:xfrm>
            <a:off x="7896225" y="2028825"/>
            <a:ext cx="2276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F56F0D-D027-48EF-9357-CC8266F3BB71}"/>
              </a:ext>
            </a:extLst>
          </p:cNvPr>
          <p:cNvSpPr>
            <a:spLocks noGrp="1"/>
          </p:cNvSpPr>
          <p:nvPr/>
        </p:nvSpPr>
        <p:spPr>
          <a:xfrm>
            <a:off x="10248900" y="1952625"/>
            <a:ext cx="152400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3819A9-ED9A-412C-8F25-A2695CBBF049}"/>
              </a:ext>
            </a:extLst>
          </p:cNvPr>
          <p:cNvSpPr>
            <a:spLocks noGrp="1"/>
          </p:cNvSpPr>
          <p:nvPr/>
        </p:nvSpPr>
        <p:spPr>
          <a:xfrm>
            <a:off x="10325100" y="2028825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Dir(agent &gt; clinician)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1F6ED9-BEFC-4B55-AF22-D6AA6D9997EB}"/>
              </a:ext>
            </a:extLst>
          </p:cNvPr>
          <p:cNvSpPr>
            <a:spLocks noGrp="1"/>
          </p:cNvSpPr>
          <p:nvPr/>
        </p:nvSpPr>
        <p:spPr>
          <a:xfrm>
            <a:off x="819150" y="2314575"/>
            <a:ext cx="2333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B3FE97-A12D-435A-AEF8-FC983F9E4DEF}"/>
              </a:ext>
            </a:extLst>
          </p:cNvPr>
          <p:cNvSpPr>
            <a:spLocks noGrp="1"/>
          </p:cNvSpPr>
          <p:nvPr/>
        </p:nvSpPr>
        <p:spPr>
          <a:xfrm>
            <a:off x="895350" y="2390775"/>
            <a:ext cx="21812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GPT-4.1 旧口径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CC6ACA-345B-41D3-9345-8B03A5328E9B}"/>
              </a:ext>
            </a:extLst>
          </p:cNvPr>
          <p:cNvSpPr>
            <a:spLocks noGrp="1"/>
          </p:cNvSpPr>
          <p:nvPr/>
        </p:nvSpPr>
        <p:spPr>
          <a:xfrm>
            <a:off x="3152775" y="2314575"/>
            <a:ext cx="14763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384744-D041-46AF-95E7-82D0EBCB345A}"/>
              </a:ext>
            </a:extLst>
          </p:cNvPr>
          <p:cNvSpPr>
            <a:spLocks noGrp="1"/>
          </p:cNvSpPr>
          <p:nvPr/>
        </p:nvSpPr>
        <p:spPr>
          <a:xfrm>
            <a:off x="3228975" y="2390775"/>
            <a:ext cx="13239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0.666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B149BE-CCA3-42F4-9FA8-D21A942AE786}"/>
              </a:ext>
            </a:extLst>
          </p:cNvPr>
          <p:cNvSpPr>
            <a:spLocks noGrp="1"/>
          </p:cNvSpPr>
          <p:nvPr/>
        </p:nvSpPr>
        <p:spPr>
          <a:xfrm>
            <a:off x="4629150" y="2314575"/>
            <a:ext cx="1571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1E7CB5-A789-43AD-A2BF-58B028338A9B}"/>
              </a:ext>
            </a:extLst>
          </p:cNvPr>
          <p:cNvSpPr>
            <a:spLocks noGrp="1"/>
          </p:cNvSpPr>
          <p:nvPr/>
        </p:nvSpPr>
        <p:spPr>
          <a:xfrm>
            <a:off x="4705350" y="2390775"/>
            <a:ext cx="14192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0.929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FE0A6E-6B94-4F07-97DD-212EF8D28086}"/>
              </a:ext>
            </a:extLst>
          </p:cNvPr>
          <p:cNvSpPr>
            <a:spLocks noGrp="1"/>
          </p:cNvSpPr>
          <p:nvPr/>
        </p:nvSpPr>
        <p:spPr>
          <a:xfrm>
            <a:off x="6200775" y="2314575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328F1A-8DBD-420A-B259-8219D771A6AE}"/>
              </a:ext>
            </a:extLst>
          </p:cNvPr>
          <p:cNvSpPr>
            <a:spLocks noGrp="1"/>
          </p:cNvSpPr>
          <p:nvPr/>
        </p:nvSpPr>
        <p:spPr>
          <a:xfrm>
            <a:off x="6276975" y="2390775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+0.263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1AC190-4E7A-4C38-986E-E68CBC1CDA5A}"/>
              </a:ext>
            </a:extLst>
          </p:cNvPr>
          <p:cNvSpPr>
            <a:spLocks noGrp="1"/>
          </p:cNvSpPr>
          <p:nvPr/>
        </p:nvSpPr>
        <p:spPr>
          <a:xfrm>
            <a:off x="7820025" y="2314575"/>
            <a:ext cx="24288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D228BC-8E13-4FF7-9CEE-B858A1E8E7C9}"/>
              </a:ext>
            </a:extLst>
          </p:cNvPr>
          <p:cNvSpPr>
            <a:spLocks noGrp="1"/>
          </p:cNvSpPr>
          <p:nvPr/>
        </p:nvSpPr>
        <p:spPr>
          <a:xfrm>
            <a:off x="7896225" y="2390775"/>
            <a:ext cx="22764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未作为当前主表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58A4DB-0169-4047-AE94-D7D701BDB082}"/>
              </a:ext>
            </a:extLst>
          </p:cNvPr>
          <p:cNvSpPr>
            <a:spLocks noGrp="1"/>
          </p:cNvSpPr>
          <p:nvPr/>
        </p:nvSpPr>
        <p:spPr>
          <a:xfrm>
            <a:off x="10248900" y="2314575"/>
            <a:ext cx="152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38A7A3-3D8A-477B-986E-9FAD28E9A602}"/>
              </a:ext>
            </a:extLst>
          </p:cNvPr>
          <p:cNvSpPr>
            <a:spLocks noGrp="1"/>
          </p:cNvSpPr>
          <p:nvPr/>
        </p:nvSpPr>
        <p:spPr>
          <a:xfrm>
            <a:off x="10325100" y="2390775"/>
            <a:ext cx="1371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96.2%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28B4AE-2EAE-4034-B178-4B7ED76E7710}"/>
              </a:ext>
            </a:extLst>
          </p:cNvPr>
          <p:cNvSpPr>
            <a:spLocks noGrp="1"/>
          </p:cNvSpPr>
          <p:nvPr/>
        </p:nvSpPr>
        <p:spPr>
          <a:xfrm>
            <a:off x="819150" y="2867025"/>
            <a:ext cx="2333625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D545EE-18F6-4C31-98A3-497ABE45653C}"/>
              </a:ext>
            </a:extLst>
          </p:cNvPr>
          <p:cNvSpPr>
            <a:spLocks noGrp="1"/>
          </p:cNvSpPr>
          <p:nvPr/>
        </p:nvSpPr>
        <p:spPr>
          <a:xfrm>
            <a:off x="895350" y="2943225"/>
            <a:ext cx="21812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GPT-4o 主口径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B52E99-5368-4246-839E-21DD91814B54}"/>
              </a:ext>
            </a:extLst>
          </p:cNvPr>
          <p:cNvSpPr>
            <a:spLocks noGrp="1"/>
          </p:cNvSpPr>
          <p:nvPr/>
        </p:nvSpPr>
        <p:spPr>
          <a:xfrm>
            <a:off x="3152775" y="2867025"/>
            <a:ext cx="1476375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7CC026-4B6C-4F34-BEB8-B296BE9FC7E2}"/>
              </a:ext>
            </a:extLst>
          </p:cNvPr>
          <p:cNvSpPr>
            <a:spLocks noGrp="1"/>
          </p:cNvSpPr>
          <p:nvPr/>
        </p:nvSpPr>
        <p:spPr>
          <a:xfrm>
            <a:off x="3228975" y="2943225"/>
            <a:ext cx="13239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0.6690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1F1903-2D93-4178-8258-6BD715C564A4}"/>
              </a:ext>
            </a:extLst>
          </p:cNvPr>
          <p:cNvSpPr>
            <a:spLocks noGrp="1"/>
          </p:cNvSpPr>
          <p:nvPr/>
        </p:nvSpPr>
        <p:spPr>
          <a:xfrm>
            <a:off x="4629150" y="2867025"/>
            <a:ext cx="1571625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797C81-41F1-4B0E-80F6-6AF760F81F3E}"/>
              </a:ext>
            </a:extLst>
          </p:cNvPr>
          <p:cNvSpPr>
            <a:spLocks noGrp="1"/>
          </p:cNvSpPr>
          <p:nvPr/>
        </p:nvSpPr>
        <p:spPr>
          <a:xfrm>
            <a:off x="4705350" y="2943225"/>
            <a:ext cx="14192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0.8585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0E31624-19FF-427C-8FF0-7FE68310CB80}"/>
              </a:ext>
            </a:extLst>
          </p:cNvPr>
          <p:cNvSpPr>
            <a:spLocks noGrp="1"/>
          </p:cNvSpPr>
          <p:nvPr/>
        </p:nvSpPr>
        <p:spPr>
          <a:xfrm>
            <a:off x="6200775" y="2867025"/>
            <a:ext cx="161925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55CA3C-4CFC-41ED-987E-123ADB8C5013}"/>
              </a:ext>
            </a:extLst>
          </p:cNvPr>
          <p:cNvSpPr>
            <a:spLocks noGrp="1"/>
          </p:cNvSpPr>
          <p:nvPr/>
        </p:nvSpPr>
        <p:spPr>
          <a:xfrm>
            <a:off x="6276975" y="2943225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+0.1895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2E565C-6431-41AA-84FF-52F50D017228}"/>
              </a:ext>
            </a:extLst>
          </p:cNvPr>
          <p:cNvSpPr>
            <a:spLocks noGrp="1"/>
          </p:cNvSpPr>
          <p:nvPr/>
        </p:nvSpPr>
        <p:spPr>
          <a:xfrm>
            <a:off x="7820025" y="2867025"/>
            <a:ext cx="2428875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9C569-D048-4ACE-8F36-9F9EAAA4D210}"/>
              </a:ext>
            </a:extLst>
          </p:cNvPr>
          <p:cNvSpPr>
            <a:spLocks noGrp="1"/>
          </p:cNvSpPr>
          <p:nvPr/>
        </p:nvSpPr>
        <p:spPr>
          <a:xfrm>
            <a:off x="7896225" y="2943225"/>
            <a:ext cx="22764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[0.168, 0.212]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C0D61E2-E6F5-4531-A41E-A69B8E93331B}"/>
              </a:ext>
            </a:extLst>
          </p:cNvPr>
          <p:cNvSpPr>
            <a:spLocks noGrp="1"/>
          </p:cNvSpPr>
          <p:nvPr/>
        </p:nvSpPr>
        <p:spPr>
          <a:xfrm>
            <a:off x="10248900" y="2867025"/>
            <a:ext cx="152400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D1B0111-AF8A-4D38-9F06-31B278F9E45C}"/>
              </a:ext>
            </a:extLst>
          </p:cNvPr>
          <p:cNvSpPr>
            <a:spLocks noGrp="1"/>
          </p:cNvSpPr>
          <p:nvPr/>
        </p:nvSpPr>
        <p:spPr>
          <a:xfrm>
            <a:off x="10325100" y="2943225"/>
            <a:ext cx="1371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81.9%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BFCD4FC-7F1B-4330-AFAB-11CB2EC4142E}"/>
              </a:ext>
            </a:extLst>
          </p:cNvPr>
          <p:cNvSpPr>
            <a:spLocks noGrp="1"/>
          </p:cNvSpPr>
          <p:nvPr/>
        </p:nvSpPr>
        <p:spPr>
          <a:xfrm>
            <a:off x="819150" y="3419475"/>
            <a:ext cx="2333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39166B4-339E-4266-8997-6CA0BC95AD03}"/>
              </a:ext>
            </a:extLst>
          </p:cNvPr>
          <p:cNvSpPr>
            <a:spLocks noGrp="1"/>
          </p:cNvSpPr>
          <p:nvPr/>
        </p:nvSpPr>
        <p:spPr>
          <a:xfrm>
            <a:off x="895350" y="3495675"/>
            <a:ext cx="21812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Claude Sonnet 4.6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27E49A-F4D3-4ADA-AF8B-625BB1AE3158}"/>
              </a:ext>
            </a:extLst>
          </p:cNvPr>
          <p:cNvSpPr>
            <a:spLocks noGrp="1"/>
          </p:cNvSpPr>
          <p:nvPr/>
        </p:nvSpPr>
        <p:spPr>
          <a:xfrm>
            <a:off x="3152775" y="3419475"/>
            <a:ext cx="14763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4347225-6A6E-4E1B-BBA1-745BEBDBFE0B}"/>
              </a:ext>
            </a:extLst>
          </p:cNvPr>
          <p:cNvSpPr>
            <a:spLocks noGrp="1"/>
          </p:cNvSpPr>
          <p:nvPr/>
        </p:nvSpPr>
        <p:spPr>
          <a:xfrm>
            <a:off x="3228975" y="3495675"/>
            <a:ext cx="13239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0.6178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3353D3-7C43-4089-8729-FC37E08AFCFF}"/>
              </a:ext>
            </a:extLst>
          </p:cNvPr>
          <p:cNvSpPr>
            <a:spLocks noGrp="1"/>
          </p:cNvSpPr>
          <p:nvPr/>
        </p:nvSpPr>
        <p:spPr>
          <a:xfrm>
            <a:off x="4629150" y="3419475"/>
            <a:ext cx="1571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E4204E-B8EB-4843-A03F-594821AB8B79}"/>
              </a:ext>
            </a:extLst>
          </p:cNvPr>
          <p:cNvSpPr>
            <a:spLocks noGrp="1"/>
          </p:cNvSpPr>
          <p:nvPr/>
        </p:nvSpPr>
        <p:spPr>
          <a:xfrm>
            <a:off x="4705350" y="3495675"/>
            <a:ext cx="14192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0.8413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835AB6F-941D-47F2-95C1-A76D44ADE48A}"/>
              </a:ext>
            </a:extLst>
          </p:cNvPr>
          <p:cNvSpPr>
            <a:spLocks noGrp="1"/>
          </p:cNvSpPr>
          <p:nvPr/>
        </p:nvSpPr>
        <p:spPr>
          <a:xfrm>
            <a:off x="6200775" y="3419475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A8F580C-C001-46C8-9344-D7F4A57CB0F4}"/>
              </a:ext>
            </a:extLst>
          </p:cNvPr>
          <p:cNvSpPr>
            <a:spLocks noGrp="1"/>
          </p:cNvSpPr>
          <p:nvPr/>
        </p:nvSpPr>
        <p:spPr>
          <a:xfrm>
            <a:off x="6276975" y="3495675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+0.2236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8A33B5B-C655-4F05-B75D-B30180291808}"/>
              </a:ext>
            </a:extLst>
          </p:cNvPr>
          <p:cNvSpPr>
            <a:spLocks noGrp="1"/>
          </p:cNvSpPr>
          <p:nvPr/>
        </p:nvSpPr>
        <p:spPr>
          <a:xfrm>
            <a:off x="7820025" y="3419475"/>
            <a:ext cx="24288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0ADBD0-BC06-479E-AE8C-E65EBBA60A35}"/>
              </a:ext>
            </a:extLst>
          </p:cNvPr>
          <p:cNvSpPr>
            <a:spLocks noGrp="1"/>
          </p:cNvSpPr>
          <p:nvPr/>
        </p:nvSpPr>
        <p:spPr>
          <a:xfrm>
            <a:off x="7896225" y="3495675"/>
            <a:ext cx="22764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[0.206, 0.241]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F31B07F-5307-4ADE-899D-ABC59F4A1376}"/>
              </a:ext>
            </a:extLst>
          </p:cNvPr>
          <p:cNvSpPr>
            <a:spLocks noGrp="1"/>
          </p:cNvSpPr>
          <p:nvPr/>
        </p:nvSpPr>
        <p:spPr>
          <a:xfrm>
            <a:off x="10248900" y="3419475"/>
            <a:ext cx="152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4D001BF-6AC7-415F-B24A-175B2BF5C56F}"/>
              </a:ext>
            </a:extLst>
          </p:cNvPr>
          <p:cNvSpPr>
            <a:spLocks noGrp="1"/>
          </p:cNvSpPr>
          <p:nvPr/>
        </p:nvSpPr>
        <p:spPr>
          <a:xfrm>
            <a:off x="10325100" y="3495675"/>
            <a:ext cx="1371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97.7%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17756C8-2DE2-4ECE-922B-F17E3F1AEC47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3143250" cy="952500"/>
          </a:xfrm>
          <a:prstGeom prst="rect">
            <a:avLst/>
          </a:prstGeom>
          <a:solidFill>
            <a:srgbClr val="DDE7F0"/>
          </a:solidFill>
          <a:ln w="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3B1408-33BE-4C04-B745-B7A360F223D8}"/>
              </a:ext>
            </a:extLst>
          </p:cNvPr>
          <p:cNvSpPr>
            <a:spLocks noGrp="1"/>
          </p:cNvSpPr>
          <p:nvPr/>
        </p:nvSpPr>
        <p:spPr>
          <a:xfrm>
            <a:off x="1257300" y="4524375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GPT-4o vs Sonnet 4.6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7E20517-C280-4FA1-A500-25FE31F65F79}"/>
              </a:ext>
            </a:extLst>
          </p:cNvPr>
          <p:cNvSpPr>
            <a:spLocks noGrp="1"/>
          </p:cNvSpPr>
          <p:nvPr/>
        </p:nvSpPr>
        <p:spPr>
          <a:xfrm>
            <a:off x="1285875" y="4819650"/>
            <a:ext cx="23336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Δ V_b = -0.0512</a:t>
            </a:r>
          </a:p>
          <a:p>
            <a:pPr algn="l">
              <a:def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Δ V_agent = -0.0172</a:t>
            </a:r>
          </a:p>
          <a:p>
            <a:pPr algn="l">
              <a:def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Δ effect = +0.0341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5F0DC12-707C-44D8-B268-61A6C1C828EF}"/>
              </a:ext>
            </a:extLst>
          </p:cNvPr>
          <p:cNvSpPr>
            <a:spLocks noGrp="1"/>
          </p:cNvSpPr>
          <p:nvPr/>
        </p:nvSpPr>
        <p:spPr>
          <a:xfrm>
            <a:off x="4572000" y="4333875"/>
            <a:ext cx="6286500" cy="952500"/>
          </a:xfrm>
          <a:prstGeom prst="rect">
            <a:avLst/>
          </a:prstGeom>
          <a:solidFill>
            <a:srgbClr val="F2DFD4"/>
          </a:solidFill>
          <a:ln w="0">
            <a:solidFill>
              <a:srgbClr val="F2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CD82A45-91C0-4782-A67F-C734C89BFDCD}"/>
              </a:ext>
            </a:extLst>
          </p:cNvPr>
          <p:cNvSpPr>
            <a:spLocks noGrp="1"/>
          </p:cNvSpPr>
          <p:nvPr/>
        </p:nvSpPr>
        <p:spPr>
          <a:xfrm>
            <a:off x="4810125" y="4524375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解释口径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750395D-C5C0-469B-82C5-E861059367C1}"/>
              </a:ext>
            </a:extLst>
          </p:cNvPr>
          <p:cNvSpPr>
            <a:spLocks noGrp="1"/>
          </p:cNvSpPr>
          <p:nvPr/>
        </p:nvSpPr>
        <p:spPr>
          <a:xfrm>
            <a:off x="5905500" y="4514850"/>
            <a:ext cx="46196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Sonnet judge 更一致地偏向 agent action；这不一定是 self-preference removal，也可能是 cross-vendor preference 或对格式/完整性的不同偏好。</a:t>
            </a:r>
          </a:p>
        </p:txBody>
      </p:sp>
    </p:spTree>
    <p:extLst>
      <p:ext uri="{BB962C8B-B14F-4D97-AF65-F5344CB8AC3E}">
        <p14:creationId xmlns:p14="http://schemas.microsoft.com/office/powerpoint/2010/main" val="698115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1DA6A094-DD14-461F-8AF8-037E23FEFE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318861C-C9B3-4B11-A8AF-8D2A562624EF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3BA68D1-B5F0-4850-AB3A-CDC01F4229A5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OPE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82B5FE-FAE7-41AF-9B38-11559DD9FE8A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在 OpenAI embedding 下，GPT-4o 与 Sonnet 4.6 都显示 MIPS 是三者里最稳的 estimator。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834E89-338B-42F0-87F3-33FF3B359CA2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表中数值均为 100-bootstrap run；六个 CI 都没有覆盖 V_true(agent)，说明 bias dominates variance。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77A99-1769-4EA5-9BB4-CFD1F95CF943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97976F-C630-4BB6-89F2-2D52F1FDB05B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docs/phase5_main_experiment.md; docs/phase5_sonnet46_judge_ablation.md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6C0D19-01BB-4458-8203-58978CB450E6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719946-3DC8-468B-91D3-67D6A17EE253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1000125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E3B40E-6D6C-4B4A-B6E4-88DAC550E4C9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8477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Estimator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5F40C6-2ABE-4873-AC81-EDE316E5A367}"/>
              </a:ext>
            </a:extLst>
          </p:cNvPr>
          <p:cNvSpPr>
            <a:spLocks noGrp="1"/>
          </p:cNvSpPr>
          <p:nvPr/>
        </p:nvSpPr>
        <p:spPr>
          <a:xfrm>
            <a:off x="1457325" y="1952625"/>
            <a:ext cx="1285875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9883CF-4C15-49DB-B26D-B86BBA46CEFF}"/>
              </a:ext>
            </a:extLst>
          </p:cNvPr>
          <p:cNvSpPr>
            <a:spLocks noGrp="1"/>
          </p:cNvSpPr>
          <p:nvPr/>
        </p:nvSpPr>
        <p:spPr>
          <a:xfrm>
            <a:off x="1533525" y="2028825"/>
            <a:ext cx="11334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GPT Vhat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B234D6-9771-4954-AE42-CBBFB82732F8}"/>
              </a:ext>
            </a:extLst>
          </p:cNvPr>
          <p:cNvSpPr>
            <a:spLocks noGrp="1"/>
          </p:cNvSpPr>
          <p:nvPr/>
        </p:nvSpPr>
        <p:spPr>
          <a:xfrm>
            <a:off x="2743200" y="1952625"/>
            <a:ext cx="11430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538C45-953E-4968-AC55-26BBA4D60909}"/>
              </a:ext>
            </a:extLst>
          </p:cNvPr>
          <p:cNvSpPr>
            <a:spLocks noGrp="1"/>
          </p:cNvSpPr>
          <p:nvPr/>
        </p:nvSpPr>
        <p:spPr>
          <a:xfrm>
            <a:off x="2819400" y="2028825"/>
            <a:ext cx="99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GPT rel bias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C4E3FA-419B-4D5F-8698-D6C678929FBD}"/>
              </a:ext>
            </a:extLst>
          </p:cNvPr>
          <p:cNvSpPr>
            <a:spLocks noGrp="1"/>
          </p:cNvSpPr>
          <p:nvPr/>
        </p:nvSpPr>
        <p:spPr>
          <a:xfrm>
            <a:off x="3886200" y="1952625"/>
            <a:ext cx="1095375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4F15B9-4013-4E94-826F-E413AC845BA2}"/>
              </a:ext>
            </a:extLst>
          </p:cNvPr>
          <p:cNvSpPr>
            <a:spLocks noGrp="1"/>
          </p:cNvSpPr>
          <p:nvPr/>
        </p:nvSpPr>
        <p:spPr>
          <a:xfrm>
            <a:off x="3962400" y="2028825"/>
            <a:ext cx="9429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GPT RMSE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282782-CE5D-4EAE-A1A9-49C98DFDEC6E}"/>
              </a:ext>
            </a:extLst>
          </p:cNvPr>
          <p:cNvSpPr>
            <a:spLocks noGrp="1"/>
          </p:cNvSpPr>
          <p:nvPr/>
        </p:nvSpPr>
        <p:spPr>
          <a:xfrm>
            <a:off x="4981575" y="1952625"/>
            <a:ext cx="9525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810187-56EC-404C-B51E-07398EE68E7F}"/>
              </a:ext>
            </a:extLst>
          </p:cNvPr>
          <p:cNvSpPr>
            <a:spLocks noGrp="1"/>
          </p:cNvSpPr>
          <p:nvPr/>
        </p:nvSpPr>
        <p:spPr>
          <a:xfrm>
            <a:off x="5057775" y="202882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GPT Dir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6DBAF8-4010-4F58-BBA8-FB843E362BEA}"/>
              </a:ext>
            </a:extLst>
          </p:cNvPr>
          <p:cNvSpPr>
            <a:spLocks noGrp="1"/>
          </p:cNvSpPr>
          <p:nvPr/>
        </p:nvSpPr>
        <p:spPr>
          <a:xfrm>
            <a:off x="5934075" y="1952625"/>
            <a:ext cx="1285875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D8508B-C230-4372-BE6E-F99B1EAE7C1E}"/>
              </a:ext>
            </a:extLst>
          </p:cNvPr>
          <p:cNvSpPr>
            <a:spLocks noGrp="1"/>
          </p:cNvSpPr>
          <p:nvPr/>
        </p:nvSpPr>
        <p:spPr>
          <a:xfrm>
            <a:off x="6010275" y="2028825"/>
            <a:ext cx="11334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Sonnet Vhat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FA5606-4713-40BE-8F41-D998324D9D89}"/>
              </a:ext>
            </a:extLst>
          </p:cNvPr>
          <p:cNvSpPr>
            <a:spLocks noGrp="1"/>
          </p:cNvSpPr>
          <p:nvPr/>
        </p:nvSpPr>
        <p:spPr>
          <a:xfrm>
            <a:off x="7219950" y="1952625"/>
            <a:ext cx="11430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145028-A8A2-426E-B9CA-52BFB0101EFC}"/>
              </a:ext>
            </a:extLst>
          </p:cNvPr>
          <p:cNvSpPr>
            <a:spLocks noGrp="1"/>
          </p:cNvSpPr>
          <p:nvPr/>
        </p:nvSpPr>
        <p:spPr>
          <a:xfrm>
            <a:off x="7296150" y="2028825"/>
            <a:ext cx="99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Sonnet rel bias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66E496-8425-4635-ADF5-56E19895CABE}"/>
              </a:ext>
            </a:extLst>
          </p:cNvPr>
          <p:cNvSpPr>
            <a:spLocks noGrp="1"/>
          </p:cNvSpPr>
          <p:nvPr/>
        </p:nvSpPr>
        <p:spPr>
          <a:xfrm>
            <a:off x="8362950" y="1952625"/>
            <a:ext cx="1095375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CF0512-8793-4EFA-A469-D91013A12118}"/>
              </a:ext>
            </a:extLst>
          </p:cNvPr>
          <p:cNvSpPr>
            <a:spLocks noGrp="1"/>
          </p:cNvSpPr>
          <p:nvPr/>
        </p:nvSpPr>
        <p:spPr>
          <a:xfrm>
            <a:off x="8439150" y="2028825"/>
            <a:ext cx="9429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Sonnet RMSE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73EFC7-3298-41F6-A2B9-54E7CE1614A3}"/>
              </a:ext>
            </a:extLst>
          </p:cNvPr>
          <p:cNvSpPr>
            <a:spLocks noGrp="1"/>
          </p:cNvSpPr>
          <p:nvPr/>
        </p:nvSpPr>
        <p:spPr>
          <a:xfrm>
            <a:off x="9458325" y="1952625"/>
            <a:ext cx="9525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CEAF5F-9346-4158-90D3-193F0CA44B4B}"/>
              </a:ext>
            </a:extLst>
          </p:cNvPr>
          <p:cNvSpPr>
            <a:spLocks noGrp="1"/>
          </p:cNvSpPr>
          <p:nvPr/>
        </p:nvSpPr>
        <p:spPr>
          <a:xfrm>
            <a:off x="9534525" y="202882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Sonnet Dir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9A7E11-2F42-4A63-B789-AAA8857743C2}"/>
              </a:ext>
            </a:extLst>
          </p:cNvPr>
          <p:cNvSpPr>
            <a:spLocks noGrp="1"/>
          </p:cNvSpPr>
          <p:nvPr/>
        </p:nvSpPr>
        <p:spPr>
          <a:xfrm>
            <a:off x="457200" y="2352675"/>
            <a:ext cx="10001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76744F-4BF0-43E4-8E2D-D78CE46FAC9A}"/>
              </a:ext>
            </a:extLst>
          </p:cNvPr>
          <p:cNvSpPr>
            <a:spLocks noGrp="1"/>
          </p:cNvSpPr>
          <p:nvPr/>
        </p:nvSpPr>
        <p:spPr>
          <a:xfrm>
            <a:off x="533400" y="2428875"/>
            <a:ext cx="8477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DM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4C3DFE-4CFE-4747-9101-AF2DCD547477}"/>
              </a:ext>
            </a:extLst>
          </p:cNvPr>
          <p:cNvSpPr>
            <a:spLocks noGrp="1"/>
          </p:cNvSpPr>
          <p:nvPr/>
        </p:nvSpPr>
        <p:spPr>
          <a:xfrm>
            <a:off x="1457325" y="2352675"/>
            <a:ext cx="12858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B4AEB2-FE72-4FEB-BBF2-4B56549F944F}"/>
              </a:ext>
            </a:extLst>
          </p:cNvPr>
          <p:cNvSpPr>
            <a:spLocks noGrp="1"/>
          </p:cNvSpPr>
          <p:nvPr/>
        </p:nvSpPr>
        <p:spPr>
          <a:xfrm>
            <a:off x="1533525" y="2428875"/>
            <a:ext cx="1133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0.6884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4F4425-3224-44FF-8E34-5FFC5B18A8EF}"/>
              </a:ext>
            </a:extLst>
          </p:cNvPr>
          <p:cNvSpPr>
            <a:spLocks noGrp="1"/>
          </p:cNvSpPr>
          <p:nvPr/>
        </p:nvSpPr>
        <p:spPr>
          <a:xfrm>
            <a:off x="2743200" y="2352675"/>
            <a:ext cx="1143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48B452-62EA-4FD4-B848-F64BB7120963}"/>
              </a:ext>
            </a:extLst>
          </p:cNvPr>
          <p:cNvSpPr>
            <a:spLocks noGrp="1"/>
          </p:cNvSpPr>
          <p:nvPr/>
        </p:nvSpPr>
        <p:spPr>
          <a:xfrm>
            <a:off x="2819400" y="2428875"/>
            <a:ext cx="990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-19.8%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E3900E-B2A0-4DEE-96D1-758ED062D9B9}"/>
              </a:ext>
            </a:extLst>
          </p:cNvPr>
          <p:cNvSpPr>
            <a:spLocks noGrp="1"/>
          </p:cNvSpPr>
          <p:nvPr/>
        </p:nvSpPr>
        <p:spPr>
          <a:xfrm>
            <a:off x="3886200" y="2352675"/>
            <a:ext cx="10953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1C9803-FF66-4798-AF57-7A690B42D10C}"/>
              </a:ext>
            </a:extLst>
          </p:cNvPr>
          <p:cNvSpPr>
            <a:spLocks noGrp="1"/>
          </p:cNvSpPr>
          <p:nvPr/>
        </p:nvSpPr>
        <p:spPr>
          <a:xfrm>
            <a:off x="3962400" y="2428875"/>
            <a:ext cx="942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0.1789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9424340-C417-45BC-9D95-5438C1B5A1C8}"/>
              </a:ext>
            </a:extLst>
          </p:cNvPr>
          <p:cNvSpPr>
            <a:spLocks noGrp="1"/>
          </p:cNvSpPr>
          <p:nvPr/>
        </p:nvSpPr>
        <p:spPr>
          <a:xfrm>
            <a:off x="4981575" y="2352675"/>
            <a:ext cx="952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A6E557-CBE9-4550-8167-80286ECB61EC}"/>
              </a:ext>
            </a:extLst>
          </p:cNvPr>
          <p:cNvSpPr>
            <a:spLocks noGrp="1"/>
          </p:cNvSpPr>
          <p:nvPr/>
        </p:nvSpPr>
        <p:spPr>
          <a:xfrm>
            <a:off x="5057775" y="2428875"/>
            <a:ext cx="800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96%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8D9E16-FA44-4F43-BF08-694EAEBA1723}"/>
              </a:ext>
            </a:extLst>
          </p:cNvPr>
          <p:cNvSpPr>
            <a:spLocks noGrp="1"/>
          </p:cNvSpPr>
          <p:nvPr/>
        </p:nvSpPr>
        <p:spPr>
          <a:xfrm>
            <a:off x="5934075" y="2352675"/>
            <a:ext cx="12858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6330672-6B4E-470A-AD46-0C42AD64E438}"/>
              </a:ext>
            </a:extLst>
          </p:cNvPr>
          <p:cNvSpPr>
            <a:spLocks noGrp="1"/>
          </p:cNvSpPr>
          <p:nvPr/>
        </p:nvSpPr>
        <p:spPr>
          <a:xfrm>
            <a:off x="6010275" y="2428875"/>
            <a:ext cx="1133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0.6364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49822E-D682-430E-AA24-35F1EC05361F}"/>
              </a:ext>
            </a:extLst>
          </p:cNvPr>
          <p:cNvSpPr>
            <a:spLocks noGrp="1"/>
          </p:cNvSpPr>
          <p:nvPr/>
        </p:nvSpPr>
        <p:spPr>
          <a:xfrm>
            <a:off x="7219950" y="2352675"/>
            <a:ext cx="1143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3B12A8-A90D-4BD8-904F-E90E8CC588BC}"/>
              </a:ext>
            </a:extLst>
          </p:cNvPr>
          <p:cNvSpPr>
            <a:spLocks noGrp="1"/>
          </p:cNvSpPr>
          <p:nvPr/>
        </p:nvSpPr>
        <p:spPr>
          <a:xfrm>
            <a:off x="7296150" y="2428875"/>
            <a:ext cx="990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-24.4%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0FC0AB0-1704-4A52-A8DE-60D638C59F81}"/>
              </a:ext>
            </a:extLst>
          </p:cNvPr>
          <p:cNvSpPr>
            <a:spLocks noGrp="1"/>
          </p:cNvSpPr>
          <p:nvPr/>
        </p:nvSpPr>
        <p:spPr>
          <a:xfrm>
            <a:off x="8362950" y="2352675"/>
            <a:ext cx="10953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3DC04A-66D8-486E-9B44-EA95603D245E}"/>
              </a:ext>
            </a:extLst>
          </p:cNvPr>
          <p:cNvSpPr>
            <a:spLocks noGrp="1"/>
          </p:cNvSpPr>
          <p:nvPr/>
        </p:nvSpPr>
        <p:spPr>
          <a:xfrm>
            <a:off x="8439150" y="2428875"/>
            <a:ext cx="942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0.2111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E19A40-04C2-41C7-8F06-CCC5748910A0}"/>
              </a:ext>
            </a:extLst>
          </p:cNvPr>
          <p:cNvSpPr>
            <a:spLocks noGrp="1"/>
          </p:cNvSpPr>
          <p:nvPr/>
        </p:nvSpPr>
        <p:spPr>
          <a:xfrm>
            <a:off x="9458325" y="2352675"/>
            <a:ext cx="952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E94CC9-18B9-45BD-8627-08C0AC592A30}"/>
              </a:ext>
            </a:extLst>
          </p:cNvPr>
          <p:cNvSpPr>
            <a:spLocks noGrp="1"/>
          </p:cNvSpPr>
          <p:nvPr/>
        </p:nvSpPr>
        <p:spPr>
          <a:xfrm>
            <a:off x="9534525" y="2428875"/>
            <a:ext cx="800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91%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9582B79-1ABA-4D8C-A357-5D2C707E5FCE}"/>
              </a:ext>
            </a:extLst>
          </p:cNvPr>
          <p:cNvSpPr>
            <a:spLocks noGrp="1"/>
          </p:cNvSpPr>
          <p:nvPr/>
        </p:nvSpPr>
        <p:spPr>
          <a:xfrm>
            <a:off x="457200" y="2924175"/>
            <a:ext cx="1000125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6116041-32D0-4A48-92A5-6B1BEB7197DB}"/>
              </a:ext>
            </a:extLst>
          </p:cNvPr>
          <p:cNvSpPr>
            <a:spLocks noGrp="1"/>
          </p:cNvSpPr>
          <p:nvPr/>
        </p:nvSpPr>
        <p:spPr>
          <a:xfrm>
            <a:off x="533400" y="3000375"/>
            <a:ext cx="8477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2AB04F-28D6-4893-8E1A-D73409909BCA}"/>
              </a:ext>
            </a:extLst>
          </p:cNvPr>
          <p:cNvSpPr>
            <a:spLocks noGrp="1"/>
          </p:cNvSpPr>
          <p:nvPr/>
        </p:nvSpPr>
        <p:spPr>
          <a:xfrm>
            <a:off x="1457325" y="2924175"/>
            <a:ext cx="1285875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DFF880-A2D6-4A4B-981C-16AE95965075}"/>
              </a:ext>
            </a:extLst>
          </p:cNvPr>
          <p:cNvSpPr>
            <a:spLocks noGrp="1"/>
          </p:cNvSpPr>
          <p:nvPr/>
        </p:nvSpPr>
        <p:spPr>
          <a:xfrm>
            <a:off x="1533525" y="3000375"/>
            <a:ext cx="1133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0.7494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2A3FF6-488B-427C-85AB-0FD1B3003423}"/>
              </a:ext>
            </a:extLst>
          </p:cNvPr>
          <p:cNvSpPr>
            <a:spLocks noGrp="1"/>
          </p:cNvSpPr>
          <p:nvPr/>
        </p:nvSpPr>
        <p:spPr>
          <a:xfrm>
            <a:off x="2743200" y="2924175"/>
            <a:ext cx="114300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47F80E-258E-489D-AD55-45AC4522A8AF}"/>
              </a:ext>
            </a:extLst>
          </p:cNvPr>
          <p:cNvSpPr>
            <a:spLocks noGrp="1"/>
          </p:cNvSpPr>
          <p:nvPr/>
        </p:nvSpPr>
        <p:spPr>
          <a:xfrm>
            <a:off x="2819400" y="3000375"/>
            <a:ext cx="990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-12.7%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25DEAE6-8082-4492-AADC-917BE0A9F48D}"/>
              </a:ext>
            </a:extLst>
          </p:cNvPr>
          <p:cNvSpPr>
            <a:spLocks noGrp="1"/>
          </p:cNvSpPr>
          <p:nvPr/>
        </p:nvSpPr>
        <p:spPr>
          <a:xfrm>
            <a:off x="3886200" y="2924175"/>
            <a:ext cx="1095375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03C86A2-2EF6-478C-8B15-C91283301748}"/>
              </a:ext>
            </a:extLst>
          </p:cNvPr>
          <p:cNvSpPr>
            <a:spLocks noGrp="1"/>
          </p:cNvSpPr>
          <p:nvPr/>
        </p:nvSpPr>
        <p:spPr>
          <a:xfrm>
            <a:off x="3962400" y="3000375"/>
            <a:ext cx="942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0.1068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7C1612A-9B58-49D6-AA02-5862A71A0404}"/>
              </a:ext>
            </a:extLst>
          </p:cNvPr>
          <p:cNvSpPr>
            <a:spLocks noGrp="1"/>
          </p:cNvSpPr>
          <p:nvPr/>
        </p:nvSpPr>
        <p:spPr>
          <a:xfrm>
            <a:off x="4981575" y="2924175"/>
            <a:ext cx="95250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14F783-94FA-4FE9-9187-E3C8B9189FED}"/>
              </a:ext>
            </a:extLst>
          </p:cNvPr>
          <p:cNvSpPr>
            <a:spLocks noGrp="1"/>
          </p:cNvSpPr>
          <p:nvPr/>
        </p:nvSpPr>
        <p:spPr>
          <a:xfrm>
            <a:off x="5057775" y="3000375"/>
            <a:ext cx="800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9793B30-0F3D-4515-8FF3-243A3B00046A}"/>
              </a:ext>
            </a:extLst>
          </p:cNvPr>
          <p:cNvSpPr>
            <a:spLocks noGrp="1"/>
          </p:cNvSpPr>
          <p:nvPr/>
        </p:nvSpPr>
        <p:spPr>
          <a:xfrm>
            <a:off x="5934075" y="2924175"/>
            <a:ext cx="1285875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303372A-2BDB-42FA-A9CB-4987B1C35983}"/>
              </a:ext>
            </a:extLst>
          </p:cNvPr>
          <p:cNvSpPr>
            <a:spLocks noGrp="1"/>
          </p:cNvSpPr>
          <p:nvPr/>
        </p:nvSpPr>
        <p:spPr>
          <a:xfrm>
            <a:off x="6010275" y="3000375"/>
            <a:ext cx="1133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0.6850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0A8C6-37D2-4B7C-A410-76EF118F7109}"/>
              </a:ext>
            </a:extLst>
          </p:cNvPr>
          <p:cNvSpPr>
            <a:spLocks noGrp="1"/>
          </p:cNvSpPr>
          <p:nvPr/>
        </p:nvSpPr>
        <p:spPr>
          <a:xfrm>
            <a:off x="7219950" y="2924175"/>
            <a:ext cx="114300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CDCE9E2-E0C9-4701-BF3F-9A77C5F1BB8C}"/>
              </a:ext>
            </a:extLst>
          </p:cNvPr>
          <p:cNvSpPr>
            <a:spLocks noGrp="1"/>
          </p:cNvSpPr>
          <p:nvPr/>
        </p:nvSpPr>
        <p:spPr>
          <a:xfrm>
            <a:off x="7296150" y="3000375"/>
            <a:ext cx="990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-18.6%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AABFD6F-C1D7-4350-A417-C247A1BD488F}"/>
              </a:ext>
            </a:extLst>
          </p:cNvPr>
          <p:cNvSpPr>
            <a:spLocks noGrp="1"/>
          </p:cNvSpPr>
          <p:nvPr/>
        </p:nvSpPr>
        <p:spPr>
          <a:xfrm>
            <a:off x="8362950" y="2924175"/>
            <a:ext cx="1095375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DBA642A-D1F2-4575-815E-792BB26F3C9B}"/>
              </a:ext>
            </a:extLst>
          </p:cNvPr>
          <p:cNvSpPr>
            <a:spLocks noGrp="1"/>
          </p:cNvSpPr>
          <p:nvPr/>
        </p:nvSpPr>
        <p:spPr>
          <a:xfrm>
            <a:off x="8439150" y="3000375"/>
            <a:ext cx="942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0.1526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1D43281-1CCF-4368-B6B9-C29E40233366}"/>
              </a:ext>
            </a:extLst>
          </p:cNvPr>
          <p:cNvSpPr>
            <a:spLocks noGrp="1"/>
          </p:cNvSpPr>
          <p:nvPr/>
        </p:nvSpPr>
        <p:spPr>
          <a:xfrm>
            <a:off x="9458325" y="2924175"/>
            <a:ext cx="952500" cy="5715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86CD07-C1E7-423D-95E1-35D660FD820E}"/>
              </a:ext>
            </a:extLst>
          </p:cNvPr>
          <p:cNvSpPr>
            <a:spLocks noGrp="1"/>
          </p:cNvSpPr>
          <p:nvPr/>
        </p:nvSpPr>
        <p:spPr>
          <a:xfrm>
            <a:off x="9534525" y="3000375"/>
            <a:ext cx="800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99%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20C1B75-F3EA-4B11-907E-E407E39F4763}"/>
              </a:ext>
            </a:extLst>
          </p:cNvPr>
          <p:cNvSpPr>
            <a:spLocks noGrp="1"/>
          </p:cNvSpPr>
          <p:nvPr/>
        </p:nvSpPr>
        <p:spPr>
          <a:xfrm>
            <a:off x="457200" y="3495675"/>
            <a:ext cx="10001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7B1FC5C-FEB4-444C-B76C-6E617A074767}"/>
              </a:ext>
            </a:extLst>
          </p:cNvPr>
          <p:cNvSpPr>
            <a:spLocks noGrp="1"/>
          </p:cNvSpPr>
          <p:nvPr/>
        </p:nvSpPr>
        <p:spPr>
          <a:xfrm>
            <a:off x="533400" y="3571875"/>
            <a:ext cx="8477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OffCEM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20C1A10-D710-4922-B831-58A143165C20}"/>
              </a:ext>
            </a:extLst>
          </p:cNvPr>
          <p:cNvSpPr>
            <a:spLocks noGrp="1"/>
          </p:cNvSpPr>
          <p:nvPr/>
        </p:nvSpPr>
        <p:spPr>
          <a:xfrm>
            <a:off x="1457325" y="3495675"/>
            <a:ext cx="12858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FEA02A4-3461-43A9-B8CE-D9BAE21FC6B7}"/>
              </a:ext>
            </a:extLst>
          </p:cNvPr>
          <p:cNvSpPr>
            <a:spLocks noGrp="1"/>
          </p:cNvSpPr>
          <p:nvPr/>
        </p:nvSpPr>
        <p:spPr>
          <a:xfrm>
            <a:off x="1533525" y="3571875"/>
            <a:ext cx="1133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0.6921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8B300CE-9F5F-4079-9E3F-FE14DD41A9A1}"/>
              </a:ext>
            </a:extLst>
          </p:cNvPr>
          <p:cNvSpPr>
            <a:spLocks noGrp="1"/>
          </p:cNvSpPr>
          <p:nvPr/>
        </p:nvSpPr>
        <p:spPr>
          <a:xfrm>
            <a:off x="2743200" y="3495675"/>
            <a:ext cx="1143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B22BE30-9266-46E4-B5FF-8CC80DDB91A3}"/>
              </a:ext>
            </a:extLst>
          </p:cNvPr>
          <p:cNvSpPr>
            <a:spLocks noGrp="1"/>
          </p:cNvSpPr>
          <p:nvPr/>
        </p:nvSpPr>
        <p:spPr>
          <a:xfrm>
            <a:off x="2819400" y="3571875"/>
            <a:ext cx="990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-19.4%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1A4C17A-E318-4AC9-A579-EDF351BEB096}"/>
              </a:ext>
            </a:extLst>
          </p:cNvPr>
          <p:cNvSpPr>
            <a:spLocks noGrp="1"/>
          </p:cNvSpPr>
          <p:nvPr/>
        </p:nvSpPr>
        <p:spPr>
          <a:xfrm>
            <a:off x="3886200" y="3495675"/>
            <a:ext cx="10953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3B77B44-B9A4-4087-9239-611980E0F1BE}"/>
              </a:ext>
            </a:extLst>
          </p:cNvPr>
          <p:cNvSpPr>
            <a:spLocks noGrp="1"/>
          </p:cNvSpPr>
          <p:nvPr/>
        </p:nvSpPr>
        <p:spPr>
          <a:xfrm>
            <a:off x="3962400" y="3571875"/>
            <a:ext cx="942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0.1772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976B6A0-B02A-48C4-BA2E-8E34B4D5A8C6}"/>
              </a:ext>
            </a:extLst>
          </p:cNvPr>
          <p:cNvSpPr>
            <a:spLocks noGrp="1"/>
          </p:cNvSpPr>
          <p:nvPr/>
        </p:nvSpPr>
        <p:spPr>
          <a:xfrm>
            <a:off x="4981575" y="3495675"/>
            <a:ext cx="952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48E794E-0638-4FEF-8A10-38AFF5B2D6A9}"/>
              </a:ext>
            </a:extLst>
          </p:cNvPr>
          <p:cNvSpPr>
            <a:spLocks noGrp="1"/>
          </p:cNvSpPr>
          <p:nvPr/>
        </p:nvSpPr>
        <p:spPr>
          <a:xfrm>
            <a:off x="5057775" y="3571875"/>
            <a:ext cx="800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96%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DC0421E-0FFE-4585-908F-CF92775420ED}"/>
              </a:ext>
            </a:extLst>
          </p:cNvPr>
          <p:cNvSpPr>
            <a:spLocks noGrp="1"/>
          </p:cNvSpPr>
          <p:nvPr/>
        </p:nvSpPr>
        <p:spPr>
          <a:xfrm>
            <a:off x="5934075" y="3495675"/>
            <a:ext cx="12858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151835F-6EB3-4A2D-A6BA-059836FA4A79}"/>
              </a:ext>
            </a:extLst>
          </p:cNvPr>
          <p:cNvSpPr>
            <a:spLocks noGrp="1"/>
          </p:cNvSpPr>
          <p:nvPr/>
        </p:nvSpPr>
        <p:spPr>
          <a:xfrm>
            <a:off x="6010275" y="3571875"/>
            <a:ext cx="1133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0.6427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89BD0ED-8741-4FA4-810F-4E36A0DD30CB}"/>
              </a:ext>
            </a:extLst>
          </p:cNvPr>
          <p:cNvSpPr>
            <a:spLocks noGrp="1"/>
          </p:cNvSpPr>
          <p:nvPr/>
        </p:nvSpPr>
        <p:spPr>
          <a:xfrm>
            <a:off x="7219950" y="3495675"/>
            <a:ext cx="1143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353205E-12D5-4858-9C50-01DF6B24AA58}"/>
              </a:ext>
            </a:extLst>
          </p:cNvPr>
          <p:cNvSpPr>
            <a:spLocks noGrp="1"/>
          </p:cNvSpPr>
          <p:nvPr/>
        </p:nvSpPr>
        <p:spPr>
          <a:xfrm>
            <a:off x="7296150" y="3571875"/>
            <a:ext cx="990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-23.6%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7FC8027-165A-4EB9-B9B3-BEE139F51513}"/>
              </a:ext>
            </a:extLst>
          </p:cNvPr>
          <p:cNvSpPr>
            <a:spLocks noGrp="1"/>
          </p:cNvSpPr>
          <p:nvPr/>
        </p:nvSpPr>
        <p:spPr>
          <a:xfrm>
            <a:off x="8362950" y="3495675"/>
            <a:ext cx="10953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825FAF5-3944-42F9-A8A3-300F38E346FD}"/>
              </a:ext>
            </a:extLst>
          </p:cNvPr>
          <p:cNvSpPr>
            <a:spLocks noGrp="1"/>
          </p:cNvSpPr>
          <p:nvPr/>
        </p:nvSpPr>
        <p:spPr>
          <a:xfrm>
            <a:off x="8439150" y="3571875"/>
            <a:ext cx="9429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0.2088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FC141F1-653A-4B8D-9F7C-E549AEF0D248}"/>
              </a:ext>
            </a:extLst>
          </p:cNvPr>
          <p:cNvSpPr>
            <a:spLocks noGrp="1"/>
          </p:cNvSpPr>
          <p:nvPr/>
        </p:nvSpPr>
        <p:spPr>
          <a:xfrm>
            <a:off x="9458325" y="3495675"/>
            <a:ext cx="952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E92BA1B-B31F-4DD8-98AE-50A6C89DF3BE}"/>
              </a:ext>
            </a:extLst>
          </p:cNvPr>
          <p:cNvSpPr>
            <a:spLocks noGrp="1"/>
          </p:cNvSpPr>
          <p:nvPr/>
        </p:nvSpPr>
        <p:spPr>
          <a:xfrm>
            <a:off x="9534525" y="3571875"/>
            <a:ext cx="800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92%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C108B5-97DB-40CB-A95A-FD5E0F6BF9C9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4857750" cy="914400"/>
          </a:xfrm>
          <a:prstGeom prst="rect">
            <a:avLst/>
          </a:prstGeom>
          <a:solidFill>
            <a:srgbClr val="DCEBDF"/>
          </a:solidFill>
          <a:ln w="0">
            <a:solidFill>
              <a:srgbClr val="DCEB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79D3D6C-A124-480A-AAE9-F62E61DC8283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rPr>
              <a:t>稳定发现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6871742-583F-4864-A65A-CF1B41640DFD}"/>
              </a:ext>
            </a:extLst>
          </p:cNvPr>
          <p:cNvSpPr>
            <a:spLocks noGrp="1"/>
          </p:cNvSpPr>
          <p:nvPr/>
        </p:nvSpPr>
        <p:spPr>
          <a:xfrm>
            <a:off x="2247900" y="4276725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MIPS 在两种 judge 下都是最低 RMSE / 最高 direction rate；estimator ranking 基本没有被 judge swap 颠覆。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9CA533A-51EA-4925-AAE6-6FB3F6626A1D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4857750" cy="914400"/>
          </a:xfrm>
          <a:prstGeom prst="rect">
            <a:avLst/>
          </a:prstGeom>
          <a:solidFill>
            <a:srgbClr val="F2DFD4"/>
          </a:solidFill>
          <a:ln w="0">
            <a:solidFill>
              <a:srgbClr val="F2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601D582-D8A4-4A89-A579-72CF092BA599}"/>
              </a:ext>
            </a:extLst>
          </p:cNvPr>
          <p:cNvSpPr>
            <a:spLocks noGrp="1"/>
          </p:cNvSpPr>
          <p:nvPr/>
        </p:nvSpPr>
        <p:spPr>
          <a:xfrm>
            <a:off x="6438900" y="42862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仍然失败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8CB4296-ABBE-4730-8814-C0D056E311AA}"/>
              </a:ext>
            </a:extLst>
          </p:cNvPr>
          <p:cNvSpPr>
            <a:spLocks noGrp="1"/>
          </p:cNvSpPr>
          <p:nvPr/>
        </p:nvSpPr>
        <p:spPr>
          <a:xfrm>
            <a:off x="7581900" y="4276725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所有 estimator 仍系统性低估 V_agent；CI coverage 失败不是 judge 独有问题，更像 positivity / support bias。</a:t>
            </a:r>
          </a:p>
        </p:txBody>
      </p:sp>
    </p:spTree>
    <p:extLst>
      <p:ext uri="{BB962C8B-B14F-4D97-AF65-F5344CB8AC3E}">
        <p14:creationId xmlns:p14="http://schemas.microsoft.com/office/powerpoint/2010/main" val="349033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01D827C-61FA-4AD9-B622-AFB2A78CF5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E39FDAE-532F-4339-9E4E-FAE3BBDD1557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D9FD7CB-4EC8-4218-9FC3-E7359C367CF3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READOUT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E9CA9D-C825-424E-BAF6-F97E3C5A5FB1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Judge swap 改变 score scale，但没有改变主要工程结论。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F5C25-6627-4BC3-899E-6F0D7CB5EAC6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要把这个结果解释成 sensitivity analysis，而不是直接宣布哪个 judge 更“真实”。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20FC69-071A-4BF5-8D10-56211274420F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3724F2-E5CB-4AE7-A6DF-EE116F50EAA2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docs/phase5_sonnet46_judge_ablation.md Key findings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446749-F9F5-4335-89D5-8CC66C57F795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62D841-CDE2-4D97-BDF8-C76B8B6F2434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V_b shift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3BB716-3F87-4965-9418-F28D48A457F5}"/>
              </a:ext>
            </a:extLst>
          </p:cNvPr>
          <p:cNvSpPr>
            <a:spLocks noGrp="1"/>
          </p:cNvSpPr>
          <p:nvPr/>
        </p:nvSpPr>
        <p:spPr>
          <a:xfrm>
            <a:off x="2762250" y="2219325"/>
            <a:ext cx="2190750" cy="114300"/>
          </a:xfrm>
          <a:prstGeom prst="rect">
            <a:avLst/>
          </a:prstGeom>
          <a:solidFill>
            <a:srgbClr val="ECE4D8"/>
          </a:solidFill>
          <a:ln w="0">
            <a:solidFill>
              <a:srgbClr val="EC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34451D-7C47-406D-9431-B16486938361}"/>
              </a:ext>
            </a:extLst>
          </p:cNvPr>
          <p:cNvSpPr>
            <a:spLocks noGrp="1"/>
          </p:cNvSpPr>
          <p:nvPr/>
        </p:nvSpPr>
        <p:spPr>
          <a:xfrm>
            <a:off x="2762250" y="2219325"/>
            <a:ext cx="1869440" cy="1143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574025-8BA5-4B7A-9693-0F9FA0499B5E}"/>
              </a:ext>
            </a:extLst>
          </p:cNvPr>
          <p:cNvSpPr>
            <a:spLocks noGrp="1"/>
          </p:cNvSpPr>
          <p:nvPr/>
        </p:nvSpPr>
        <p:spPr>
          <a:xfrm>
            <a:off x="5048250" y="21717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-0.051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79DFCE-F2DC-49B0-8E76-E47E624A7E85}"/>
              </a:ext>
            </a:extLst>
          </p:cNvPr>
          <p:cNvSpPr>
            <a:spLocks noGrp="1"/>
          </p:cNvSpPr>
          <p:nvPr/>
        </p:nvSpPr>
        <p:spPr>
          <a:xfrm>
            <a:off x="1143000" y="26670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V_agent shift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DF014B-8396-42F6-9AEB-54871A1F9B39}"/>
              </a:ext>
            </a:extLst>
          </p:cNvPr>
          <p:cNvSpPr>
            <a:spLocks noGrp="1"/>
          </p:cNvSpPr>
          <p:nvPr/>
        </p:nvSpPr>
        <p:spPr>
          <a:xfrm>
            <a:off x="2762250" y="2695575"/>
            <a:ext cx="2190750" cy="114300"/>
          </a:xfrm>
          <a:prstGeom prst="rect">
            <a:avLst/>
          </a:prstGeom>
          <a:solidFill>
            <a:srgbClr val="ECE4D8"/>
          </a:solidFill>
          <a:ln w="0">
            <a:solidFill>
              <a:srgbClr val="EC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36823-BBF2-41BD-92AF-D109AEFD8D2A}"/>
              </a:ext>
            </a:extLst>
          </p:cNvPr>
          <p:cNvSpPr>
            <a:spLocks noGrp="1"/>
          </p:cNvSpPr>
          <p:nvPr/>
        </p:nvSpPr>
        <p:spPr>
          <a:xfrm>
            <a:off x="2762250" y="2695575"/>
            <a:ext cx="628015" cy="114300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5EB1C3-1744-4101-92BF-69AA0824D1F8}"/>
              </a:ext>
            </a:extLst>
          </p:cNvPr>
          <p:cNvSpPr>
            <a:spLocks noGrp="1"/>
          </p:cNvSpPr>
          <p:nvPr/>
        </p:nvSpPr>
        <p:spPr>
          <a:xfrm>
            <a:off x="5048250" y="26479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-0.017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47167B-2A69-4E77-B163-6F90ED24F53B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Effect increase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0D331C-356E-4778-AA3B-1CA5360E559B}"/>
              </a:ext>
            </a:extLst>
          </p:cNvPr>
          <p:cNvSpPr>
            <a:spLocks noGrp="1"/>
          </p:cNvSpPr>
          <p:nvPr/>
        </p:nvSpPr>
        <p:spPr>
          <a:xfrm>
            <a:off x="2762250" y="3171825"/>
            <a:ext cx="2190750" cy="114300"/>
          </a:xfrm>
          <a:prstGeom prst="rect">
            <a:avLst/>
          </a:prstGeom>
          <a:solidFill>
            <a:srgbClr val="ECE4D8"/>
          </a:solidFill>
          <a:ln w="0">
            <a:solidFill>
              <a:srgbClr val="EC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317794-7B05-4F28-BCDC-B61449DD8646}"/>
              </a:ext>
            </a:extLst>
          </p:cNvPr>
          <p:cNvSpPr>
            <a:spLocks noGrp="1"/>
          </p:cNvSpPr>
          <p:nvPr/>
        </p:nvSpPr>
        <p:spPr>
          <a:xfrm>
            <a:off x="2762250" y="3171825"/>
            <a:ext cx="1245076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B6A835-B84C-4D58-A5ED-CFDE69FCB4A5}"/>
              </a:ext>
            </a:extLst>
          </p:cNvPr>
          <p:cNvSpPr>
            <a:spLocks noGrp="1"/>
          </p:cNvSpPr>
          <p:nvPr/>
        </p:nvSpPr>
        <p:spPr>
          <a:xfrm>
            <a:off x="5048250" y="31242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+0.034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54B5FC-EF09-441A-8937-E6473FD69862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4857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0CE831-3E11-4E88-A4A5-DE636A29F65A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323850" cy="9906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1B4CF5-B0B8-4848-861D-8BD2DB23FBB5}"/>
              </a:ext>
            </a:extLst>
          </p:cNvPr>
          <p:cNvSpPr>
            <a:spLocks noGrp="1"/>
          </p:cNvSpPr>
          <p:nvPr/>
        </p:nvSpPr>
        <p:spPr>
          <a:xfrm>
            <a:off x="5857875" y="206692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AA34ED-79D5-43A5-AEDB-F25D5DCBC048}"/>
              </a:ext>
            </a:extLst>
          </p:cNvPr>
          <p:cNvSpPr>
            <a:spLocks noGrp="1"/>
          </p:cNvSpPr>
          <p:nvPr/>
        </p:nvSpPr>
        <p:spPr>
          <a:xfrm>
            <a:off x="6267450" y="2066925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Sonnet 更严格地压低 clinician baseline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5A0AD6-03ED-4FCE-90F9-FE8FCB013349}"/>
              </a:ext>
            </a:extLst>
          </p:cNvPr>
          <p:cNvSpPr>
            <a:spLocks noGrp="1"/>
          </p:cNvSpPr>
          <p:nvPr/>
        </p:nvSpPr>
        <p:spPr>
          <a:xfrm>
            <a:off x="6267450" y="2333625"/>
            <a:ext cx="4286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gap 变大主要来自 V_b 下降，而不是 agent 大幅上升。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FDFA8B-C72C-4163-9114-E60BF0A57160}"/>
              </a:ext>
            </a:extLst>
          </p:cNvPr>
          <p:cNvSpPr>
            <a:spLocks noGrp="1"/>
          </p:cNvSpPr>
          <p:nvPr/>
        </p:nvSpPr>
        <p:spPr>
          <a:xfrm>
            <a:off x="5810250" y="3114675"/>
            <a:ext cx="4857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A3F8CB-C3FF-4ED1-AB64-DF839AA3E058}"/>
              </a:ext>
            </a:extLst>
          </p:cNvPr>
          <p:cNvSpPr>
            <a:spLocks noGrp="1"/>
          </p:cNvSpPr>
          <p:nvPr/>
        </p:nvSpPr>
        <p:spPr>
          <a:xfrm>
            <a:off x="5810250" y="3114675"/>
            <a:ext cx="323850" cy="990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B4C5C9-09CD-4E43-877D-88FAAC12BD86}"/>
              </a:ext>
            </a:extLst>
          </p:cNvPr>
          <p:cNvSpPr>
            <a:spLocks noGrp="1"/>
          </p:cNvSpPr>
          <p:nvPr/>
        </p:nvSpPr>
        <p:spPr>
          <a:xfrm>
            <a:off x="5857875" y="322897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C83638-4D47-49E3-9C51-BE3763E735F9}"/>
              </a:ext>
            </a:extLst>
          </p:cNvPr>
          <p:cNvSpPr>
            <a:spLocks noGrp="1"/>
          </p:cNvSpPr>
          <p:nvPr/>
        </p:nvSpPr>
        <p:spPr>
          <a:xfrm>
            <a:off x="6267450" y="3228975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MIPS ranking transfer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54931B-70F9-4196-A008-5E10E7896F5B}"/>
              </a:ext>
            </a:extLst>
          </p:cNvPr>
          <p:cNvSpPr>
            <a:spLocks noGrp="1"/>
          </p:cNvSpPr>
          <p:nvPr/>
        </p:nvSpPr>
        <p:spPr>
          <a:xfrm>
            <a:off x="6267450" y="3495675"/>
            <a:ext cx="4286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OpenAI embedding 下 MIPS 从 GPT 到 Sonnet 都是最好的一组。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35B732-989F-44B0-A94B-C16575D50726}"/>
              </a:ext>
            </a:extLst>
          </p:cNvPr>
          <p:cNvSpPr>
            <a:spLocks noGrp="1"/>
          </p:cNvSpPr>
          <p:nvPr/>
        </p:nvSpPr>
        <p:spPr>
          <a:xfrm>
            <a:off x="5810250" y="4276725"/>
            <a:ext cx="4857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D9B9EC-A870-4787-ABD2-252247020010}"/>
              </a:ext>
            </a:extLst>
          </p:cNvPr>
          <p:cNvSpPr>
            <a:spLocks noGrp="1"/>
          </p:cNvSpPr>
          <p:nvPr/>
        </p:nvSpPr>
        <p:spPr>
          <a:xfrm>
            <a:off x="5810250" y="4276725"/>
            <a:ext cx="323850" cy="990600"/>
          </a:xfrm>
          <a:prstGeom prst="rect">
            <a:avLst/>
          </a:prstGeom>
          <a:solidFill>
            <a:srgbClr val="B4443C"/>
          </a:solidFill>
          <a:ln w="0">
            <a:solidFill>
              <a:srgbClr val="B444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E4F9D38-B94C-4AF3-AEAA-65816BF0BDBF}"/>
              </a:ext>
            </a:extLst>
          </p:cNvPr>
          <p:cNvSpPr>
            <a:spLocks noGrp="1"/>
          </p:cNvSpPr>
          <p:nvPr/>
        </p:nvSpPr>
        <p:spPr>
          <a:xfrm>
            <a:off x="5857875" y="4391025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19C399-2068-4B4D-B6B3-27CE39F2A58B}"/>
              </a:ext>
            </a:extLst>
          </p:cNvPr>
          <p:cNvSpPr>
            <a:spLocks noGrp="1"/>
          </p:cNvSpPr>
          <p:nvPr/>
        </p:nvSpPr>
        <p:spPr>
          <a:xfrm>
            <a:off x="6267450" y="4391025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Coverage 仍不达标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486858-BC49-4D83-8020-2B5DB9D5229F}"/>
              </a:ext>
            </a:extLst>
          </p:cNvPr>
          <p:cNvSpPr>
            <a:spLocks noGrp="1"/>
          </p:cNvSpPr>
          <p:nvPr/>
        </p:nvSpPr>
        <p:spPr>
          <a:xfrm>
            <a:off x="6267450" y="4657725"/>
            <a:ext cx="4286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CI 不 cover truth，说明 estimator bias 不是换 judge 就能消失。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F429D8-E710-4754-8B52-B35DF6AB0033}"/>
              </a:ext>
            </a:extLst>
          </p:cNvPr>
          <p:cNvSpPr>
            <a:spLocks noGrp="1"/>
          </p:cNvSpPr>
          <p:nvPr/>
        </p:nvSpPr>
        <p:spPr>
          <a:xfrm>
            <a:off x="1190625" y="4095750"/>
            <a:ext cx="3714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D4D3E2-0B28-4121-8863-FBE878CB913F}"/>
              </a:ext>
            </a:extLst>
          </p:cNvPr>
          <p:cNvSpPr>
            <a:spLocks noGrp="1"/>
          </p:cNvSpPr>
          <p:nvPr/>
        </p:nvSpPr>
        <p:spPr>
          <a:xfrm>
            <a:off x="1428750" y="428625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报告中的风险表达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417D53-0086-48B0-A0E6-CF099814E0E5}"/>
              </a:ext>
            </a:extLst>
          </p:cNvPr>
          <p:cNvSpPr>
            <a:spLocks noGrp="1"/>
          </p:cNvSpPr>
          <p:nvPr/>
        </p:nvSpPr>
        <p:spPr>
          <a:xfrm>
            <a:off x="1428750" y="459105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self-preference bias 已通过 GPT-4o 和跨 vendor judge 做了 sensitivity；但 Sonnet 4.6 本身也可能有格式偏好。</a:t>
            </a:r>
          </a:p>
        </p:txBody>
      </p:sp>
    </p:spTree>
    <p:extLst>
      <p:ext uri="{BB962C8B-B14F-4D97-AF65-F5344CB8AC3E}">
        <p14:creationId xmlns:p14="http://schemas.microsoft.com/office/powerpoint/2010/main" val="503966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F1BA09A-17B2-439D-BCE8-C86579D103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857B0FE-19C7-4BA2-B1C5-57C159551099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183249C7-7E1A-4D93-807B-4E8AD1F241E5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REPRODUCIBILITY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0F3766-4C95-4A22-A4BA-1683A108EE79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本汇报中的数量、构造和结果都能追溯到仓库文件。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DD28BF-A35C-4B6E-954A-3C22069543EF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讲解时可以按下面四类文件定位：freeze、converter、scored outputs、experiment docs。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1E64C-EAAC-41A9-8B31-80253BAE5AE4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FDF786-4B3E-41B2-BFA7-6D48DD43D005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Repository file map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AAE83D-B330-466A-ADA4-DCFA9FA74EE7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DFD4A6-97C6-4135-9686-6D0DD2ACC624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2190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1B905-8DC9-4494-9648-B9A008B4A936}"/>
              </a:ext>
            </a:extLst>
          </p:cNvPr>
          <p:cNvSpPr>
            <a:spLocks noGrp="1"/>
          </p:cNvSpPr>
          <p:nvPr/>
        </p:nvSpPr>
        <p:spPr>
          <a:xfrm>
            <a:off x="742950" y="1933575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证据类型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7B9B7A-75D2-46D2-9AF5-28425327AA1D}"/>
              </a:ext>
            </a:extLst>
          </p:cNvPr>
          <p:cNvSpPr>
            <a:spLocks noGrp="1"/>
          </p:cNvSpPr>
          <p:nvPr/>
        </p:nvSpPr>
        <p:spPr>
          <a:xfrm>
            <a:off x="2857500" y="1857375"/>
            <a:ext cx="4095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C043E1-7224-49C6-9643-FC8A500C11DF}"/>
              </a:ext>
            </a:extLst>
          </p:cNvPr>
          <p:cNvSpPr>
            <a:spLocks noGrp="1"/>
          </p:cNvSpPr>
          <p:nvPr/>
        </p:nvSpPr>
        <p:spPr>
          <a:xfrm>
            <a:off x="2933700" y="1933575"/>
            <a:ext cx="3943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文件/命令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06F2E6-9E77-4FEA-A67A-2CBBAA66E3BF}"/>
              </a:ext>
            </a:extLst>
          </p:cNvPr>
          <p:cNvSpPr>
            <a:spLocks noGrp="1"/>
          </p:cNvSpPr>
          <p:nvPr/>
        </p:nvSpPr>
        <p:spPr>
          <a:xfrm>
            <a:off x="6953250" y="1857375"/>
            <a:ext cx="4095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490D32-304D-4255-A1D3-A81C2A13B5D8}"/>
              </a:ext>
            </a:extLst>
          </p:cNvPr>
          <p:cNvSpPr>
            <a:spLocks noGrp="1"/>
          </p:cNvSpPr>
          <p:nvPr/>
        </p:nvSpPr>
        <p:spPr>
          <a:xfrm>
            <a:off x="7029450" y="1933575"/>
            <a:ext cx="3943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讲解用途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FFC82D-C191-4104-AD7F-EB2F31623100}"/>
              </a:ext>
            </a:extLst>
          </p:cNvPr>
          <p:cNvSpPr>
            <a:spLocks noGrp="1"/>
          </p:cNvSpPr>
          <p:nvPr/>
        </p:nvSpPr>
        <p:spPr>
          <a:xfrm>
            <a:off x="666750" y="2200275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527022-EBE6-441B-B33D-88759B255AE0}"/>
              </a:ext>
            </a:extLst>
          </p:cNvPr>
          <p:cNvSpPr>
            <a:spLocks noGrp="1"/>
          </p:cNvSpPr>
          <p:nvPr/>
        </p:nvSpPr>
        <p:spPr>
          <a:xfrm>
            <a:off x="742950" y="2276475"/>
            <a:ext cx="2038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Main freeze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02EF72-648C-48A9-85CD-BC9F9B259681}"/>
              </a:ext>
            </a:extLst>
          </p:cNvPr>
          <p:cNvSpPr>
            <a:spLocks noGrp="1"/>
          </p:cNvSpPr>
          <p:nvPr/>
        </p:nvSpPr>
        <p:spPr>
          <a:xfrm>
            <a:off x="2857500" y="22002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11997B-EB20-4F1C-89DF-B7A538BDE971}"/>
              </a:ext>
            </a:extLst>
          </p:cNvPr>
          <p:cNvSpPr>
            <a:spLocks noGrp="1"/>
          </p:cNvSpPr>
          <p:nvPr/>
        </p:nvSpPr>
        <p:spPr>
          <a:xfrm>
            <a:off x="2933700" y="2276475"/>
            <a:ext cx="3943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dataset_freezes/phase2_v1.json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D817A2-E27D-4401-A42A-2E8C7FFEC3DE}"/>
              </a:ext>
            </a:extLst>
          </p:cNvPr>
          <p:cNvSpPr>
            <a:spLocks noGrp="1"/>
          </p:cNvSpPr>
          <p:nvPr/>
        </p:nvSpPr>
        <p:spPr>
          <a:xfrm>
            <a:off x="6953250" y="22002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79D57B-2DE3-48EC-9467-1F083A3D9505}"/>
              </a:ext>
            </a:extLst>
          </p:cNvPr>
          <p:cNvSpPr>
            <a:spLocks noGrp="1"/>
          </p:cNvSpPr>
          <p:nvPr/>
        </p:nvSpPr>
        <p:spPr>
          <a:xfrm>
            <a:off x="7029450" y="2276475"/>
            <a:ext cx="3943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397 included rows; 207/142/48 source counts; reproducible command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3F89D0-32FB-4072-8D64-EF0889AEB075}"/>
              </a:ext>
            </a:extLst>
          </p:cNvPr>
          <p:cNvSpPr>
            <a:spLocks noGrp="1"/>
          </p:cNvSpPr>
          <p:nvPr/>
        </p:nvSpPr>
        <p:spPr>
          <a:xfrm>
            <a:off x="666750" y="2752725"/>
            <a:ext cx="219075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435862-FFFB-4599-A5B4-A3F271E32590}"/>
              </a:ext>
            </a:extLst>
          </p:cNvPr>
          <p:cNvSpPr>
            <a:spLocks noGrp="1"/>
          </p:cNvSpPr>
          <p:nvPr/>
        </p:nvSpPr>
        <p:spPr>
          <a:xfrm>
            <a:off x="742950" y="2828925"/>
            <a:ext cx="2038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Build logic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1E7C87-65DB-407C-8C6D-36578F994651}"/>
              </a:ext>
            </a:extLst>
          </p:cNvPr>
          <p:cNvSpPr>
            <a:spLocks noGrp="1"/>
          </p:cNvSpPr>
          <p:nvPr/>
        </p:nvSpPr>
        <p:spPr>
          <a:xfrm>
            <a:off x="2857500" y="2752725"/>
            <a:ext cx="409575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2C68B3-243D-4C12-9D9D-4DD7019E0A00}"/>
              </a:ext>
            </a:extLst>
          </p:cNvPr>
          <p:cNvSpPr>
            <a:spLocks noGrp="1"/>
          </p:cNvSpPr>
          <p:nvPr/>
        </p:nvSpPr>
        <p:spPr>
          <a:xfrm>
            <a:off x="2933700" y="2828925"/>
            <a:ext cx="3943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src/cce_data/build.py</a:t>
            </a:r>
          </a:p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src/cce_data/adapters/*.py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813F05-7AAD-48E4-9A68-0B58A202EB0A}"/>
              </a:ext>
            </a:extLst>
          </p:cNvPr>
          <p:cNvSpPr>
            <a:spLocks noGrp="1"/>
          </p:cNvSpPr>
          <p:nvPr/>
        </p:nvSpPr>
        <p:spPr>
          <a:xfrm>
            <a:off x="6953250" y="2752725"/>
            <a:ext cx="409575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0BAC50-D888-4E8D-ABA1-194E316052BE}"/>
              </a:ext>
            </a:extLst>
          </p:cNvPr>
          <p:cNvSpPr>
            <a:spLocks noGrp="1"/>
          </p:cNvSpPr>
          <p:nvPr/>
        </p:nvSpPr>
        <p:spPr>
          <a:xfrm>
            <a:off x="7029450" y="2828925"/>
            <a:ext cx="3943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raw source -&gt; canonical schema; manifest and qa_counts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1B5E50-1B23-4166-B19A-F5F2A9F55F00}"/>
              </a:ext>
            </a:extLst>
          </p:cNvPr>
          <p:cNvSpPr>
            <a:spLocks noGrp="1"/>
          </p:cNvSpPr>
          <p:nvPr/>
        </p:nvSpPr>
        <p:spPr>
          <a:xfrm>
            <a:off x="666750" y="3305175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C7A0A5-4835-499F-BC66-21C97EBE2D66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2038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CounselBench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D32B63-D64B-4E24-908E-5F69BD9C8203}"/>
              </a:ext>
            </a:extLst>
          </p:cNvPr>
          <p:cNvSpPr>
            <a:spLocks noGrp="1"/>
          </p:cNvSpPr>
          <p:nvPr/>
        </p:nvSpPr>
        <p:spPr>
          <a:xfrm>
            <a:off x="2857500" y="33051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7C7E12-997C-487B-A10F-7B9CFAA97031}"/>
              </a:ext>
            </a:extLst>
          </p:cNvPr>
          <p:cNvSpPr>
            <a:spLocks noGrp="1"/>
          </p:cNvSpPr>
          <p:nvPr/>
        </p:nvSpPr>
        <p:spPr>
          <a:xfrm>
            <a:off x="2933700" y="3381375"/>
            <a:ext cx="3943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src/cce_data/counselbench.py</a:t>
            </a:r>
          </a:p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data/counselbench/manifest.json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F39157-AB07-4671-86CE-FB88F81F76B2}"/>
              </a:ext>
            </a:extLst>
          </p:cNvPr>
          <p:cNvSpPr>
            <a:spLocks noGrp="1"/>
          </p:cNvSpPr>
          <p:nvPr/>
        </p:nvSpPr>
        <p:spPr>
          <a:xfrm>
            <a:off x="6953250" y="33051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46880D-7F62-4470-921B-0B0BC525AA0A}"/>
              </a:ext>
            </a:extLst>
          </p:cNvPr>
          <p:cNvSpPr>
            <a:spLocks noGrp="1"/>
          </p:cNvSpPr>
          <p:nvPr/>
        </p:nvSpPr>
        <p:spPr>
          <a:xfrm>
            <a:off x="7029450" y="3381375"/>
            <a:ext cx="3943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expert aggregation, reward formula, paired target files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646F1B-03E1-43B1-9025-CDBC0DD3F336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219075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31E8D4-C258-4DE7-B3EC-E758B3659BF1}"/>
              </a:ext>
            </a:extLst>
          </p:cNvPr>
          <p:cNvSpPr>
            <a:spLocks noGrp="1"/>
          </p:cNvSpPr>
          <p:nvPr/>
        </p:nvSpPr>
        <p:spPr>
          <a:xfrm>
            <a:off x="742950" y="3933825"/>
            <a:ext cx="2038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Judge outputs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D5F50D-A581-4E8A-BAA8-C9CD6AF230FB}"/>
              </a:ext>
            </a:extLst>
          </p:cNvPr>
          <p:cNvSpPr>
            <a:spLocks noGrp="1"/>
          </p:cNvSpPr>
          <p:nvPr/>
        </p:nvSpPr>
        <p:spPr>
          <a:xfrm>
            <a:off x="2857500" y="3857625"/>
            <a:ext cx="409575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C913C8-B830-4AF8-897F-E90B5A6E97C7}"/>
              </a:ext>
            </a:extLst>
          </p:cNvPr>
          <p:cNvSpPr>
            <a:spLocks noGrp="1"/>
          </p:cNvSpPr>
          <p:nvPr/>
        </p:nvSpPr>
        <p:spPr>
          <a:xfrm>
            <a:off x="2933700" y="3933825"/>
            <a:ext cx="3943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data/phase3/ground_truth_effect_judge_claude_sonnet46.json</a:t>
            </a:r>
          </a:p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docs/phase5_main_experiment.md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68599B-6C8C-4A9B-B8DB-1BB286F52475}"/>
              </a:ext>
            </a:extLst>
          </p:cNvPr>
          <p:cNvSpPr>
            <a:spLocks noGrp="1"/>
          </p:cNvSpPr>
          <p:nvPr/>
        </p:nvSpPr>
        <p:spPr>
          <a:xfrm>
            <a:off x="6953250" y="3857625"/>
            <a:ext cx="409575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412DF2-972F-45BF-9364-0D7404066E97}"/>
              </a:ext>
            </a:extLst>
          </p:cNvPr>
          <p:cNvSpPr>
            <a:spLocks noGrp="1"/>
          </p:cNvSpPr>
          <p:nvPr/>
        </p:nvSpPr>
        <p:spPr>
          <a:xfrm>
            <a:off x="7029450" y="3933825"/>
            <a:ext cx="3943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GPT vs Sonnet ground truth and effect summary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BDD24D-0DFC-4007-A701-74493FF257F8}"/>
              </a:ext>
            </a:extLst>
          </p:cNvPr>
          <p:cNvSpPr>
            <a:spLocks noGrp="1"/>
          </p:cNvSpPr>
          <p:nvPr/>
        </p:nvSpPr>
        <p:spPr>
          <a:xfrm>
            <a:off x="666750" y="4410075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CF3745-9F4B-41E7-B881-108177463330}"/>
              </a:ext>
            </a:extLst>
          </p:cNvPr>
          <p:cNvSpPr>
            <a:spLocks noGrp="1"/>
          </p:cNvSpPr>
          <p:nvPr/>
        </p:nvSpPr>
        <p:spPr>
          <a:xfrm>
            <a:off x="742950" y="4486275"/>
            <a:ext cx="2038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rPr>
              <a:t>Phase 5 estimators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BF5326-0FDE-4FB6-8286-A12D1D8A9BD3}"/>
              </a:ext>
            </a:extLst>
          </p:cNvPr>
          <p:cNvSpPr>
            <a:spLocks noGrp="1"/>
          </p:cNvSpPr>
          <p:nvPr/>
        </p:nvSpPr>
        <p:spPr>
          <a:xfrm>
            <a:off x="2857500" y="44100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D1AB99-1DD8-4FDE-B215-75068598C090}"/>
              </a:ext>
            </a:extLst>
          </p:cNvPr>
          <p:cNvSpPr>
            <a:spLocks noGrp="1"/>
          </p:cNvSpPr>
          <p:nvPr/>
        </p:nvSpPr>
        <p:spPr>
          <a:xfrm>
            <a:off x="2933700" y="4486275"/>
            <a:ext cx="3943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docs/phase5_sonnet46_judge_ablation.md</a:t>
            </a:r>
          </a:p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scripts/run_phase5.py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B8F36FB-A5FA-4CE0-855F-2008C71D6056}"/>
              </a:ext>
            </a:extLst>
          </p:cNvPr>
          <p:cNvSpPr>
            <a:spLocks noGrp="1"/>
          </p:cNvSpPr>
          <p:nvPr/>
        </p:nvSpPr>
        <p:spPr>
          <a:xfrm>
            <a:off x="6953250" y="44100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001A66F-C23D-4A37-813E-A6CF9A5FC090}"/>
              </a:ext>
            </a:extLst>
          </p:cNvPr>
          <p:cNvSpPr>
            <a:spLocks noGrp="1"/>
          </p:cNvSpPr>
          <p:nvPr/>
        </p:nvSpPr>
        <p:spPr>
          <a:xfrm>
            <a:off x="7029450" y="4486275"/>
            <a:ext cx="3943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DM/MIPS/OffCEM comparison and bootstrap setup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4FEA3B-F117-47F7-A8F5-EC992041746A}"/>
              </a:ext>
            </a:extLst>
          </p:cNvPr>
          <p:cNvSpPr>
            <a:spLocks noGrp="1"/>
          </p:cNvSpPr>
          <p:nvPr/>
        </p:nvSpPr>
        <p:spPr>
          <a:xfrm>
            <a:off x="1143000" y="5505450"/>
            <a:ext cx="9886950" cy="2857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BC90884-3FF0-4B5E-BBDC-9289AF646798}"/>
              </a:ext>
            </a:extLst>
          </p:cNvPr>
          <p:cNvSpPr>
            <a:spLocks noGrp="1"/>
          </p:cNvSpPr>
          <p:nvPr/>
        </p:nvSpPr>
        <p:spPr>
          <a:xfrm>
            <a:off x="1285875" y="5581650"/>
            <a:ext cx="95726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核心复现命令：cce-download &amp;&amp; cce-build --included-only &amp;&amp; cce-freeze；CounselBench: cce-build-counselbench</a:t>
            </a:r>
          </a:p>
        </p:txBody>
      </p:sp>
    </p:spTree>
    <p:extLst>
      <p:ext uri="{BB962C8B-B14F-4D97-AF65-F5344CB8AC3E}">
        <p14:creationId xmlns:p14="http://schemas.microsoft.com/office/powerpoint/2010/main" val="1257703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54328EB-4790-41C1-A53C-9247635C5E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5A4F4F2-E8EA-4435-A36F-B8500C78A99F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7AD701C-5A03-4DFB-8085-74BB70020F01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RECOMMENDED REPORTING STANCE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C0284D-BCA1-45D3-9B9C-803D44CBE87D}"/>
              </a:ext>
            </a:extLst>
          </p:cNvPr>
          <p:cNvSpPr>
            <a:spLocks noGrp="1"/>
          </p:cNvSpPr>
          <p:nvPr/>
        </p:nvSpPr>
        <p:spPr>
          <a:xfrm>
            <a:off x="552450" y="704850"/>
            <a:ext cx="10572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对老师汇报时，建议把结论分成主 benchmark、专家标签补充和 judge sensitivity 三层。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888D5B-3507-4C96-ADA0-F638FEC3C2CE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这样既能展示进度，也能把当前限制说清楚。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3B263A-CB2A-4F4E-8DF3-CF6B4B37BD0F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F7BB22-2BE3-41C6-877F-604EF8504CDA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Synthesis from repo artifacts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99EB3D-1AD3-4A81-B009-40889525033D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50B3AE-D44D-45A6-BEE8-FCC4C7B24F3A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32385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2B08D0-D7A1-4178-BB33-AA4754DE97D7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323850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721BE4-B22E-4AE6-8972-FCEA6BFB0042}"/>
              </a:ext>
            </a:extLst>
          </p:cNvPr>
          <p:cNvSpPr>
            <a:spLocks noGrp="1"/>
          </p:cNvSpPr>
          <p:nvPr/>
        </p:nvSpPr>
        <p:spPr>
          <a:xfrm>
            <a:off x="914400" y="2124075"/>
            <a:ext cx="2895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1. 主线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CBB832-E22A-451C-AD44-FE3D542DD386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28956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397-row clinical benchmark 是主实验：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ACI-Bench + MTS-Dialog + PriMock57。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核心问题：agent final output 能否替代 clinician final A&amp;P？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DB4305-70C7-45EC-98AF-7A1246F38BB5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32385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0E9961-5744-48EE-98A8-4403827B8667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3238500" cy="476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F1C36F-A0C5-4220-BD20-9A7A7E5E0D73}"/>
              </a:ext>
            </a:extLst>
          </p:cNvPr>
          <p:cNvSpPr>
            <a:spLocks noGrp="1"/>
          </p:cNvSpPr>
          <p:nvPr/>
        </p:nvSpPr>
        <p:spPr>
          <a:xfrm>
            <a:off x="4648200" y="2124075"/>
            <a:ext cx="2895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2. 补充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350196-6CB5-46FC-A544-358C369F924B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28956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是 expert-labeled sensitivity：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100 mental-health questions；human vs logged LLM responders。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用途：校准/检验 reward model 与 LLM judge。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778AA2-7E3C-416A-BC12-055DC81BB43C}"/>
              </a:ext>
            </a:extLst>
          </p:cNvPr>
          <p:cNvSpPr>
            <a:spLocks noGrp="1"/>
          </p:cNvSpPr>
          <p:nvPr/>
        </p:nvSpPr>
        <p:spPr>
          <a:xfrm>
            <a:off x="8210550" y="1952625"/>
            <a:ext cx="32385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D654DA-33D9-4291-9D04-9BD5F654DDE3}"/>
              </a:ext>
            </a:extLst>
          </p:cNvPr>
          <p:cNvSpPr>
            <a:spLocks noGrp="1"/>
          </p:cNvSpPr>
          <p:nvPr/>
        </p:nvSpPr>
        <p:spPr>
          <a:xfrm>
            <a:off x="8210550" y="1952625"/>
            <a:ext cx="323850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EBCCC9-9BB6-4F65-A1A1-86354FD8E01C}"/>
              </a:ext>
            </a:extLst>
          </p:cNvPr>
          <p:cNvSpPr>
            <a:spLocks noGrp="1"/>
          </p:cNvSpPr>
          <p:nvPr/>
        </p:nvSpPr>
        <p:spPr>
          <a:xfrm>
            <a:off x="8382000" y="2124075"/>
            <a:ext cx="2895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3. 风险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96CBD6-E940-407B-AFFC-893E3CCF3538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28956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GPT-4o 与 Sonnet 4.6 结果方向一致，但 score scale 不同。</a:t>
            </a:r>
          </a:p>
          <a:p>
            <a:endParaRPr sz="975" b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MIPS ranking 稳定；CI coverage 仍失败，提示 support/positivity 风险。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8B719C-B57D-4066-8A58-C35DBC84261E}"/>
              </a:ext>
            </a:extLst>
          </p:cNvPr>
          <p:cNvSpPr>
            <a:spLocks noGrp="1"/>
          </p:cNvSpPr>
          <p:nvPr/>
        </p:nvSpPr>
        <p:spPr>
          <a:xfrm>
            <a:off x="1143000" y="5095875"/>
            <a:ext cx="9906000" cy="51435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7AB2BA-439F-46E5-A0DC-B76F3009B06B}"/>
              </a:ext>
            </a:extLst>
          </p:cNvPr>
          <p:cNvSpPr>
            <a:spLocks noGrp="1"/>
          </p:cNvSpPr>
          <p:nvPr/>
        </p:nvSpPr>
        <p:spPr>
          <a:xfrm>
            <a:off x="1428750" y="525780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下一步建议：继续跑第三方 Gemini judge；用 CounselBench expert labels 训练/校准 RM；同时做 positivity diagnostics 和 subgroup analysis。</a:t>
            </a:r>
          </a:p>
        </p:txBody>
      </p:sp>
    </p:spTree>
    <p:extLst>
      <p:ext uri="{BB962C8B-B14F-4D97-AF65-F5344CB8AC3E}">
        <p14:creationId xmlns:p14="http://schemas.microsoft.com/office/powerpoint/2010/main" val="5491151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3274</Words>
  <Application>Microsoft Macintosh PowerPoint</Application>
  <DocSecurity>0</DocSecurity>
  <PresentationFormat>Widescreen</PresentationFormat>
  <Paragraphs>620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 Unicode MS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 Wei</cp:lastModifiedBy>
  <cp:revision>1</cp:revision>
  <dcterms:created xsi:type="dcterms:W3CDTF">2026-05-26T03:22:18Z</dcterms:created>
  <dcterms:modified xsi:type="dcterms:W3CDTF">2026-05-26T03:37:03Z</dcterms:modified>
</cp:coreProperties>
</file>