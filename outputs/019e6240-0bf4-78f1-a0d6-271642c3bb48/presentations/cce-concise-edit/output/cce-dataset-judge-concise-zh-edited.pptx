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C0FD96B-517E-4A0A-8EAA-245165FEFC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96C31E-0951-47AB-9D0A-AD582F3D7C73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477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544B99-D22A-416A-9817-31235E0E35F9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Counterfactual Conversation Emulation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601169-80A0-4CAC-83AE-10FC6BCC518D}"/>
              </a:ext>
            </a:extLst>
          </p:cNvPr>
          <p:cNvSpPr>
            <a:spLocks noGrp="1"/>
          </p:cNvSpPr>
          <p:nvPr/>
        </p:nvSpPr>
        <p:spPr>
          <a:xfrm>
            <a:off x="552450" y="1476375"/>
            <a:ext cx="8572500" cy="1190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4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数据集构造与 Judge 结果</a:t>
            </a:r>
          </a:p>
          <a:p>
            <a:pPr algn="l">
              <a:buNone/>
              <a:defRPr sz="34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精简汇报框架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C7068-C1CF-46BC-8ED9-01BD39FF6530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2333625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A58FA-FB23-42E8-911D-60DE6A64A286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2333625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4A345-1405-41A2-A11E-F9580DDE7FA2}"/>
              </a:ext>
            </a:extLst>
          </p:cNvPr>
          <p:cNvSpPr>
            <a:spLocks noGrp="1"/>
          </p:cNvSpPr>
          <p:nvPr/>
        </p:nvSpPr>
        <p:spPr>
          <a:xfrm>
            <a:off x="838200" y="4543425"/>
            <a:ext cx="1990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397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D51FE7-DEC4-4E2D-B200-AFBF344DE805}"/>
              </a:ext>
            </a:extLst>
          </p:cNvPr>
          <p:cNvSpPr>
            <a:spLocks noGrp="1"/>
          </p:cNvSpPr>
          <p:nvPr/>
        </p:nvSpPr>
        <p:spPr>
          <a:xfrm>
            <a:off x="838200" y="4943475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主医疗数据 rows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A2A985-228E-43B1-9F24-E6894C406B30}"/>
              </a:ext>
            </a:extLst>
          </p:cNvPr>
          <p:cNvSpPr>
            <a:spLocks noGrp="1"/>
          </p:cNvSpPr>
          <p:nvPr/>
        </p:nvSpPr>
        <p:spPr>
          <a:xfrm>
            <a:off x="3286125" y="4333875"/>
            <a:ext cx="2333625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EB8F14-597B-4221-8C7C-D43DDB6ED9E1}"/>
              </a:ext>
            </a:extLst>
          </p:cNvPr>
          <p:cNvSpPr>
            <a:spLocks noGrp="1"/>
          </p:cNvSpPr>
          <p:nvPr/>
        </p:nvSpPr>
        <p:spPr>
          <a:xfrm>
            <a:off x="3286125" y="4333875"/>
            <a:ext cx="2333625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8729FE-8136-4745-9741-6C136A9B1FAA}"/>
              </a:ext>
            </a:extLst>
          </p:cNvPr>
          <p:cNvSpPr>
            <a:spLocks noGrp="1"/>
          </p:cNvSpPr>
          <p:nvPr/>
        </p:nvSpPr>
        <p:spPr>
          <a:xfrm>
            <a:off x="3457575" y="4543425"/>
            <a:ext cx="1990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E289E4-BCE8-4AF3-BDF8-FE35118BE0E4}"/>
              </a:ext>
            </a:extLst>
          </p:cNvPr>
          <p:cNvSpPr>
            <a:spLocks noGrp="1"/>
          </p:cNvSpPr>
          <p:nvPr/>
        </p:nvSpPr>
        <p:spPr>
          <a:xfrm>
            <a:off x="3457575" y="4943475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主来源数据集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40A4E3-320C-4503-B2AB-8844D2F0CDAC}"/>
              </a:ext>
            </a:extLst>
          </p:cNvPr>
          <p:cNvSpPr>
            <a:spLocks noGrp="1"/>
          </p:cNvSpPr>
          <p:nvPr/>
        </p:nvSpPr>
        <p:spPr>
          <a:xfrm>
            <a:off x="5905500" y="4333875"/>
            <a:ext cx="2333625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E613F9-CA29-44E1-AB56-BA1F99DBB704}"/>
              </a:ext>
            </a:extLst>
          </p:cNvPr>
          <p:cNvSpPr>
            <a:spLocks noGrp="1"/>
          </p:cNvSpPr>
          <p:nvPr/>
        </p:nvSpPr>
        <p:spPr>
          <a:xfrm>
            <a:off x="5905500" y="4333875"/>
            <a:ext cx="2333625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A58A1B-1EA3-46D4-B8DF-DB1E908F1CFD}"/>
              </a:ext>
            </a:extLst>
          </p:cNvPr>
          <p:cNvSpPr>
            <a:spLocks noGrp="1"/>
          </p:cNvSpPr>
          <p:nvPr/>
        </p:nvSpPr>
        <p:spPr>
          <a:xfrm>
            <a:off x="6076950" y="4543425"/>
            <a:ext cx="1990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BE0439-58CB-4B4A-80C7-579AE9491364}"/>
              </a:ext>
            </a:extLst>
          </p:cNvPr>
          <p:cNvSpPr>
            <a:spLocks noGrp="1"/>
          </p:cNvSpPr>
          <p:nvPr/>
        </p:nvSpPr>
        <p:spPr>
          <a:xfrm>
            <a:off x="6076950" y="4943475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baseline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37B504-7A9A-401A-A248-BFAC3F8CBE2E}"/>
              </a:ext>
            </a:extLst>
          </p:cNvPr>
          <p:cNvSpPr>
            <a:spLocks noGrp="1"/>
          </p:cNvSpPr>
          <p:nvPr/>
        </p:nvSpPr>
        <p:spPr>
          <a:xfrm>
            <a:off x="8524875" y="4333875"/>
            <a:ext cx="2333625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5FABF3-D4D3-48F7-B1B4-F9B70B1326AB}"/>
              </a:ext>
            </a:extLst>
          </p:cNvPr>
          <p:cNvSpPr>
            <a:spLocks noGrp="1"/>
          </p:cNvSpPr>
          <p:nvPr/>
        </p:nvSpPr>
        <p:spPr>
          <a:xfrm>
            <a:off x="8524875" y="4333875"/>
            <a:ext cx="2333625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4BB6AD-CDF3-4989-9954-D06FA7DF2BD4}"/>
              </a:ext>
            </a:extLst>
          </p:cNvPr>
          <p:cNvSpPr>
            <a:spLocks noGrp="1"/>
          </p:cNvSpPr>
          <p:nvPr/>
        </p:nvSpPr>
        <p:spPr>
          <a:xfrm>
            <a:off x="8696325" y="4543425"/>
            <a:ext cx="1990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2+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6F33D-62CE-43B9-A266-E937C9AE7CC3}"/>
              </a:ext>
            </a:extLst>
          </p:cNvPr>
          <p:cNvSpPr>
            <a:spLocks noGrp="1"/>
          </p:cNvSpPr>
          <p:nvPr/>
        </p:nvSpPr>
        <p:spPr>
          <a:xfrm>
            <a:off x="8696325" y="4943475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judge 结果对照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9A4B5-C9D4-43F6-BA13-A67C90FF2654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CA5C43-331B-43DD-BEBF-05574E5DBE9A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056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C6E8012E-4E9D-4AF3-89F2-3003ECD0C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F7D048-C838-4073-93F7-E57994E7D565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6D4C94-42D9-4EA5-B5FD-BDCDCD9AFF16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DATA 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7837F-6BCD-41D0-BD61-0A7D71B184C1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477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主实验数据来自 3 个 public dialogue-note datasets，另有 1 个候选数据集。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648C56-3AB5-4B82-8224-1B441244EDFC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7A40D1-3334-4057-8ACC-80F384DCB566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F17AB0-E9C4-4351-B9BD-DF1A3CB8915C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76212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654D4C-EE50-4864-80AC-2B06C94EFCFE}"/>
              </a:ext>
            </a:extLst>
          </p:cNvPr>
          <p:cNvSpPr>
            <a:spLocks noGrp="1"/>
          </p:cNvSpPr>
          <p:nvPr/>
        </p:nvSpPr>
        <p:spPr>
          <a:xfrm>
            <a:off x="781050" y="2181225"/>
            <a:ext cx="1609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数据集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28A128-EF9A-498F-B18A-2B80D9630481}"/>
              </a:ext>
            </a:extLst>
          </p:cNvPr>
          <p:cNvSpPr>
            <a:spLocks noGrp="1"/>
          </p:cNvSpPr>
          <p:nvPr/>
        </p:nvSpPr>
        <p:spPr>
          <a:xfrm>
            <a:off x="2466975" y="2095500"/>
            <a:ext cx="12382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1765F1-5B5A-4C52-8198-6EA79BE831E4}"/>
              </a:ext>
            </a:extLst>
          </p:cNvPr>
          <p:cNvSpPr>
            <a:spLocks noGrp="1"/>
          </p:cNvSpPr>
          <p:nvPr/>
        </p:nvSpPr>
        <p:spPr>
          <a:xfrm>
            <a:off x="2543175" y="2181225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使用数量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067A4B-BDBD-4771-AFEA-0BC7D813FAC7}"/>
              </a:ext>
            </a:extLst>
          </p:cNvPr>
          <p:cNvSpPr>
            <a:spLocks noGrp="1"/>
          </p:cNvSpPr>
          <p:nvPr/>
        </p:nvSpPr>
        <p:spPr>
          <a:xfrm>
            <a:off x="3705225" y="2095500"/>
            <a:ext cx="3333750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9E509-2166-40AF-9DD5-F7C64507E28A}"/>
              </a:ext>
            </a:extLst>
          </p:cNvPr>
          <p:cNvSpPr>
            <a:spLocks noGrp="1"/>
          </p:cNvSpPr>
          <p:nvPr/>
        </p:nvSpPr>
        <p:spPr>
          <a:xfrm>
            <a:off x="3781425" y="2181225"/>
            <a:ext cx="3181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用途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6EA1C9-5CD4-4DA5-A93E-7023D1570955}"/>
              </a:ext>
            </a:extLst>
          </p:cNvPr>
          <p:cNvSpPr>
            <a:spLocks noGrp="1"/>
          </p:cNvSpPr>
          <p:nvPr/>
        </p:nvSpPr>
        <p:spPr>
          <a:xfrm>
            <a:off x="7038975" y="2095500"/>
            <a:ext cx="4333875" cy="3619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1CAF78-AA3D-47E4-8D6B-ED5841B4B26F}"/>
              </a:ext>
            </a:extLst>
          </p:cNvPr>
          <p:cNvSpPr>
            <a:spLocks noGrp="1"/>
          </p:cNvSpPr>
          <p:nvPr/>
        </p:nvSpPr>
        <p:spPr>
          <a:xfrm>
            <a:off x="7115175" y="2181225"/>
            <a:ext cx="4181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链接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B2BDF2-4403-420F-8D99-8DC6A5B368E7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176212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D83EA7-8840-4480-A364-0214A3D8A7D6}"/>
              </a:ext>
            </a:extLst>
          </p:cNvPr>
          <p:cNvSpPr>
            <a:spLocks noGrp="1"/>
          </p:cNvSpPr>
          <p:nvPr/>
        </p:nvSpPr>
        <p:spPr>
          <a:xfrm>
            <a:off x="781050" y="2543175"/>
            <a:ext cx="16097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157885-A3CF-4FE1-A265-5A44F410549C}"/>
              </a:ext>
            </a:extLst>
          </p:cNvPr>
          <p:cNvSpPr>
            <a:spLocks noGrp="1"/>
          </p:cNvSpPr>
          <p:nvPr/>
        </p:nvSpPr>
        <p:spPr>
          <a:xfrm>
            <a:off x="2466975" y="245745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B841A9-2AAE-4880-9579-1AF063520FC6}"/>
              </a:ext>
            </a:extLst>
          </p:cNvPr>
          <p:cNvSpPr>
            <a:spLocks noGrp="1"/>
          </p:cNvSpPr>
          <p:nvPr/>
        </p:nvSpPr>
        <p:spPr>
          <a:xfrm>
            <a:off x="2543175" y="2543175"/>
            <a:ext cx="1085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207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96C54D-B5F7-4439-9991-0B6CFE8EE240}"/>
              </a:ext>
            </a:extLst>
          </p:cNvPr>
          <p:cNvSpPr>
            <a:spLocks noGrp="1"/>
          </p:cNvSpPr>
          <p:nvPr/>
        </p:nvSpPr>
        <p:spPr>
          <a:xfrm>
            <a:off x="3705225" y="2457450"/>
            <a:ext cx="3333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681F0C-E141-4A9F-A7FD-ED71AFEC8CB9}"/>
              </a:ext>
            </a:extLst>
          </p:cNvPr>
          <p:cNvSpPr>
            <a:spLocks noGrp="1"/>
          </p:cNvSpPr>
          <p:nvPr/>
        </p:nvSpPr>
        <p:spPr>
          <a:xfrm>
            <a:off x="3781425" y="2543175"/>
            <a:ext cx="3181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完整医疗对话 + clinical note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610CEF-A98D-40E3-B895-C06660A461CA}"/>
              </a:ext>
            </a:extLst>
          </p:cNvPr>
          <p:cNvSpPr>
            <a:spLocks noGrp="1"/>
          </p:cNvSpPr>
          <p:nvPr/>
        </p:nvSpPr>
        <p:spPr>
          <a:xfrm>
            <a:off x="7038975" y="2457450"/>
            <a:ext cx="43338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382709-57DD-4AD9-A380-12DCBDB4063F}"/>
              </a:ext>
            </a:extLst>
          </p:cNvPr>
          <p:cNvSpPr>
            <a:spLocks noGrp="1"/>
          </p:cNvSpPr>
          <p:nvPr/>
        </p:nvSpPr>
        <p:spPr>
          <a:xfrm>
            <a:off x="7115175" y="2543175"/>
            <a:ext cx="41814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github.com</a:t>
            </a: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wyim</a:t>
            </a: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aci</a:t>
            </a: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-bench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2B9EEA-994A-4929-B7D0-0B44CDBDA682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1762125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D1B94D-9931-42BB-9414-12DD42AE84B2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6097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F9C11C-4A53-457C-A4E5-E8AFBAE71A8C}"/>
              </a:ext>
            </a:extLst>
          </p:cNvPr>
          <p:cNvSpPr>
            <a:spLocks noGrp="1"/>
          </p:cNvSpPr>
          <p:nvPr/>
        </p:nvSpPr>
        <p:spPr>
          <a:xfrm>
            <a:off x="2466975" y="3105150"/>
            <a:ext cx="12382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C65081-6C40-4856-9623-335912F910E0}"/>
              </a:ext>
            </a:extLst>
          </p:cNvPr>
          <p:cNvSpPr>
            <a:spLocks noGrp="1"/>
          </p:cNvSpPr>
          <p:nvPr/>
        </p:nvSpPr>
        <p:spPr>
          <a:xfrm>
            <a:off x="2543175" y="3190875"/>
            <a:ext cx="1085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142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BA4B9C-F30A-4B82-9C0E-0A5E1F527A7A}"/>
              </a:ext>
            </a:extLst>
          </p:cNvPr>
          <p:cNvSpPr>
            <a:spLocks noGrp="1"/>
          </p:cNvSpPr>
          <p:nvPr/>
        </p:nvSpPr>
        <p:spPr>
          <a:xfrm>
            <a:off x="3705225" y="3105150"/>
            <a:ext cx="33337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EB0C0D-6730-4442-8650-D7D9BB772990}"/>
              </a:ext>
            </a:extLst>
          </p:cNvPr>
          <p:cNvSpPr>
            <a:spLocks noGrp="1"/>
          </p:cNvSpPr>
          <p:nvPr/>
        </p:nvSpPr>
        <p:spPr>
          <a:xfrm>
            <a:off x="3781425" y="3190875"/>
            <a:ext cx="3181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短对话 + section header/summary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B515BA-76DA-42E8-A1CD-69F7295DBE47}"/>
              </a:ext>
            </a:extLst>
          </p:cNvPr>
          <p:cNvSpPr>
            <a:spLocks noGrp="1"/>
          </p:cNvSpPr>
          <p:nvPr/>
        </p:nvSpPr>
        <p:spPr>
          <a:xfrm>
            <a:off x="7038975" y="3105150"/>
            <a:ext cx="4333875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1B07D3-68DA-4F5B-8E86-821607EA585B}"/>
              </a:ext>
            </a:extLst>
          </p:cNvPr>
          <p:cNvSpPr>
            <a:spLocks noGrp="1"/>
          </p:cNvSpPr>
          <p:nvPr/>
        </p:nvSpPr>
        <p:spPr>
          <a:xfrm>
            <a:off x="7115175" y="3190875"/>
            <a:ext cx="41814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github.com</a:t>
            </a: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abachaa</a:t>
            </a: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/MTS-Dialog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20EA48-B404-4012-809A-22414D2CD779}"/>
              </a:ext>
            </a:extLst>
          </p:cNvPr>
          <p:cNvSpPr>
            <a:spLocks noGrp="1"/>
          </p:cNvSpPr>
          <p:nvPr/>
        </p:nvSpPr>
        <p:spPr>
          <a:xfrm>
            <a:off x="704850" y="3752850"/>
            <a:ext cx="176212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80D76B-AE94-4CC6-A24E-2FFCA85945F9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16097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8E9C35-ED43-4DFA-A103-117EECB159DD}"/>
              </a:ext>
            </a:extLst>
          </p:cNvPr>
          <p:cNvSpPr>
            <a:spLocks noGrp="1"/>
          </p:cNvSpPr>
          <p:nvPr/>
        </p:nvSpPr>
        <p:spPr>
          <a:xfrm>
            <a:off x="2466975" y="375285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D6C963-6E2C-465F-A0FA-29F889AC2337}"/>
              </a:ext>
            </a:extLst>
          </p:cNvPr>
          <p:cNvSpPr>
            <a:spLocks noGrp="1"/>
          </p:cNvSpPr>
          <p:nvPr/>
        </p:nvSpPr>
        <p:spPr>
          <a:xfrm>
            <a:off x="2543175" y="3838575"/>
            <a:ext cx="1085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269F2C-9A13-4A44-B12E-98EEF31E540D}"/>
              </a:ext>
            </a:extLst>
          </p:cNvPr>
          <p:cNvSpPr>
            <a:spLocks noGrp="1"/>
          </p:cNvSpPr>
          <p:nvPr/>
        </p:nvSpPr>
        <p:spPr>
          <a:xfrm>
            <a:off x="3705225" y="3752850"/>
            <a:ext cx="3333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73A5FB-993B-4499-B977-8AE138A60EDB}"/>
              </a:ext>
            </a:extLst>
          </p:cNvPr>
          <p:cNvSpPr>
            <a:spLocks noGrp="1"/>
          </p:cNvSpPr>
          <p:nvPr/>
        </p:nvSpPr>
        <p:spPr>
          <a:xfrm>
            <a:off x="3781425" y="3838575"/>
            <a:ext cx="3181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mock primary-care transcript + note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EE8B3-0946-4831-A8FD-05DB2ECD1ECC}"/>
              </a:ext>
            </a:extLst>
          </p:cNvPr>
          <p:cNvSpPr>
            <a:spLocks noGrp="1"/>
          </p:cNvSpPr>
          <p:nvPr/>
        </p:nvSpPr>
        <p:spPr>
          <a:xfrm>
            <a:off x="7038975" y="3752850"/>
            <a:ext cx="433387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6387B4-6BAE-4D6F-A643-559CFD5DCD92}"/>
              </a:ext>
            </a:extLst>
          </p:cNvPr>
          <p:cNvSpPr>
            <a:spLocks noGrp="1"/>
          </p:cNvSpPr>
          <p:nvPr/>
        </p:nvSpPr>
        <p:spPr>
          <a:xfrm>
            <a:off x="7115175" y="3838575"/>
            <a:ext cx="41814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github.com</a:t>
            </a: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babylonhealth</a:t>
            </a: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/primock57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D63C226-D1E2-4E1C-9791-8ADF2967EDBE}"/>
              </a:ext>
            </a:extLst>
          </p:cNvPr>
          <p:cNvSpPr>
            <a:spLocks noGrp="1"/>
          </p:cNvSpPr>
          <p:nvPr/>
        </p:nvSpPr>
        <p:spPr>
          <a:xfrm>
            <a:off x="704850" y="4400550"/>
            <a:ext cx="1762125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DE798A-2F55-47C2-98C5-16EB4B9EAEC4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16097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MedDialog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F600EB-0FBD-4DC2-A27B-67A167EA4413}"/>
              </a:ext>
            </a:extLst>
          </p:cNvPr>
          <p:cNvSpPr>
            <a:spLocks noGrp="1"/>
          </p:cNvSpPr>
          <p:nvPr/>
        </p:nvSpPr>
        <p:spPr>
          <a:xfrm>
            <a:off x="2466975" y="4400550"/>
            <a:ext cx="12382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0D89B1-4EB3-4D6F-8C5A-6EF6BF49B33E}"/>
              </a:ext>
            </a:extLst>
          </p:cNvPr>
          <p:cNvSpPr>
            <a:spLocks noGrp="1"/>
          </p:cNvSpPr>
          <p:nvPr/>
        </p:nvSpPr>
        <p:spPr>
          <a:xfrm>
            <a:off x="2543175" y="4486275"/>
            <a:ext cx="1085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候选 / 未使用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609726-46FB-4066-9C58-5A32F0BB4E5D}"/>
              </a:ext>
            </a:extLst>
          </p:cNvPr>
          <p:cNvSpPr>
            <a:spLocks noGrp="1"/>
          </p:cNvSpPr>
          <p:nvPr/>
        </p:nvSpPr>
        <p:spPr>
          <a:xfrm>
            <a:off x="3705225" y="4400550"/>
            <a:ext cx="33337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FFE09D-2ADC-48FE-ACE7-50B301E3B7E6}"/>
              </a:ext>
            </a:extLst>
          </p:cNvPr>
          <p:cNvSpPr>
            <a:spLocks noGrp="1"/>
          </p:cNvSpPr>
          <p:nvPr/>
        </p:nvSpPr>
        <p:spPr>
          <a:xfrm>
            <a:off x="3781425" y="4486275"/>
            <a:ext cx="3181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dialogue-only；缺 clinician note，不能直接形成主实验 A_b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9A2FCE-5D3A-4CAF-BC24-3DF4A841FB45}"/>
              </a:ext>
            </a:extLst>
          </p:cNvPr>
          <p:cNvSpPr>
            <a:spLocks noGrp="1"/>
          </p:cNvSpPr>
          <p:nvPr/>
        </p:nvSpPr>
        <p:spPr>
          <a:xfrm>
            <a:off x="7038975" y="4400550"/>
            <a:ext cx="4333875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8FA366D-3B52-490F-8FD8-F875A44540BC}"/>
              </a:ext>
            </a:extLst>
          </p:cNvPr>
          <p:cNvSpPr>
            <a:spLocks noGrp="1"/>
          </p:cNvSpPr>
          <p:nvPr/>
        </p:nvSpPr>
        <p:spPr>
          <a:xfrm>
            <a:off x="7115175" y="4486275"/>
            <a:ext cx="41814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huggingface.co</a:t>
            </a:r>
            <a:r>
              <a:rPr sz="900" b="0" dirty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/datasets/UCSD26/</a:t>
            </a:r>
            <a:r>
              <a:rPr sz="900" b="0" dirty="0" err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medical_dialog</a:t>
            </a:r>
            <a:endParaRPr sz="900" b="0" dirty="0">
              <a:solidFill>
                <a:srgbClr val="2E5E8E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95520-7D83-4C95-A290-611923319CD5}"/>
              </a:ext>
            </a:extLst>
          </p:cNvPr>
          <p:cNvSpPr>
            <a:spLocks noGrp="1"/>
          </p:cNvSpPr>
          <p:nvPr/>
        </p:nvSpPr>
        <p:spPr>
          <a:xfrm>
            <a:off x="990600" y="5286375"/>
            <a:ext cx="9810750" cy="457200"/>
          </a:xfrm>
          <a:prstGeom prst="rect">
            <a:avLst/>
          </a:prstGeom>
          <a:solidFill>
            <a:srgbClr val="DDEFEB"/>
          </a:solidFill>
          <a:ln w="0">
            <a:solidFill>
              <a:srgbClr val="DD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E99152-0AE0-4156-BAA0-0DBCE8B2C525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合计：397 included rows。MedDialog 只作为候选/辅助数据集，没有进入主实验 freeze。</a:t>
            </a:r>
          </a:p>
        </p:txBody>
      </p:sp>
    </p:spTree>
    <p:extLst>
      <p:ext uri="{BB962C8B-B14F-4D97-AF65-F5344CB8AC3E}">
        <p14:creationId xmlns:p14="http://schemas.microsoft.com/office/powerpoint/2010/main" val="170172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8A982AB-34E6-48DA-9AB6-EC8F4F8449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B3F93-CA2C-479B-8B2D-133E87BF48D9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6B8E55"/>
          </a:solidFill>
          <a:ln w="0">
            <a:solidFill>
              <a:srgbClr val="6B8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D43391-A206-4E0F-9BB4-354E1E268FEE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INPUT /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D1242C-3034-49A4-829E-62B1656B0AE7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0477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项目里同时存在的 3 种数据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5AA27-C6C6-4268-8C31-86C7DBDCA4E2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F0938A-FE45-493F-BA8B-46A4CB9D6677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E18450-7C27-4C00-A962-1010621DAF4B}"/>
              </a:ext>
            </a:extLst>
          </p:cNvPr>
          <p:cNvSpPr>
            <a:spLocks noGrp="1"/>
          </p:cNvSpPr>
          <p:nvPr/>
        </p:nvSpPr>
        <p:spPr>
          <a:xfrm>
            <a:off x="285750" y="1695450"/>
            <a:ext cx="2667000" cy="4953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86C160-4C24-40D5-AD28-375BF1E3A73D}"/>
              </a:ext>
            </a:extLst>
          </p:cNvPr>
          <p:cNvSpPr>
            <a:spLocks noGrp="1"/>
          </p:cNvSpPr>
          <p:nvPr/>
        </p:nvSpPr>
        <p:spPr>
          <a:xfrm>
            <a:off x="361950" y="1781175"/>
            <a:ext cx="2514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1CF246-4AF5-4B15-8ECF-2F68F66F728D}"/>
              </a:ext>
            </a:extLst>
          </p:cNvPr>
          <p:cNvSpPr>
            <a:spLocks noGrp="1"/>
          </p:cNvSpPr>
          <p:nvPr/>
        </p:nvSpPr>
        <p:spPr>
          <a:xfrm>
            <a:off x="2952750" y="1695450"/>
            <a:ext cx="2381250" cy="4953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3E5EA4-F283-42F6-A28D-31D0C70D6B5F}"/>
              </a:ext>
            </a:extLst>
          </p:cNvPr>
          <p:cNvSpPr>
            <a:spLocks noGrp="1"/>
          </p:cNvSpPr>
          <p:nvPr/>
        </p:nvSpPr>
        <p:spPr>
          <a:xfrm>
            <a:off x="3028950" y="1781175"/>
            <a:ext cx="2228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三元组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B5C79C-8CEA-4BFD-AFB3-C771C29C4983}"/>
              </a:ext>
            </a:extLst>
          </p:cNvPr>
          <p:cNvSpPr>
            <a:spLocks noGrp="1"/>
          </p:cNvSpPr>
          <p:nvPr/>
        </p:nvSpPr>
        <p:spPr>
          <a:xfrm>
            <a:off x="5334000" y="1695450"/>
            <a:ext cx="1524000" cy="4953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C6607B-5C78-4389-9EF5-F482B3FAFB45}"/>
              </a:ext>
            </a:extLst>
          </p:cNvPr>
          <p:cNvSpPr>
            <a:spLocks noGrp="1"/>
          </p:cNvSpPr>
          <p:nvPr/>
        </p:nvSpPr>
        <p:spPr>
          <a:xfrm>
            <a:off x="5410200" y="1781175"/>
            <a:ext cx="1371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 谁选的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797B33-D571-439E-B33E-80286D65449A}"/>
              </a:ext>
            </a:extLst>
          </p:cNvPr>
          <p:cNvSpPr>
            <a:spLocks noGrp="1"/>
          </p:cNvSpPr>
          <p:nvPr/>
        </p:nvSpPr>
        <p:spPr>
          <a:xfrm>
            <a:off x="6858000" y="1695450"/>
            <a:ext cx="5048250" cy="4953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A523C5-19A6-4D7B-B968-6343A51EA299}"/>
              </a:ext>
            </a:extLst>
          </p:cNvPr>
          <p:cNvSpPr>
            <a:spLocks noGrp="1"/>
          </p:cNvSpPr>
          <p:nvPr/>
        </p:nvSpPr>
        <p:spPr>
          <a:xfrm>
            <a:off x="6934200" y="1781175"/>
            <a:ext cx="4895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 OPE 流程里的角色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F9D552-66E5-4475-BA6D-E9E8A07BEEF5}"/>
              </a:ext>
            </a:extLst>
          </p:cNvPr>
          <p:cNvSpPr>
            <a:spLocks noGrp="1"/>
          </p:cNvSpPr>
          <p:nvPr/>
        </p:nvSpPr>
        <p:spPr>
          <a:xfrm>
            <a:off x="285750" y="2190750"/>
            <a:ext cx="26670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C67E9C-6861-4F1E-A26B-F7EE86E4BF29}"/>
              </a:ext>
            </a:extLst>
          </p:cNvPr>
          <p:cNvSpPr>
            <a:spLocks noGrp="1"/>
          </p:cNvSpPr>
          <p:nvPr/>
        </p:nvSpPr>
        <p:spPr>
          <a:xfrm>
            <a:off x="361950" y="2276475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① Logged data  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F2E87-1D2B-4BE8-ACA2-E0674E30B838}"/>
              </a:ext>
            </a:extLst>
          </p:cNvPr>
          <p:cNvSpPr>
            <a:spLocks noGrp="1"/>
          </p:cNvSpPr>
          <p:nvPr/>
        </p:nvSpPr>
        <p:spPr>
          <a:xfrm>
            <a:off x="2952750" y="2190750"/>
            <a:ext cx="2381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04999-699A-470B-B4CE-B1474174410F}"/>
              </a:ext>
            </a:extLst>
          </p:cNvPr>
          <p:cNvSpPr>
            <a:spLocks noGrp="1"/>
          </p:cNvSpPr>
          <p:nvPr/>
        </p:nvSpPr>
        <p:spPr>
          <a:xfrm>
            <a:off x="3028950" y="2276475"/>
            <a:ext cx="2228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(x_i, a_i^clinician, y_i)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9ECCED-1E3C-48E5-B2C4-2BB860F942FF}"/>
              </a:ext>
            </a:extLst>
          </p:cNvPr>
          <p:cNvSpPr>
            <a:spLocks noGrp="1"/>
          </p:cNvSpPr>
          <p:nvPr/>
        </p:nvSpPr>
        <p:spPr>
          <a:xfrm>
            <a:off x="5334000" y="2190750"/>
            <a:ext cx="15240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DCDDD2-94D6-4404-B24A-828C22C3A3BF}"/>
              </a:ext>
            </a:extLst>
          </p:cNvPr>
          <p:cNvSpPr>
            <a:spLocks noGrp="1"/>
          </p:cNvSpPr>
          <p:nvPr/>
        </p:nvSpPr>
        <p:spPr>
          <a:xfrm>
            <a:off x="5410200" y="227647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clinician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E5D44D-BB2D-43C5-8428-CEF7F470550B}"/>
              </a:ext>
            </a:extLst>
          </p:cNvPr>
          <p:cNvSpPr>
            <a:spLocks noGrp="1"/>
          </p:cNvSpPr>
          <p:nvPr/>
        </p:nvSpPr>
        <p:spPr>
          <a:xfrm>
            <a:off x="6858000" y="2190750"/>
            <a:ext cx="5048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1E7BDB-4C99-4FFF-A14E-3FBEBD5E5C03}"/>
              </a:ext>
            </a:extLst>
          </p:cNvPr>
          <p:cNvSpPr>
            <a:spLocks noGrp="1"/>
          </p:cNvSpPr>
          <p:nvPr/>
        </p:nvSpPr>
        <p:spPr>
          <a:xfrm>
            <a:off x="6934200" y="2276475"/>
            <a:ext cx="4895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estimator 唯一能看的输入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16A3FA-C03D-4847-85EA-862BAF6FC1CE}"/>
              </a:ext>
            </a:extLst>
          </p:cNvPr>
          <p:cNvSpPr>
            <a:spLocks noGrp="1"/>
          </p:cNvSpPr>
          <p:nvPr/>
        </p:nvSpPr>
        <p:spPr>
          <a:xfrm>
            <a:off x="285750" y="2914650"/>
            <a:ext cx="2667000" cy="723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1A5BA4-7347-4B76-A541-04903C1ACE9E}"/>
              </a:ext>
            </a:extLst>
          </p:cNvPr>
          <p:cNvSpPr>
            <a:spLocks noGrp="1"/>
          </p:cNvSpPr>
          <p:nvPr/>
        </p:nvSpPr>
        <p:spPr>
          <a:xfrm>
            <a:off x="361950" y="3000375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② Agent rollouts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84AFB3-EA23-4A31-A477-B0FA67929543}"/>
              </a:ext>
            </a:extLst>
          </p:cNvPr>
          <p:cNvSpPr>
            <a:spLocks noGrp="1"/>
          </p:cNvSpPr>
          <p:nvPr/>
        </p:nvSpPr>
        <p:spPr>
          <a:xfrm>
            <a:off x="2952750" y="2914650"/>
            <a:ext cx="2381250" cy="723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AA96CB-81F6-4873-8C40-0909FFA81EAB}"/>
              </a:ext>
            </a:extLst>
          </p:cNvPr>
          <p:cNvSpPr>
            <a:spLocks noGrp="1"/>
          </p:cNvSpPr>
          <p:nvPr/>
        </p:nvSpPr>
        <p:spPr>
          <a:xfrm>
            <a:off x="3028950" y="3000375"/>
            <a:ext cx="2228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(x_i, a_i^agent)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718ACE-F7C2-4F70-907F-5605BC4F5E5C}"/>
              </a:ext>
            </a:extLst>
          </p:cNvPr>
          <p:cNvSpPr>
            <a:spLocks noGrp="1"/>
          </p:cNvSpPr>
          <p:nvPr/>
        </p:nvSpPr>
        <p:spPr>
          <a:xfrm>
            <a:off x="5334000" y="2914650"/>
            <a:ext cx="1524000" cy="723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E0D09E-53D0-40AB-ABFE-1759C8645639}"/>
              </a:ext>
            </a:extLst>
          </p:cNvPr>
          <p:cNvSpPr>
            <a:spLocks noGrp="1"/>
          </p:cNvSpPr>
          <p:nvPr/>
        </p:nvSpPr>
        <p:spPr>
          <a:xfrm>
            <a:off x="5410200" y="300037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6E7387-EFA5-4490-BDA2-47AC0A54567F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5048250" cy="723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3083F8-DC90-460C-A884-5530B5F9C1C1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4895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用来算</a:t>
            </a:r>
            <a:r>
              <a:rPr sz="1200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π_e(</a:t>
            </a:r>
            <a:r>
              <a:rPr sz="1200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a|x</a:t>
            </a:r>
            <a:r>
              <a:rPr sz="1200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)、</a:t>
            </a:r>
            <a:r>
              <a:rPr sz="1200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训练分类器估</a:t>
            </a:r>
            <a:r>
              <a:rPr sz="1200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w；没有</a:t>
            </a:r>
            <a:r>
              <a:rPr sz="1200" b="0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B6C053-606F-4B04-AFCE-31BD18AC952D}"/>
              </a:ext>
            </a:extLst>
          </p:cNvPr>
          <p:cNvSpPr>
            <a:spLocks noGrp="1"/>
          </p:cNvSpPr>
          <p:nvPr/>
        </p:nvSpPr>
        <p:spPr>
          <a:xfrm>
            <a:off x="285750" y="3638550"/>
            <a:ext cx="2667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263586-4F4D-4FEC-8BA6-1FE57F43C5A6}"/>
              </a:ext>
            </a:extLst>
          </p:cNvPr>
          <p:cNvSpPr>
            <a:spLocks noGrp="1"/>
          </p:cNvSpPr>
          <p:nvPr/>
        </p:nvSpPr>
        <p:spPr>
          <a:xfrm>
            <a:off x="361950" y="3724275"/>
            <a:ext cx="2514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③ Ground truth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0D06D9-E9F5-40E8-85B1-BF6F0421D864}"/>
              </a:ext>
            </a:extLst>
          </p:cNvPr>
          <p:cNvSpPr>
            <a:spLocks noGrp="1"/>
          </p:cNvSpPr>
          <p:nvPr/>
        </p:nvSpPr>
        <p:spPr>
          <a:xfrm>
            <a:off x="2952750" y="3638550"/>
            <a:ext cx="23812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73E6C9-A622-490A-912F-AB7881BC3310}"/>
              </a:ext>
            </a:extLst>
          </p:cNvPr>
          <p:cNvSpPr>
            <a:spLocks noGrp="1"/>
          </p:cNvSpPr>
          <p:nvPr/>
        </p:nvSpPr>
        <p:spPr>
          <a:xfrm>
            <a:off x="3028950" y="3724275"/>
            <a:ext cx="22288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(x_i, a_i^agent, y_i^agent)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9E75A8-898E-46CC-8A70-4229EEAA82D9}"/>
              </a:ext>
            </a:extLst>
          </p:cNvPr>
          <p:cNvSpPr>
            <a:spLocks noGrp="1"/>
          </p:cNvSpPr>
          <p:nvPr/>
        </p:nvSpPr>
        <p:spPr>
          <a:xfrm>
            <a:off x="5334000" y="3638550"/>
            <a:ext cx="1524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368CC3-2851-4992-913F-A6AA60E42D70}"/>
              </a:ext>
            </a:extLst>
          </p:cNvPr>
          <p:cNvSpPr>
            <a:spLocks noGrp="1"/>
          </p:cNvSpPr>
          <p:nvPr/>
        </p:nvSpPr>
        <p:spPr>
          <a:xfrm>
            <a:off x="5410200" y="3724275"/>
            <a:ext cx="1371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B376FC-A464-4292-BCBB-F8CC2070B0F8}"/>
              </a:ext>
            </a:extLst>
          </p:cNvPr>
          <p:cNvSpPr>
            <a:spLocks noGrp="1"/>
          </p:cNvSpPr>
          <p:nvPr/>
        </p:nvSpPr>
        <p:spPr>
          <a:xfrm>
            <a:off x="6858000" y="3638550"/>
            <a:ext cx="50482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C3C5C06-0EF4-4C96-A355-8467B1D7BEFD}"/>
              </a:ext>
            </a:extLst>
          </p:cNvPr>
          <p:cNvSpPr>
            <a:spLocks noGrp="1"/>
          </p:cNvSpPr>
          <p:nvPr/>
        </p:nvSpPr>
        <p:spPr>
          <a:xfrm>
            <a:off x="6934200" y="3724275"/>
            <a:ext cx="48958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算 V_true(π_e)=0.8585；和 estimator 对账；真实部署里不存在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75F80E-BE87-45F3-AC2B-2E00F7A4DFFA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★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7C420F-545C-42CA-A5BE-C8E703FB083B}"/>
              </a:ext>
            </a:extLst>
          </p:cNvPr>
          <p:cNvSpPr>
            <a:spLocks noGrp="1"/>
          </p:cNvSpPr>
          <p:nvPr/>
        </p:nvSpPr>
        <p:spPr>
          <a:xfrm>
            <a:off x="1000125" y="5067300"/>
            <a:ext cx="1009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只有</a:t>
            </a:r>
            <a:r>
              <a:rPr sz="1650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① </a:t>
            </a:r>
            <a:r>
              <a:rPr sz="1650" b="1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是</a:t>
            </a:r>
            <a:r>
              <a:rPr sz="1650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logged </a:t>
            </a:r>
            <a:r>
              <a:rPr sz="1650" b="1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data。"logged</a:t>
            </a:r>
            <a:r>
              <a:rPr sz="1650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" </a:t>
            </a:r>
            <a:r>
              <a:rPr sz="1650" b="1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的字面来源：clinician</a:t>
            </a:r>
            <a:r>
              <a:rPr sz="1650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650" b="1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的诊疗活动被病历系统日志记下来了</a:t>
            </a:r>
            <a:r>
              <a:rPr sz="1650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；</a:t>
            </a:r>
            <a:endParaRPr lang="en-US" sz="1650" b="1" dirty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16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agent </a:t>
            </a:r>
            <a:r>
              <a:rPr sz="1650" b="1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没在真实病人身上跑过</a:t>
            </a:r>
            <a:r>
              <a:rPr sz="1650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 → </a:t>
            </a:r>
            <a:r>
              <a:rPr sz="1650" b="1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没有日志</a:t>
            </a:r>
            <a:r>
              <a:rPr sz="1650" b="1" dirty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6F7479-8D45-492D-84A6-2AA8D2AC4541}"/>
              </a:ext>
            </a:extLst>
          </p:cNvPr>
          <p:cNvSpPr>
            <a:spLocks noGrp="1"/>
          </p:cNvSpPr>
          <p:nvPr/>
        </p:nvSpPr>
        <p:spPr>
          <a:xfrm>
            <a:off x="1000125" y="5943600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所以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OPE </a:t>
            </a: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的难点是：只能看到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clinician </a:t>
            </a: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选过并被打分的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action，却要估计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agent policy </a:t>
            </a: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的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value。</a:t>
            </a:r>
          </a:p>
        </p:txBody>
      </p:sp>
    </p:spTree>
    <p:extLst>
      <p:ext uri="{BB962C8B-B14F-4D97-AF65-F5344CB8AC3E}">
        <p14:creationId xmlns:p14="http://schemas.microsoft.com/office/powerpoint/2010/main" val="172370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A8538D1-EB4D-41B5-92C2-5AF0511E2E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61C3A7-79B5-454F-B958-66EBEEB5E420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C4FFA-D53F-4BEE-B492-4861D9F28D27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REWARD / 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FFF387-6845-42EA-999B-3D6AB6797827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Reward Model 只需要学习同一个接口：f(X, A) → Y。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B8E17F-39AE-4E3C-9AC6-E7454BF3B634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当前可以先用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LLM-as-Judge </a:t>
            </a: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产出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Y；之后再用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scored rows </a:t>
            </a:r>
            <a:r>
              <a:rPr sz="1200" b="0" dirty="0" err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训练</a:t>
            </a:r>
            <a:r>
              <a:rPr sz="1200" b="0" dirty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 RM。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B15533-84BE-45E8-B940-B38723D8413C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A5694E-112A-40A1-87D2-A092F5CB8192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1B51A-3420-4BC4-821E-A7139ED0EA12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6ECD53-A78F-4458-B31F-3B2E747A4B1B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323850" cy="13811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E57E3-A735-46CE-9B5D-0E4AF00B7729}"/>
              </a:ext>
            </a:extLst>
          </p:cNvPr>
          <p:cNvSpPr>
            <a:spLocks noGrp="1"/>
          </p:cNvSpPr>
          <p:nvPr/>
        </p:nvSpPr>
        <p:spPr>
          <a:xfrm>
            <a:off x="1200150" y="23717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E68367-165C-4C75-9E29-DCB59D73DAA3}"/>
              </a:ext>
            </a:extLst>
          </p:cNvPr>
          <p:cNvSpPr>
            <a:spLocks noGrp="1"/>
          </p:cNvSpPr>
          <p:nvPr/>
        </p:nvSpPr>
        <p:spPr>
          <a:xfrm>
            <a:off x="1600200" y="23907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Context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D9AD6-EBC6-40B4-922E-41B7BF9247D8}"/>
              </a:ext>
            </a:extLst>
          </p:cNvPr>
          <p:cNvSpPr>
            <a:spLocks noGrp="1"/>
          </p:cNvSpPr>
          <p:nvPr/>
        </p:nvSpPr>
        <p:spPr>
          <a:xfrm>
            <a:off x="1600200" y="2695575"/>
            <a:ext cx="171450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x_patient_context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D6B8BB-5CEF-46C9-A5A8-3A21F89696AC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98EB0B-A89D-48FC-AFD8-0A7F65A87533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323850" cy="13811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CD13AA-7668-4A65-832A-173118224E10}"/>
              </a:ext>
            </a:extLst>
          </p:cNvPr>
          <p:cNvSpPr>
            <a:spLocks noGrp="1"/>
          </p:cNvSpPr>
          <p:nvPr/>
        </p:nvSpPr>
        <p:spPr>
          <a:xfrm>
            <a:off x="3771900" y="23717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F05006-88B8-45F3-8B12-017A69E34A49}"/>
              </a:ext>
            </a:extLst>
          </p:cNvPr>
          <p:cNvSpPr>
            <a:spLocks noGrp="1"/>
          </p:cNvSpPr>
          <p:nvPr/>
        </p:nvSpPr>
        <p:spPr>
          <a:xfrm>
            <a:off x="4171950" y="23907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Candidate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D0B975-C7BD-433D-BFD8-7DFA7F224BB0}"/>
              </a:ext>
            </a:extLst>
          </p:cNvPr>
          <p:cNvSpPr>
            <a:spLocks noGrp="1"/>
          </p:cNvSpPr>
          <p:nvPr/>
        </p:nvSpPr>
        <p:spPr>
          <a:xfrm>
            <a:off x="4171950" y="2695575"/>
            <a:ext cx="171450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a_clinician 或 a_agent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9C5A2C-DD58-46DD-8BBA-ECDF94A0DC5A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2286000" cy="1190625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277708-2AE7-44C4-87C5-BAA169D52E5C}"/>
              </a:ext>
            </a:extLst>
          </p:cNvPr>
          <p:cNvSpPr>
            <a:spLocks noGrp="1"/>
          </p:cNvSpPr>
          <p:nvPr/>
        </p:nvSpPr>
        <p:spPr>
          <a:xfrm>
            <a:off x="6953250" y="2571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Scorer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85F285-0327-403C-B8EC-F4CBBAB1DCDF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LLM-as-Judge / 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D4ECD7-1850-4038-8C49-4743F15F0BE8}"/>
              </a:ext>
            </a:extLst>
          </p:cNvPr>
          <p:cNvSpPr>
            <a:spLocks noGrp="1"/>
          </p:cNvSpPr>
          <p:nvPr/>
        </p:nvSpPr>
        <p:spPr>
          <a:xfrm>
            <a:off x="9334500" y="2238375"/>
            <a:ext cx="1619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E14075-9C05-4B71-9D25-3B43742EAE81}"/>
              </a:ext>
            </a:extLst>
          </p:cNvPr>
          <p:cNvSpPr>
            <a:spLocks noGrp="1"/>
          </p:cNvSpPr>
          <p:nvPr/>
        </p:nvSpPr>
        <p:spPr>
          <a:xfrm>
            <a:off x="9334500" y="2238375"/>
            <a:ext cx="323850" cy="13811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3E1455-7294-4F66-93C0-B8E0A30E78F6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06AD2-BD8A-44A8-BD0D-C3646695501A}"/>
              </a:ext>
            </a:extLst>
          </p:cNvPr>
          <p:cNvSpPr>
            <a:spLocks noGrp="1"/>
          </p:cNvSpPr>
          <p:nvPr/>
        </p:nvSpPr>
        <p:spPr>
          <a:xfrm>
            <a:off x="9791700" y="23907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Score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3BE97A-EFA2-447A-AE71-4E665E575A07}"/>
              </a:ext>
            </a:extLst>
          </p:cNvPr>
          <p:cNvSpPr>
            <a:spLocks noGrp="1"/>
          </p:cNvSpPr>
          <p:nvPr/>
        </p:nvSpPr>
        <p:spPr>
          <a:xfrm>
            <a:off x="9791700" y="2695575"/>
            <a:ext cx="10477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y_score ∈ [0,1]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7881B7-3A2F-4B1C-9DD4-BA328CE18690}"/>
              </a:ext>
            </a:extLst>
          </p:cNvPr>
          <p:cNvSpPr>
            <a:spLocks noGrp="1"/>
          </p:cNvSpPr>
          <p:nvPr/>
        </p:nvSpPr>
        <p:spPr>
          <a:xfrm>
            <a:off x="3457575" y="2905125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261081-4F5D-4FBB-B412-300A3955C8FA}"/>
              </a:ext>
            </a:extLst>
          </p:cNvPr>
          <p:cNvSpPr>
            <a:spLocks noGrp="1"/>
          </p:cNvSpPr>
          <p:nvPr/>
        </p:nvSpPr>
        <p:spPr>
          <a:xfrm>
            <a:off x="6048375" y="2905125"/>
            <a:ext cx="4762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E49B21-0170-4D59-BE9A-98C62D029017}"/>
              </a:ext>
            </a:extLst>
          </p:cNvPr>
          <p:cNvSpPr>
            <a:spLocks noGrp="1"/>
          </p:cNvSpPr>
          <p:nvPr/>
        </p:nvSpPr>
        <p:spPr>
          <a:xfrm>
            <a:off x="8896350" y="2905125"/>
            <a:ext cx="3810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2D25C4-8BB8-4CF3-93C0-E662B6EE6F6A}"/>
              </a:ext>
            </a:extLst>
          </p:cNvPr>
          <p:cNvSpPr>
            <a:spLocks noGrp="1"/>
          </p:cNvSpPr>
          <p:nvPr/>
        </p:nvSpPr>
        <p:spPr>
          <a:xfrm>
            <a:off x="1619250" y="4333875"/>
            <a:ext cx="20002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EAF75DF-8C67-4A28-BF1D-BCF1441520A9}"/>
              </a:ext>
            </a:extLst>
          </p:cNvPr>
          <p:cNvSpPr>
            <a:spLocks noGrp="1"/>
          </p:cNvSpPr>
          <p:nvPr/>
        </p:nvSpPr>
        <p:spPr>
          <a:xfrm>
            <a:off x="1695450" y="4419600"/>
            <a:ext cx="1847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方式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4A17CA-49AE-47FD-9CC2-E93E8082F0F4}"/>
              </a:ext>
            </a:extLst>
          </p:cNvPr>
          <p:cNvSpPr>
            <a:spLocks noGrp="1"/>
          </p:cNvSpPr>
          <p:nvPr/>
        </p:nvSpPr>
        <p:spPr>
          <a:xfrm>
            <a:off x="3619500" y="4333875"/>
            <a:ext cx="3714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74B09F-050C-44C9-B8C2-9A87411852EF}"/>
              </a:ext>
            </a:extLst>
          </p:cNvPr>
          <p:cNvSpPr>
            <a:spLocks noGrp="1"/>
          </p:cNvSpPr>
          <p:nvPr/>
        </p:nvSpPr>
        <p:spPr>
          <a:xfrm>
            <a:off x="3695700" y="4419600"/>
            <a:ext cx="3562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怎么使用数据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D4B6B9-9650-4281-B73B-A9CD834A7A21}"/>
              </a:ext>
            </a:extLst>
          </p:cNvPr>
          <p:cNvSpPr>
            <a:spLocks noGrp="1"/>
          </p:cNvSpPr>
          <p:nvPr/>
        </p:nvSpPr>
        <p:spPr>
          <a:xfrm>
            <a:off x="7334250" y="4333875"/>
            <a:ext cx="323850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514E26-BEFE-4311-B366-B30DED3BB962}"/>
              </a:ext>
            </a:extLst>
          </p:cNvPr>
          <p:cNvSpPr>
            <a:spLocks noGrp="1"/>
          </p:cNvSpPr>
          <p:nvPr/>
        </p:nvSpPr>
        <p:spPr>
          <a:xfrm>
            <a:off x="7410450" y="4419600"/>
            <a:ext cx="3086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产物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415535-71C8-4AB9-836F-330D4F524DB2}"/>
              </a:ext>
            </a:extLst>
          </p:cNvPr>
          <p:cNvSpPr>
            <a:spLocks noGrp="1"/>
          </p:cNvSpPr>
          <p:nvPr/>
        </p:nvSpPr>
        <p:spPr>
          <a:xfrm>
            <a:off x="1619250" y="4676775"/>
            <a:ext cx="2000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424F07-E44C-470D-A0C0-885E7DC61805}"/>
              </a:ext>
            </a:extLst>
          </p:cNvPr>
          <p:cNvSpPr>
            <a:spLocks noGrp="1"/>
          </p:cNvSpPr>
          <p:nvPr/>
        </p:nvSpPr>
        <p:spPr>
          <a:xfrm>
            <a:off x="1695450" y="4752975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LLM-as-Judge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A2CD68-2258-4A09-A4DB-ED6DE0E82DF5}"/>
              </a:ext>
            </a:extLst>
          </p:cNvPr>
          <p:cNvSpPr>
            <a:spLocks noGrp="1"/>
          </p:cNvSpPr>
          <p:nvPr/>
        </p:nvSpPr>
        <p:spPr>
          <a:xfrm>
            <a:off x="3619500" y="4676775"/>
            <a:ext cx="3714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A07DC7-AEE9-424D-BAFD-A3A342D1B005}"/>
              </a:ext>
            </a:extLst>
          </p:cNvPr>
          <p:cNvSpPr>
            <a:spLocks noGrp="1"/>
          </p:cNvSpPr>
          <p:nvPr/>
        </p:nvSpPr>
        <p:spPr>
          <a:xfrm>
            <a:off x="3695700" y="4752975"/>
            <a:ext cx="3562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把 (X,A) 输入 rubric prompt 直接评分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D4E27A-2CBC-4B38-A1E6-B053CA28A4D6}"/>
              </a:ext>
            </a:extLst>
          </p:cNvPr>
          <p:cNvSpPr>
            <a:spLocks noGrp="1"/>
          </p:cNvSpPr>
          <p:nvPr/>
        </p:nvSpPr>
        <p:spPr>
          <a:xfrm>
            <a:off x="7334250" y="4676775"/>
            <a:ext cx="3238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19977B-8CFC-49D8-B2DE-2C948DFACB7F}"/>
              </a:ext>
            </a:extLst>
          </p:cNvPr>
          <p:cNvSpPr>
            <a:spLocks noGrp="1"/>
          </p:cNvSpPr>
          <p:nvPr/>
        </p:nvSpPr>
        <p:spPr>
          <a:xfrm>
            <a:off x="7410450" y="4752975"/>
            <a:ext cx="308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y_score / y_agent_score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8C33C2-602C-463C-B24B-9B70995C01D0}"/>
              </a:ext>
            </a:extLst>
          </p:cNvPr>
          <p:cNvSpPr>
            <a:spLocks noGrp="1"/>
          </p:cNvSpPr>
          <p:nvPr/>
        </p:nvSpPr>
        <p:spPr>
          <a:xfrm>
            <a:off x="1619250" y="5210175"/>
            <a:ext cx="2000250" cy="5334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26BE3E-0452-4E66-92F9-02B34A25975C}"/>
              </a:ext>
            </a:extLst>
          </p:cNvPr>
          <p:cNvSpPr>
            <a:spLocks noGrp="1"/>
          </p:cNvSpPr>
          <p:nvPr/>
        </p:nvSpPr>
        <p:spPr>
          <a:xfrm>
            <a:off x="1695450" y="5286375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Reward Model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278B64-0BE6-4D86-963A-CF731228C53D}"/>
              </a:ext>
            </a:extLst>
          </p:cNvPr>
          <p:cNvSpPr>
            <a:spLocks noGrp="1"/>
          </p:cNvSpPr>
          <p:nvPr/>
        </p:nvSpPr>
        <p:spPr>
          <a:xfrm>
            <a:off x="3619500" y="5210175"/>
            <a:ext cx="3714750" cy="5334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2611F3F-B9A2-4CFE-9725-738ECC178A96}"/>
              </a:ext>
            </a:extLst>
          </p:cNvPr>
          <p:cNvSpPr>
            <a:spLocks noGrp="1"/>
          </p:cNvSpPr>
          <p:nvPr/>
        </p:nvSpPr>
        <p:spPr>
          <a:xfrm>
            <a:off x="3695700" y="5286375"/>
            <a:ext cx="3562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用 scored rows 监督训练 f(X,A)-&gt;Y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5BD565-DB6F-443C-9F98-DA80CE805B9E}"/>
              </a:ext>
            </a:extLst>
          </p:cNvPr>
          <p:cNvSpPr>
            <a:spLocks noGrp="1"/>
          </p:cNvSpPr>
          <p:nvPr/>
        </p:nvSpPr>
        <p:spPr>
          <a:xfrm>
            <a:off x="7334250" y="5210175"/>
            <a:ext cx="3238500" cy="5334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6DC159-A971-4DDD-B8F9-ED78A103830D}"/>
              </a:ext>
            </a:extLst>
          </p:cNvPr>
          <p:cNvSpPr>
            <a:spLocks noGrp="1"/>
          </p:cNvSpPr>
          <p:nvPr/>
        </p:nvSpPr>
        <p:spPr>
          <a:xfrm>
            <a:off x="7410450" y="5286375"/>
            <a:ext cx="308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冻结 RM 后批量打分</a:t>
            </a:r>
          </a:p>
        </p:txBody>
      </p:sp>
    </p:spTree>
    <p:extLst>
      <p:ext uri="{BB962C8B-B14F-4D97-AF65-F5344CB8AC3E}">
        <p14:creationId xmlns:p14="http://schemas.microsoft.com/office/powerpoint/2010/main" val="25922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AD34CF9-A6C1-4751-8525-0436FACE6A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078E41-F787-4F39-8C99-7097909FC4F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EC81DF-6B35-4F64-9CA7-BACCB4A20472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COUNSELBENCH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9C4CF-396D-4952-8FCC-0714D6A39FF4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构造：专家标注聚合，而不是 LLM judge。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3140BA-CA55-43B2-B750-395FEF4FF9F4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human response 做 baseline；gpt4 / llama3 / gemini 做 target responders。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72D68-BE41-4200-B663-368F25A6127D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D65882-91E8-4965-8A81-19A0A2AD61E7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0343B-A1BE-43A6-AAED-759D6E11D835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B78B8-8C90-41AF-8A6B-9455F87216AA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2000250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F1F0C-5DD2-4E9D-AAB6-C09F3E73A9D7}"/>
              </a:ext>
            </a:extLst>
          </p:cNvPr>
          <p:cNvSpPr>
            <a:spLocks noGrp="1"/>
          </p:cNvSpPr>
          <p:nvPr/>
        </p:nvSpPr>
        <p:spPr>
          <a:xfrm>
            <a:off x="1009650" y="2257425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2,000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EAC085-2DD7-4B60-8317-A4EA9E889BF5}"/>
              </a:ext>
            </a:extLst>
          </p:cNvPr>
          <p:cNvSpPr>
            <a:spLocks noGrp="1"/>
          </p:cNvSpPr>
          <p:nvPr/>
        </p:nvSpPr>
        <p:spPr>
          <a:xfrm>
            <a:off x="1009650" y="26574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raw annotation rows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CA3522-F7F3-49EE-89FD-90B4B00E90F0}"/>
              </a:ext>
            </a:extLst>
          </p:cNvPr>
          <p:cNvSpPr>
            <a:spLocks noGrp="1"/>
          </p:cNvSpPr>
          <p:nvPr/>
        </p:nvSpPr>
        <p:spPr>
          <a:xfrm>
            <a:off x="3095625" y="2047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8B8863-EB6E-430D-8BD7-E67EDFCFAAD1}"/>
              </a:ext>
            </a:extLst>
          </p:cNvPr>
          <p:cNvSpPr>
            <a:spLocks noGrp="1"/>
          </p:cNvSpPr>
          <p:nvPr/>
        </p:nvSpPr>
        <p:spPr>
          <a:xfrm>
            <a:off x="3095625" y="2047875"/>
            <a:ext cx="2000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FAB499-349F-4B03-AE0C-A8EFCD94C342}"/>
              </a:ext>
            </a:extLst>
          </p:cNvPr>
          <p:cNvSpPr>
            <a:spLocks noGrp="1"/>
          </p:cNvSpPr>
          <p:nvPr/>
        </p:nvSpPr>
        <p:spPr>
          <a:xfrm>
            <a:off x="3267075" y="2257425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400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780C38-A997-4D04-BB26-AD4F2748FC3F}"/>
              </a:ext>
            </a:extLst>
          </p:cNvPr>
          <p:cNvSpPr>
            <a:spLocks noGrp="1"/>
          </p:cNvSpPr>
          <p:nvPr/>
        </p:nvSpPr>
        <p:spPr>
          <a:xfrm>
            <a:off x="3267075" y="26574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aggregated rows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A684BE-36F1-4BA5-941C-5309B1356625}"/>
              </a:ext>
            </a:extLst>
          </p:cNvPr>
          <p:cNvSpPr>
            <a:spLocks noGrp="1"/>
          </p:cNvSpPr>
          <p:nvPr/>
        </p:nvSpPr>
        <p:spPr>
          <a:xfrm>
            <a:off x="5353050" y="2047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05D141-00F1-4283-845B-39585AA48237}"/>
              </a:ext>
            </a:extLst>
          </p:cNvPr>
          <p:cNvSpPr>
            <a:spLocks noGrp="1"/>
          </p:cNvSpPr>
          <p:nvPr/>
        </p:nvSpPr>
        <p:spPr>
          <a:xfrm>
            <a:off x="5353050" y="2047875"/>
            <a:ext cx="2000250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AC9C12-68E7-4B36-82F9-2F7B4669DEA6}"/>
              </a:ext>
            </a:extLst>
          </p:cNvPr>
          <p:cNvSpPr>
            <a:spLocks noGrp="1"/>
          </p:cNvSpPr>
          <p:nvPr/>
        </p:nvSpPr>
        <p:spPr>
          <a:xfrm>
            <a:off x="5524500" y="2257425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9B170-1892-440D-9D05-C47614FC8C90}"/>
              </a:ext>
            </a:extLst>
          </p:cNvPr>
          <p:cNvSpPr>
            <a:spLocks noGrp="1"/>
          </p:cNvSpPr>
          <p:nvPr/>
        </p:nvSpPr>
        <p:spPr>
          <a:xfrm>
            <a:off x="5524500" y="26574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human baseline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956BA5-4D74-4F27-A6C2-11B5044AE59F}"/>
              </a:ext>
            </a:extLst>
          </p:cNvPr>
          <p:cNvSpPr>
            <a:spLocks noGrp="1"/>
          </p:cNvSpPr>
          <p:nvPr/>
        </p:nvSpPr>
        <p:spPr>
          <a:xfrm>
            <a:off x="7610475" y="2047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705377-2FFC-4DF0-B09F-2FEAA77A26E9}"/>
              </a:ext>
            </a:extLst>
          </p:cNvPr>
          <p:cNvSpPr>
            <a:spLocks noGrp="1"/>
          </p:cNvSpPr>
          <p:nvPr/>
        </p:nvSpPr>
        <p:spPr>
          <a:xfrm>
            <a:off x="7610475" y="2047875"/>
            <a:ext cx="200025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2BB1CB-997B-41C0-B9A9-DCD3E7745681}"/>
              </a:ext>
            </a:extLst>
          </p:cNvPr>
          <p:cNvSpPr>
            <a:spLocks noGrp="1"/>
          </p:cNvSpPr>
          <p:nvPr/>
        </p:nvSpPr>
        <p:spPr>
          <a:xfrm>
            <a:off x="7781925" y="2257425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3×100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B2C787-2ED6-4BEF-8C20-29B095C289DA}"/>
              </a:ext>
            </a:extLst>
          </p:cNvPr>
          <p:cNvSpPr>
            <a:spLocks noGrp="1"/>
          </p:cNvSpPr>
          <p:nvPr/>
        </p:nvSpPr>
        <p:spPr>
          <a:xfrm>
            <a:off x="7781925" y="26574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target pairs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07234C-DF4F-4D91-887E-F5C1568439F9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22860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F496DB-A570-4278-BA5B-370E78EEB438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323850" cy="123825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0C8AC0-D355-426A-AD21-090B06797EE8}"/>
              </a:ext>
            </a:extLst>
          </p:cNvPr>
          <p:cNvSpPr>
            <a:spLocks noGrp="1"/>
          </p:cNvSpPr>
          <p:nvPr/>
        </p:nvSpPr>
        <p:spPr>
          <a:xfrm>
            <a:off x="962025" y="39909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1E3DB5-E5BC-4657-B938-FFC505757733}"/>
              </a:ext>
            </a:extLst>
          </p:cNvPr>
          <p:cNvSpPr>
            <a:spLocks noGrp="1"/>
          </p:cNvSpPr>
          <p:nvPr/>
        </p:nvSpPr>
        <p:spPr>
          <a:xfrm>
            <a:off x="1362075" y="40100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Aggregate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A2F8B3-2106-4B90-885E-7D748D097F6F}"/>
              </a:ext>
            </a:extLst>
          </p:cNvPr>
          <p:cNvSpPr>
            <a:spLocks noGrp="1"/>
          </p:cNvSpPr>
          <p:nvPr/>
        </p:nvSpPr>
        <p:spPr>
          <a:xfrm>
            <a:off x="1362075" y="4314825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groupby(questionID, responder)</a:t>
            </a:r>
          </a:p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平均 5 个 expert annotations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E96EBD-BECF-4F18-AEE7-005C1273E4A3}"/>
              </a:ext>
            </a:extLst>
          </p:cNvPr>
          <p:cNvSpPr>
            <a:spLocks noGrp="1"/>
          </p:cNvSpPr>
          <p:nvPr/>
        </p:nvSpPr>
        <p:spPr>
          <a:xfrm>
            <a:off x="3619500" y="3857625"/>
            <a:ext cx="22860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08D06E-4AB2-4F9E-905F-1635501FE369}"/>
              </a:ext>
            </a:extLst>
          </p:cNvPr>
          <p:cNvSpPr>
            <a:spLocks noGrp="1"/>
          </p:cNvSpPr>
          <p:nvPr/>
        </p:nvSpPr>
        <p:spPr>
          <a:xfrm>
            <a:off x="3619500" y="3857625"/>
            <a:ext cx="323850" cy="1238250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B9C42D-3DF5-4462-A9E9-182116C97268}"/>
              </a:ext>
            </a:extLst>
          </p:cNvPr>
          <p:cNvSpPr>
            <a:spLocks noGrp="1"/>
          </p:cNvSpPr>
          <p:nvPr/>
        </p:nvSpPr>
        <p:spPr>
          <a:xfrm>
            <a:off x="3676650" y="39909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647071-43F8-4CB1-81AC-475733C3D846}"/>
              </a:ext>
            </a:extLst>
          </p:cNvPr>
          <p:cNvSpPr>
            <a:spLocks noGrp="1"/>
          </p:cNvSpPr>
          <p:nvPr/>
        </p:nvSpPr>
        <p:spPr>
          <a:xfrm>
            <a:off x="4076700" y="40100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Build baseline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23E2E2-2A66-4763-8739-FBA80E778A24}"/>
              </a:ext>
            </a:extLst>
          </p:cNvPr>
          <p:cNvSpPr>
            <a:spLocks noGrp="1"/>
          </p:cNvSpPr>
          <p:nvPr/>
        </p:nvSpPr>
        <p:spPr>
          <a:xfrm>
            <a:off x="4076700" y="4314825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100 human therapist responses</a:t>
            </a:r>
          </a:p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写成 canonical Phase 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585550-99B3-4FAE-9626-4AE9273DFEC6}"/>
              </a:ext>
            </a:extLst>
          </p:cNvPr>
          <p:cNvSpPr>
            <a:spLocks noGrp="1"/>
          </p:cNvSpPr>
          <p:nvPr/>
        </p:nvSpPr>
        <p:spPr>
          <a:xfrm>
            <a:off x="6334125" y="3857625"/>
            <a:ext cx="22860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FFFF16-87F9-482C-A78A-1376E8705A4F}"/>
              </a:ext>
            </a:extLst>
          </p:cNvPr>
          <p:cNvSpPr>
            <a:spLocks noGrp="1"/>
          </p:cNvSpPr>
          <p:nvPr/>
        </p:nvSpPr>
        <p:spPr>
          <a:xfrm>
            <a:off x="6334125" y="3857625"/>
            <a:ext cx="323850" cy="12382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6076E9-80B4-4742-9513-709626EC7196}"/>
              </a:ext>
            </a:extLst>
          </p:cNvPr>
          <p:cNvSpPr>
            <a:spLocks noGrp="1"/>
          </p:cNvSpPr>
          <p:nvPr/>
        </p:nvSpPr>
        <p:spPr>
          <a:xfrm>
            <a:off x="6391275" y="39909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C49ED8-F157-4AEC-9328-7DE36FA75354}"/>
              </a:ext>
            </a:extLst>
          </p:cNvPr>
          <p:cNvSpPr>
            <a:spLocks noGrp="1"/>
          </p:cNvSpPr>
          <p:nvPr/>
        </p:nvSpPr>
        <p:spPr>
          <a:xfrm>
            <a:off x="6791325" y="40100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Pair targets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44FFE0-F8FF-4D5B-BE31-9E32BC59B4B1}"/>
              </a:ext>
            </a:extLst>
          </p:cNvPr>
          <p:cNvSpPr>
            <a:spLocks noGrp="1"/>
          </p:cNvSpPr>
          <p:nvPr/>
        </p:nvSpPr>
        <p:spPr>
          <a:xfrm>
            <a:off x="6791325" y="4314825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gpt4 / llama3 / gemini</a:t>
            </a:r>
          </a:p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各 100 paired rows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FEA0F4-7281-42A0-A5F6-8D72258894A2}"/>
              </a:ext>
            </a:extLst>
          </p:cNvPr>
          <p:cNvSpPr>
            <a:spLocks noGrp="1"/>
          </p:cNvSpPr>
          <p:nvPr/>
        </p:nvSpPr>
        <p:spPr>
          <a:xfrm>
            <a:off x="9048750" y="3857625"/>
            <a:ext cx="18097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E9DE3C0-2481-45B3-B9A4-B4F2B206693A}"/>
              </a:ext>
            </a:extLst>
          </p:cNvPr>
          <p:cNvSpPr>
            <a:spLocks noGrp="1"/>
          </p:cNvSpPr>
          <p:nvPr/>
        </p:nvSpPr>
        <p:spPr>
          <a:xfrm>
            <a:off x="9048750" y="3857625"/>
            <a:ext cx="323850" cy="1238250"/>
          </a:xfrm>
          <a:prstGeom prst="rect">
            <a:avLst/>
          </a:prstGeom>
          <a:solidFill>
            <a:srgbClr val="3A7A4E"/>
          </a:solidFill>
          <a:ln w="0">
            <a:solidFill>
              <a:srgbClr val="3A7A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ADA90A-1129-4A68-AADB-132740516796}"/>
              </a:ext>
            </a:extLst>
          </p:cNvPr>
          <p:cNvSpPr>
            <a:spLocks noGrp="1"/>
          </p:cNvSpPr>
          <p:nvPr/>
        </p:nvSpPr>
        <p:spPr>
          <a:xfrm>
            <a:off x="9105900" y="39909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26F6C0B-A9CA-4F5A-A6FC-2E2B47A3B776}"/>
              </a:ext>
            </a:extLst>
          </p:cNvPr>
          <p:cNvSpPr>
            <a:spLocks noGrp="1"/>
          </p:cNvSpPr>
          <p:nvPr/>
        </p:nvSpPr>
        <p:spPr>
          <a:xfrm>
            <a:off x="9505950" y="40100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rPr>
              <a:t>Effect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BA2099-51A1-4EFB-BE06-6459D278E761}"/>
              </a:ext>
            </a:extLst>
          </p:cNvPr>
          <p:cNvSpPr>
            <a:spLocks noGrp="1"/>
          </p:cNvSpPr>
          <p:nvPr/>
        </p:nvSpPr>
        <p:spPr>
          <a:xfrm>
            <a:off x="9505950" y="4314825"/>
            <a:ext cx="1238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V_agent - V_b</a:t>
            </a:r>
          </a:p>
        </p:txBody>
      </p:sp>
    </p:spTree>
    <p:extLst>
      <p:ext uri="{BB962C8B-B14F-4D97-AF65-F5344CB8AC3E}">
        <p14:creationId xmlns:p14="http://schemas.microsoft.com/office/powerpoint/2010/main" val="186307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68A4F202-EE55-4C44-8502-3E4398457B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430CD6-9F7F-4A49-A4D3-7C58E582970D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C2AEF9-64F4-441D-9281-71085D90AE81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DIFFERENCE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D25A1-24C3-4803-89BE-DFA605A75C0D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与前四类 source 的构造差异。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942E0A-4059-43E6-BEB7-11AAF5590856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重点看 domain、A 的定义、Y 的来源。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F963B-F089-4C5F-AB01-7FA4944BAA33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42F173-D273-4C72-8BF1-3CFAAB6728EF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B4C2D2-C672-445F-94DB-C7F7A668CA0F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12382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F077B0-B361-4BD2-8B61-77D1CBF39E82}"/>
              </a:ext>
            </a:extLst>
          </p:cNvPr>
          <p:cNvSpPr>
            <a:spLocks noGrp="1"/>
          </p:cNvSpPr>
          <p:nvPr/>
        </p:nvSpPr>
        <p:spPr>
          <a:xfrm>
            <a:off x="533400" y="20383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Source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12E8D9-FE98-4101-8A4C-E94A3388FB42}"/>
              </a:ext>
            </a:extLst>
          </p:cNvPr>
          <p:cNvSpPr>
            <a:spLocks noGrp="1"/>
          </p:cNvSpPr>
          <p:nvPr/>
        </p:nvSpPr>
        <p:spPr>
          <a:xfrm>
            <a:off x="1695450" y="1952625"/>
            <a:ext cx="1809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63DA9-CECC-447E-9163-C5FC088EA25B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1657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Domain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C9569C-E37D-469B-B055-EA4D23A542BA}"/>
              </a:ext>
            </a:extLst>
          </p:cNvPr>
          <p:cNvSpPr>
            <a:spLocks noGrp="1"/>
          </p:cNvSpPr>
          <p:nvPr/>
        </p:nvSpPr>
        <p:spPr>
          <a:xfrm>
            <a:off x="3505200" y="1952625"/>
            <a:ext cx="2571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BB8382-C065-468B-9A74-2C6B6D2AB3F7}"/>
              </a:ext>
            </a:extLst>
          </p:cNvPr>
          <p:cNvSpPr>
            <a:spLocks noGrp="1"/>
          </p:cNvSpPr>
          <p:nvPr/>
        </p:nvSpPr>
        <p:spPr>
          <a:xfrm>
            <a:off x="3581400" y="203835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2D5BD3-B801-4AA5-BA42-FB25DCB6ACC5}"/>
              </a:ext>
            </a:extLst>
          </p:cNvPr>
          <p:cNvSpPr>
            <a:spLocks noGrp="1"/>
          </p:cNvSpPr>
          <p:nvPr/>
        </p:nvSpPr>
        <p:spPr>
          <a:xfrm>
            <a:off x="6076950" y="1952625"/>
            <a:ext cx="2571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256AF-F94E-4D41-8B6D-411D2044163F}"/>
              </a:ext>
            </a:extLst>
          </p:cNvPr>
          <p:cNvSpPr>
            <a:spLocks noGrp="1"/>
          </p:cNvSpPr>
          <p:nvPr/>
        </p:nvSpPr>
        <p:spPr>
          <a:xfrm>
            <a:off x="6153150" y="203835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 / 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6CF4CA-DCB3-4AC1-9071-F10C3491A28C}"/>
              </a:ext>
            </a:extLst>
          </p:cNvPr>
          <p:cNvSpPr>
            <a:spLocks noGrp="1"/>
          </p:cNvSpPr>
          <p:nvPr/>
        </p:nvSpPr>
        <p:spPr>
          <a:xfrm>
            <a:off x="8648700" y="1952625"/>
            <a:ext cx="209550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AB5EC-4A5B-4A47-82AB-2518CAEB0B73}"/>
              </a:ext>
            </a:extLst>
          </p:cNvPr>
          <p:cNvSpPr>
            <a:spLocks noGrp="1"/>
          </p:cNvSpPr>
          <p:nvPr/>
        </p:nvSpPr>
        <p:spPr>
          <a:xfrm>
            <a:off x="8724900" y="203835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Y / reward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2D1C08-7F68-495C-AAE4-F14C2097F53A}"/>
              </a:ext>
            </a:extLst>
          </p:cNvPr>
          <p:cNvSpPr>
            <a:spLocks noGrp="1"/>
          </p:cNvSpPr>
          <p:nvPr/>
        </p:nvSpPr>
        <p:spPr>
          <a:xfrm>
            <a:off x="10744200" y="1952625"/>
            <a:ext cx="114300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0EE7E9-7798-4804-BEB5-13E5E90B8B71}"/>
              </a:ext>
            </a:extLst>
          </p:cNvPr>
          <p:cNvSpPr>
            <a:spLocks noGrp="1"/>
          </p:cNvSpPr>
          <p:nvPr/>
        </p:nvSpPr>
        <p:spPr>
          <a:xfrm>
            <a:off x="10820400" y="2038350"/>
            <a:ext cx="990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状态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F55BC7-CC71-4EB5-8768-3D94D636A74E}"/>
              </a:ext>
            </a:extLst>
          </p:cNvPr>
          <p:cNvSpPr>
            <a:spLocks noGrp="1"/>
          </p:cNvSpPr>
          <p:nvPr/>
        </p:nvSpPr>
        <p:spPr>
          <a:xfrm>
            <a:off x="457200" y="2295525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BD6188-5885-4E95-AEC3-FFF52B7D1E0D}"/>
              </a:ext>
            </a:extLst>
          </p:cNvPr>
          <p:cNvSpPr>
            <a:spLocks noGrp="1"/>
          </p:cNvSpPr>
          <p:nvPr/>
        </p:nvSpPr>
        <p:spPr>
          <a:xfrm>
            <a:off x="533400" y="237172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E63625-627D-4C2A-AB0B-2A9E10ABF8EF}"/>
              </a:ext>
            </a:extLst>
          </p:cNvPr>
          <p:cNvSpPr>
            <a:spLocks noGrp="1"/>
          </p:cNvSpPr>
          <p:nvPr/>
        </p:nvSpPr>
        <p:spPr>
          <a:xfrm>
            <a:off x="1695450" y="22955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948E6E-4CC9-4834-9444-1DC5B2D159D9}"/>
              </a:ext>
            </a:extLst>
          </p:cNvPr>
          <p:cNvSpPr>
            <a:spLocks noGrp="1"/>
          </p:cNvSpPr>
          <p:nvPr/>
        </p:nvSpPr>
        <p:spPr>
          <a:xfrm>
            <a:off x="1771650" y="237172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clinical encounter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82F882-4A1B-4FD6-A28E-8D711DD15CA5}"/>
              </a:ext>
            </a:extLst>
          </p:cNvPr>
          <p:cNvSpPr>
            <a:spLocks noGrp="1"/>
          </p:cNvSpPr>
          <p:nvPr/>
        </p:nvSpPr>
        <p:spPr>
          <a:xfrm>
            <a:off x="3505200" y="22955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F1F196-49A1-404E-82B7-33F68F4EA023}"/>
              </a:ext>
            </a:extLst>
          </p:cNvPr>
          <p:cNvSpPr>
            <a:spLocks noGrp="1"/>
          </p:cNvSpPr>
          <p:nvPr/>
        </p:nvSpPr>
        <p:spPr>
          <a:xfrm>
            <a:off x="3581400" y="23717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full dialogue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EA0ECB-C1F0-4D4E-AD3B-8BCE77429A74}"/>
              </a:ext>
            </a:extLst>
          </p:cNvPr>
          <p:cNvSpPr>
            <a:spLocks noGrp="1"/>
          </p:cNvSpPr>
          <p:nvPr/>
        </p:nvSpPr>
        <p:spPr>
          <a:xfrm>
            <a:off x="6076950" y="22955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CACB56-C2FA-44E2-B917-0DF53BA31B4E}"/>
              </a:ext>
            </a:extLst>
          </p:cNvPr>
          <p:cNvSpPr>
            <a:spLocks noGrp="1"/>
          </p:cNvSpPr>
          <p:nvPr/>
        </p:nvSpPr>
        <p:spPr>
          <a:xfrm>
            <a:off x="6153150" y="23717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note 中的 assessment / plan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3E1569-C473-44D3-8091-4A412BC934C5}"/>
              </a:ext>
            </a:extLst>
          </p:cNvPr>
          <p:cNvSpPr>
            <a:spLocks noGrp="1"/>
          </p:cNvSpPr>
          <p:nvPr/>
        </p:nvSpPr>
        <p:spPr>
          <a:xfrm>
            <a:off x="8648700" y="2295525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DD7CF3-EB1C-4263-8F66-4ED97A936195}"/>
              </a:ext>
            </a:extLst>
          </p:cNvPr>
          <p:cNvSpPr>
            <a:spLocks noGrp="1"/>
          </p:cNvSpPr>
          <p:nvPr/>
        </p:nvSpPr>
        <p:spPr>
          <a:xfrm>
            <a:off x="8724900" y="237172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/ RM score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1AC61A-433F-4F2A-B26E-059A484A7B7E}"/>
              </a:ext>
            </a:extLst>
          </p:cNvPr>
          <p:cNvSpPr>
            <a:spLocks noGrp="1"/>
          </p:cNvSpPr>
          <p:nvPr/>
        </p:nvSpPr>
        <p:spPr>
          <a:xfrm>
            <a:off x="10744200" y="2295525"/>
            <a:ext cx="1143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FB731F-0D40-4F30-8020-AA583F2D5137}"/>
              </a:ext>
            </a:extLst>
          </p:cNvPr>
          <p:cNvSpPr>
            <a:spLocks noGrp="1"/>
          </p:cNvSpPr>
          <p:nvPr/>
        </p:nvSpPr>
        <p:spPr>
          <a:xfrm>
            <a:off x="10820400" y="237172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</a:t>
            </a:r>
          </a:p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207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5D2B4C-7D2D-4749-870D-67B2D54F17C7}"/>
              </a:ext>
            </a:extLst>
          </p:cNvPr>
          <p:cNvSpPr>
            <a:spLocks noGrp="1"/>
          </p:cNvSpPr>
          <p:nvPr/>
        </p:nvSpPr>
        <p:spPr>
          <a:xfrm>
            <a:off x="457200" y="2886075"/>
            <a:ext cx="12382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AD033A-FA9D-4419-9E2C-BDCBF48905BD}"/>
              </a:ext>
            </a:extLst>
          </p:cNvPr>
          <p:cNvSpPr>
            <a:spLocks noGrp="1"/>
          </p:cNvSpPr>
          <p:nvPr/>
        </p:nvSpPr>
        <p:spPr>
          <a:xfrm>
            <a:off x="533400" y="296227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D91ED8-99D2-439B-BDA5-005584DE8B4C}"/>
              </a:ext>
            </a:extLst>
          </p:cNvPr>
          <p:cNvSpPr>
            <a:spLocks noGrp="1"/>
          </p:cNvSpPr>
          <p:nvPr/>
        </p:nvSpPr>
        <p:spPr>
          <a:xfrm>
            <a:off x="1695450" y="2886075"/>
            <a:ext cx="1809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422DA8-5072-4DF3-89C2-0BEEBD5BC15B}"/>
              </a:ext>
            </a:extLst>
          </p:cNvPr>
          <p:cNvSpPr>
            <a:spLocks noGrp="1"/>
          </p:cNvSpPr>
          <p:nvPr/>
        </p:nvSpPr>
        <p:spPr>
          <a:xfrm>
            <a:off x="1771650" y="296227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clinical dialogue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D79C69-C0E1-4A01-8406-13F0248412EA}"/>
              </a:ext>
            </a:extLst>
          </p:cNvPr>
          <p:cNvSpPr>
            <a:spLocks noGrp="1"/>
          </p:cNvSpPr>
          <p:nvPr/>
        </p:nvSpPr>
        <p:spPr>
          <a:xfrm>
            <a:off x="3505200" y="2886075"/>
            <a:ext cx="2571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85D0F6-EB97-4A29-B753-99C4126A1B55}"/>
              </a:ext>
            </a:extLst>
          </p:cNvPr>
          <p:cNvSpPr>
            <a:spLocks noGrp="1"/>
          </p:cNvSpPr>
          <p:nvPr/>
        </p:nvSpPr>
        <p:spPr>
          <a:xfrm>
            <a:off x="3581400" y="296227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short dialogue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98F217-B761-4432-AB17-4C308DFA304C}"/>
              </a:ext>
            </a:extLst>
          </p:cNvPr>
          <p:cNvSpPr>
            <a:spLocks noGrp="1"/>
          </p:cNvSpPr>
          <p:nvPr/>
        </p:nvSpPr>
        <p:spPr>
          <a:xfrm>
            <a:off x="6076950" y="2886075"/>
            <a:ext cx="2571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B00C34-9EBC-4E06-ABCD-B7EE7D7B6801}"/>
              </a:ext>
            </a:extLst>
          </p:cNvPr>
          <p:cNvSpPr>
            <a:spLocks noGrp="1"/>
          </p:cNvSpPr>
          <p:nvPr/>
        </p:nvSpPr>
        <p:spPr>
          <a:xfrm>
            <a:off x="6153150" y="296227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action-like section summary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8B4C1E-8397-40F1-9148-9CEAEA176584}"/>
              </a:ext>
            </a:extLst>
          </p:cNvPr>
          <p:cNvSpPr>
            <a:spLocks noGrp="1"/>
          </p:cNvSpPr>
          <p:nvPr/>
        </p:nvSpPr>
        <p:spPr>
          <a:xfrm>
            <a:off x="8648700" y="2886075"/>
            <a:ext cx="20955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4E695F-AAFF-49DE-B119-A5354A0C9109}"/>
              </a:ext>
            </a:extLst>
          </p:cNvPr>
          <p:cNvSpPr>
            <a:spLocks noGrp="1"/>
          </p:cNvSpPr>
          <p:nvPr/>
        </p:nvSpPr>
        <p:spPr>
          <a:xfrm>
            <a:off x="8724900" y="296227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/ RM score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CCEDCB-909A-4933-B671-84F92B437106}"/>
              </a:ext>
            </a:extLst>
          </p:cNvPr>
          <p:cNvSpPr>
            <a:spLocks noGrp="1"/>
          </p:cNvSpPr>
          <p:nvPr/>
        </p:nvSpPr>
        <p:spPr>
          <a:xfrm>
            <a:off x="10744200" y="2886075"/>
            <a:ext cx="11430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CDDC23E-34D6-4CB3-B970-59BF9256B720}"/>
              </a:ext>
            </a:extLst>
          </p:cNvPr>
          <p:cNvSpPr>
            <a:spLocks noGrp="1"/>
          </p:cNvSpPr>
          <p:nvPr/>
        </p:nvSpPr>
        <p:spPr>
          <a:xfrm>
            <a:off x="10820400" y="296227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</a:t>
            </a:r>
          </a:p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142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F5AC64-9914-4EE9-B96D-43F3A21DCDA8}"/>
              </a:ext>
            </a:extLst>
          </p:cNvPr>
          <p:cNvSpPr>
            <a:spLocks noGrp="1"/>
          </p:cNvSpPr>
          <p:nvPr/>
        </p:nvSpPr>
        <p:spPr>
          <a:xfrm>
            <a:off x="457200" y="3476625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08B9E39-A979-4D46-8AF7-E1B19B1BD68C}"/>
              </a:ext>
            </a:extLst>
          </p:cNvPr>
          <p:cNvSpPr>
            <a:spLocks noGrp="1"/>
          </p:cNvSpPr>
          <p:nvPr/>
        </p:nvSpPr>
        <p:spPr>
          <a:xfrm>
            <a:off x="533400" y="355282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DB629A-743C-491C-AF9E-F46C9D5F2198}"/>
              </a:ext>
            </a:extLst>
          </p:cNvPr>
          <p:cNvSpPr>
            <a:spLocks noGrp="1"/>
          </p:cNvSpPr>
          <p:nvPr/>
        </p:nvSpPr>
        <p:spPr>
          <a:xfrm>
            <a:off x="1695450" y="34766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F52119D-0C31-4AD4-BD48-34584B83AF05}"/>
              </a:ext>
            </a:extLst>
          </p:cNvPr>
          <p:cNvSpPr>
            <a:spLocks noGrp="1"/>
          </p:cNvSpPr>
          <p:nvPr/>
        </p:nvSpPr>
        <p:spPr>
          <a:xfrm>
            <a:off x="1771650" y="355282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mock primary care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3FC7772-0D8B-4770-9ACE-FCF9ED3C87CA}"/>
              </a:ext>
            </a:extLst>
          </p:cNvPr>
          <p:cNvSpPr>
            <a:spLocks noGrp="1"/>
          </p:cNvSpPr>
          <p:nvPr/>
        </p:nvSpPr>
        <p:spPr>
          <a:xfrm>
            <a:off x="3505200" y="34766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9C61AAE-04F7-4FDE-8E1B-ADEE3C28BF8D}"/>
              </a:ext>
            </a:extLst>
          </p:cNvPr>
          <p:cNvSpPr>
            <a:spLocks noGrp="1"/>
          </p:cNvSpPr>
          <p:nvPr/>
        </p:nvSpPr>
        <p:spPr>
          <a:xfrm>
            <a:off x="3581400" y="35528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merged transcript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0DEEEA2-0017-4CFC-8F50-D3C65BCF3FB5}"/>
              </a:ext>
            </a:extLst>
          </p:cNvPr>
          <p:cNvSpPr>
            <a:spLocks noGrp="1"/>
          </p:cNvSpPr>
          <p:nvPr/>
        </p:nvSpPr>
        <p:spPr>
          <a:xfrm>
            <a:off x="6076950" y="34766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F52603-EBFD-4EB7-8765-FD4634EF880F}"/>
              </a:ext>
            </a:extLst>
          </p:cNvPr>
          <p:cNvSpPr>
            <a:spLocks noGrp="1"/>
          </p:cNvSpPr>
          <p:nvPr/>
        </p:nvSpPr>
        <p:spPr>
          <a:xfrm>
            <a:off x="6153150" y="35528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note 中 impression / plan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3CCD46-4BF1-4810-B8D6-AFA9C2C249D6}"/>
              </a:ext>
            </a:extLst>
          </p:cNvPr>
          <p:cNvSpPr>
            <a:spLocks noGrp="1"/>
          </p:cNvSpPr>
          <p:nvPr/>
        </p:nvSpPr>
        <p:spPr>
          <a:xfrm>
            <a:off x="8648700" y="3476625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B2E05AD-C17F-449D-AA15-52408531BC4C}"/>
              </a:ext>
            </a:extLst>
          </p:cNvPr>
          <p:cNvSpPr>
            <a:spLocks noGrp="1"/>
          </p:cNvSpPr>
          <p:nvPr/>
        </p:nvSpPr>
        <p:spPr>
          <a:xfrm>
            <a:off x="8724900" y="355282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/ RM score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A69D465-E92C-4BF1-8F3A-88A945112B30}"/>
              </a:ext>
            </a:extLst>
          </p:cNvPr>
          <p:cNvSpPr>
            <a:spLocks noGrp="1"/>
          </p:cNvSpPr>
          <p:nvPr/>
        </p:nvSpPr>
        <p:spPr>
          <a:xfrm>
            <a:off x="10744200" y="3476625"/>
            <a:ext cx="1143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99A62A-06E4-497B-892C-B094C5B888E1}"/>
              </a:ext>
            </a:extLst>
          </p:cNvPr>
          <p:cNvSpPr>
            <a:spLocks noGrp="1"/>
          </p:cNvSpPr>
          <p:nvPr/>
        </p:nvSpPr>
        <p:spPr>
          <a:xfrm>
            <a:off x="10820400" y="355282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</a:t>
            </a:r>
          </a:p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33F393-5185-4CD9-863A-72EDC4CD0113}"/>
              </a:ext>
            </a:extLst>
          </p:cNvPr>
          <p:cNvSpPr>
            <a:spLocks noGrp="1"/>
          </p:cNvSpPr>
          <p:nvPr/>
        </p:nvSpPr>
        <p:spPr>
          <a:xfrm>
            <a:off x="457200" y="4067175"/>
            <a:ext cx="12382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24BD95-492B-44DE-BED7-F5888C8C1674}"/>
              </a:ext>
            </a:extLst>
          </p:cNvPr>
          <p:cNvSpPr>
            <a:spLocks noGrp="1"/>
          </p:cNvSpPr>
          <p:nvPr/>
        </p:nvSpPr>
        <p:spPr>
          <a:xfrm>
            <a:off x="533400" y="414337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MedDialog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271664-A620-4730-BE40-BDAABF565DE5}"/>
              </a:ext>
            </a:extLst>
          </p:cNvPr>
          <p:cNvSpPr>
            <a:spLocks noGrp="1"/>
          </p:cNvSpPr>
          <p:nvPr/>
        </p:nvSpPr>
        <p:spPr>
          <a:xfrm>
            <a:off x="1695450" y="4067175"/>
            <a:ext cx="1809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1F70DB-CE75-49C4-B55D-209313179B6D}"/>
              </a:ext>
            </a:extLst>
          </p:cNvPr>
          <p:cNvSpPr>
            <a:spLocks noGrp="1"/>
          </p:cNvSpPr>
          <p:nvPr/>
        </p:nvSpPr>
        <p:spPr>
          <a:xfrm>
            <a:off x="1771650" y="414337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medical dialogue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314F24B-EE12-40D9-81DA-1251582A4DA1}"/>
              </a:ext>
            </a:extLst>
          </p:cNvPr>
          <p:cNvSpPr>
            <a:spLocks noGrp="1"/>
          </p:cNvSpPr>
          <p:nvPr/>
        </p:nvSpPr>
        <p:spPr>
          <a:xfrm>
            <a:off x="3505200" y="4067175"/>
            <a:ext cx="2571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2A31EC-154F-4C8F-A435-B5BBEBFC7408}"/>
              </a:ext>
            </a:extLst>
          </p:cNvPr>
          <p:cNvSpPr>
            <a:spLocks noGrp="1"/>
          </p:cNvSpPr>
          <p:nvPr/>
        </p:nvSpPr>
        <p:spPr>
          <a:xfrm>
            <a:off x="3581400" y="414337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dialogue only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15AABC-0D52-4DC2-9BD7-0EDAF429422D}"/>
              </a:ext>
            </a:extLst>
          </p:cNvPr>
          <p:cNvSpPr>
            <a:spLocks noGrp="1"/>
          </p:cNvSpPr>
          <p:nvPr/>
        </p:nvSpPr>
        <p:spPr>
          <a:xfrm>
            <a:off x="6076950" y="4067175"/>
            <a:ext cx="2571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FF6E59E-EB11-4165-883D-F7CD5E99411C}"/>
              </a:ext>
            </a:extLst>
          </p:cNvPr>
          <p:cNvSpPr>
            <a:spLocks noGrp="1"/>
          </p:cNvSpPr>
          <p:nvPr/>
        </p:nvSpPr>
        <p:spPr>
          <a:xfrm>
            <a:off x="6153150" y="414337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final doctor turn if forced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19EC706-0890-446C-AC18-D649A5E38298}"/>
              </a:ext>
            </a:extLst>
          </p:cNvPr>
          <p:cNvSpPr>
            <a:spLocks noGrp="1"/>
          </p:cNvSpPr>
          <p:nvPr/>
        </p:nvSpPr>
        <p:spPr>
          <a:xfrm>
            <a:off x="8648700" y="4067175"/>
            <a:ext cx="20955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FA1EAB9-6E24-4377-B498-8802859DA0F6}"/>
              </a:ext>
            </a:extLst>
          </p:cNvPr>
          <p:cNvSpPr>
            <a:spLocks noGrp="1"/>
          </p:cNvSpPr>
          <p:nvPr/>
        </p:nvSpPr>
        <p:spPr>
          <a:xfrm>
            <a:off x="8724900" y="414337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缺 clinician note，不作为主数据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FD0D479-1701-4CCB-A057-D9AC0A485AE8}"/>
              </a:ext>
            </a:extLst>
          </p:cNvPr>
          <p:cNvSpPr>
            <a:spLocks noGrp="1"/>
          </p:cNvSpPr>
          <p:nvPr/>
        </p:nvSpPr>
        <p:spPr>
          <a:xfrm>
            <a:off x="10744200" y="4067175"/>
            <a:ext cx="11430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5501BD2-6076-4DFD-B845-169409B5890A}"/>
              </a:ext>
            </a:extLst>
          </p:cNvPr>
          <p:cNvSpPr>
            <a:spLocks noGrp="1"/>
          </p:cNvSpPr>
          <p:nvPr/>
        </p:nvSpPr>
        <p:spPr>
          <a:xfrm>
            <a:off x="10820400" y="414337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auxiliary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B09CF9F-BABA-417F-A511-8F8330C39AA5}"/>
              </a:ext>
            </a:extLst>
          </p:cNvPr>
          <p:cNvSpPr>
            <a:spLocks noGrp="1"/>
          </p:cNvSpPr>
          <p:nvPr/>
        </p:nvSpPr>
        <p:spPr>
          <a:xfrm>
            <a:off x="457200" y="4657725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978CF86-ACC8-407E-B9D4-6F42D0247E9E}"/>
              </a:ext>
            </a:extLst>
          </p:cNvPr>
          <p:cNvSpPr>
            <a:spLocks noGrp="1"/>
          </p:cNvSpPr>
          <p:nvPr/>
        </p:nvSpPr>
        <p:spPr>
          <a:xfrm>
            <a:off x="533400" y="473392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CounselBench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470434F-6954-4113-868A-D1D18720F97B}"/>
              </a:ext>
            </a:extLst>
          </p:cNvPr>
          <p:cNvSpPr>
            <a:spLocks noGrp="1"/>
          </p:cNvSpPr>
          <p:nvPr/>
        </p:nvSpPr>
        <p:spPr>
          <a:xfrm>
            <a:off x="1695450" y="46577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2F8835D-B841-4699-8F4D-2142118505CE}"/>
              </a:ext>
            </a:extLst>
          </p:cNvPr>
          <p:cNvSpPr>
            <a:spLocks noGrp="1"/>
          </p:cNvSpPr>
          <p:nvPr/>
        </p:nvSpPr>
        <p:spPr>
          <a:xfrm>
            <a:off x="1771650" y="473392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mental health QA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1D14F9C-6370-4C73-8FAD-8A6075990098}"/>
              </a:ext>
            </a:extLst>
          </p:cNvPr>
          <p:cNvSpPr>
            <a:spLocks noGrp="1"/>
          </p:cNvSpPr>
          <p:nvPr/>
        </p:nvSpPr>
        <p:spPr>
          <a:xfrm>
            <a:off x="3505200" y="46577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A6C8DCF-48E1-48B4-9539-BC454E24E04B}"/>
              </a:ext>
            </a:extLst>
          </p:cNvPr>
          <p:cNvSpPr>
            <a:spLocks noGrp="1"/>
          </p:cNvSpPr>
          <p:nvPr/>
        </p:nvSpPr>
        <p:spPr>
          <a:xfrm>
            <a:off x="3581400" y="47339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topic + question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94F61B-AA2E-4480-A21F-C9553D66E51A}"/>
              </a:ext>
            </a:extLst>
          </p:cNvPr>
          <p:cNvSpPr>
            <a:spLocks noGrp="1"/>
          </p:cNvSpPr>
          <p:nvPr/>
        </p:nvSpPr>
        <p:spPr>
          <a:xfrm>
            <a:off x="6076950" y="46577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5C933CD-A597-4A6A-889E-C441FBABA322}"/>
              </a:ext>
            </a:extLst>
          </p:cNvPr>
          <p:cNvSpPr>
            <a:spLocks noGrp="1"/>
          </p:cNvSpPr>
          <p:nvPr/>
        </p:nvSpPr>
        <p:spPr>
          <a:xfrm>
            <a:off x="6153150" y="47339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human / LLM response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979B17A-169A-4C66-B37E-38F3CBE47E77}"/>
              </a:ext>
            </a:extLst>
          </p:cNvPr>
          <p:cNvSpPr>
            <a:spLocks noGrp="1"/>
          </p:cNvSpPr>
          <p:nvPr/>
        </p:nvSpPr>
        <p:spPr>
          <a:xfrm>
            <a:off x="8648700" y="4657725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0F3D8D7-C5DF-43C6-8789-681F87CA6994}"/>
              </a:ext>
            </a:extLst>
          </p:cNvPr>
          <p:cNvSpPr>
            <a:spLocks noGrp="1"/>
          </p:cNvSpPr>
          <p:nvPr/>
        </p:nvSpPr>
        <p:spPr>
          <a:xfrm>
            <a:off x="8724900" y="473392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expert composite score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AF8F46-659E-45B8-AA16-A3C17790006B}"/>
              </a:ext>
            </a:extLst>
          </p:cNvPr>
          <p:cNvSpPr>
            <a:spLocks noGrp="1"/>
          </p:cNvSpPr>
          <p:nvPr/>
        </p:nvSpPr>
        <p:spPr>
          <a:xfrm>
            <a:off x="10744200" y="4657725"/>
            <a:ext cx="1143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3C2763E-3D1A-44C7-8EC6-4336CC708E16}"/>
              </a:ext>
            </a:extLst>
          </p:cNvPr>
          <p:cNvSpPr>
            <a:spLocks noGrp="1"/>
          </p:cNvSpPr>
          <p:nvPr/>
        </p:nvSpPr>
        <p:spPr>
          <a:xfrm>
            <a:off x="10820400" y="473392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sensitivity</a:t>
            </a:r>
          </a:p>
          <a:p>
            <a:pPr algn="l">
              <a:buNone/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02283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56C6E144-7049-421F-BB98-42E8C9DE03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CA857B-E4A7-4B7D-B83C-29FC0C483AB9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6F0D9-685E-4F40-87E8-60A88F769196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LLM-AS-JUDGE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51CD2-060B-4B94-B2D8-AB9104AE25F4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Sonnet 4.6 与之前 GPT judge 的打分结果对照。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DF5B76-6831-4CC5-9F63-1E62BBB54A02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5C4247-F201-4C27-B06D-DBDEFF010453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747A46-AB7F-45FD-A102-A52EF5AE332B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22860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AFF97-BD1D-4178-98A6-4EB9079D7339}"/>
              </a:ext>
            </a:extLst>
          </p:cNvPr>
          <p:cNvSpPr>
            <a:spLocks noGrp="1"/>
          </p:cNvSpPr>
          <p:nvPr/>
        </p:nvSpPr>
        <p:spPr>
          <a:xfrm>
            <a:off x="885825" y="222885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Judge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14EC4F-15AB-4EA8-A93A-B43C53B5AB9B}"/>
              </a:ext>
            </a:extLst>
          </p:cNvPr>
          <p:cNvSpPr>
            <a:spLocks noGrp="1"/>
          </p:cNvSpPr>
          <p:nvPr/>
        </p:nvSpPr>
        <p:spPr>
          <a:xfrm>
            <a:off x="3095625" y="2143125"/>
            <a:ext cx="14287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49226-1AA2-42F5-AD69-B8A079C0F7A3}"/>
              </a:ext>
            </a:extLst>
          </p:cNvPr>
          <p:cNvSpPr>
            <a:spLocks noGrp="1"/>
          </p:cNvSpPr>
          <p:nvPr/>
        </p:nvSpPr>
        <p:spPr>
          <a:xfrm>
            <a:off x="3171825" y="2228850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5CCE6F-B8C0-47DB-BD08-0035D0A9F594}"/>
              </a:ext>
            </a:extLst>
          </p:cNvPr>
          <p:cNvSpPr>
            <a:spLocks noGrp="1"/>
          </p:cNvSpPr>
          <p:nvPr/>
        </p:nvSpPr>
        <p:spPr>
          <a:xfrm>
            <a:off x="4524375" y="2143125"/>
            <a:ext cx="16192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460ACC-7E7D-490B-869C-85EEE56E36B1}"/>
              </a:ext>
            </a:extLst>
          </p:cNvPr>
          <p:cNvSpPr>
            <a:spLocks noGrp="1"/>
          </p:cNvSpPr>
          <p:nvPr/>
        </p:nvSpPr>
        <p:spPr>
          <a:xfrm>
            <a:off x="4600575" y="2228850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V_agent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AAA3E7-BCF0-4836-AAAF-F9BD4FD5EC91}"/>
              </a:ext>
            </a:extLst>
          </p:cNvPr>
          <p:cNvSpPr>
            <a:spLocks noGrp="1"/>
          </p:cNvSpPr>
          <p:nvPr/>
        </p:nvSpPr>
        <p:spPr>
          <a:xfrm>
            <a:off x="6143625" y="2143125"/>
            <a:ext cx="16192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B875A5-96CD-4278-8353-C1FC663A82CB}"/>
              </a:ext>
            </a:extLst>
          </p:cNvPr>
          <p:cNvSpPr>
            <a:spLocks noGrp="1"/>
          </p:cNvSpPr>
          <p:nvPr/>
        </p:nvSpPr>
        <p:spPr>
          <a:xfrm>
            <a:off x="6219825" y="2228850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Effect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1EA026-7E91-40A7-BEA3-40C7D0705D15}"/>
              </a:ext>
            </a:extLst>
          </p:cNvPr>
          <p:cNvSpPr>
            <a:spLocks noGrp="1"/>
          </p:cNvSpPr>
          <p:nvPr/>
        </p:nvSpPr>
        <p:spPr>
          <a:xfrm>
            <a:off x="7762875" y="2143125"/>
            <a:ext cx="21907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63B127-33ED-4F9C-B7C4-320F2C1CEADC}"/>
              </a:ext>
            </a:extLst>
          </p:cNvPr>
          <p:cNvSpPr>
            <a:spLocks noGrp="1"/>
          </p:cNvSpPr>
          <p:nvPr/>
        </p:nvSpPr>
        <p:spPr>
          <a:xfrm>
            <a:off x="7839075" y="2228850"/>
            <a:ext cx="2038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63EF69-6B35-4690-8D37-F4F5704AFE27}"/>
              </a:ext>
            </a:extLst>
          </p:cNvPr>
          <p:cNvSpPr>
            <a:spLocks noGrp="1"/>
          </p:cNvSpPr>
          <p:nvPr/>
        </p:nvSpPr>
        <p:spPr>
          <a:xfrm>
            <a:off x="9953625" y="2143125"/>
            <a:ext cx="16192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F12A18-8F82-48B2-854B-C94CF4FC6AAB}"/>
              </a:ext>
            </a:extLst>
          </p:cNvPr>
          <p:cNvSpPr>
            <a:spLocks noGrp="1"/>
          </p:cNvSpPr>
          <p:nvPr/>
        </p:nvSpPr>
        <p:spPr>
          <a:xfrm>
            <a:off x="10029825" y="2228850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Dir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2C69E-0E59-41B5-8D86-DB20DB7E4D36}"/>
              </a:ext>
            </a:extLst>
          </p:cNvPr>
          <p:cNvSpPr>
            <a:spLocks noGrp="1"/>
          </p:cNvSpPr>
          <p:nvPr/>
        </p:nvSpPr>
        <p:spPr>
          <a:xfrm>
            <a:off x="809625" y="2543175"/>
            <a:ext cx="2286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0E5A14-89AC-4CD0-901C-2563D49D18BD}"/>
              </a:ext>
            </a:extLst>
          </p:cNvPr>
          <p:cNvSpPr>
            <a:spLocks noGrp="1"/>
          </p:cNvSpPr>
          <p:nvPr/>
        </p:nvSpPr>
        <p:spPr>
          <a:xfrm>
            <a:off x="885825" y="261937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GPT-4.1 旧口径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00BD38-FA47-4C26-A31D-BBE49A15EC47}"/>
              </a:ext>
            </a:extLst>
          </p:cNvPr>
          <p:cNvSpPr>
            <a:spLocks noGrp="1"/>
          </p:cNvSpPr>
          <p:nvPr/>
        </p:nvSpPr>
        <p:spPr>
          <a:xfrm>
            <a:off x="3095625" y="2543175"/>
            <a:ext cx="1428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66C806-93C1-47FF-A567-D784A50F79F0}"/>
              </a:ext>
            </a:extLst>
          </p:cNvPr>
          <p:cNvSpPr>
            <a:spLocks noGrp="1"/>
          </p:cNvSpPr>
          <p:nvPr/>
        </p:nvSpPr>
        <p:spPr>
          <a:xfrm>
            <a:off x="3171825" y="2619375"/>
            <a:ext cx="1276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0.666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74EE59-E78C-45E3-BE66-A9A35DF788CD}"/>
              </a:ext>
            </a:extLst>
          </p:cNvPr>
          <p:cNvSpPr>
            <a:spLocks noGrp="1"/>
          </p:cNvSpPr>
          <p:nvPr/>
        </p:nvSpPr>
        <p:spPr>
          <a:xfrm>
            <a:off x="4524375" y="25431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59D313-6B06-42A4-9CCD-EA3EFC74F95F}"/>
              </a:ext>
            </a:extLst>
          </p:cNvPr>
          <p:cNvSpPr>
            <a:spLocks noGrp="1"/>
          </p:cNvSpPr>
          <p:nvPr/>
        </p:nvSpPr>
        <p:spPr>
          <a:xfrm>
            <a:off x="4600575" y="26193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0.929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F3D6C-FC96-497D-BB83-2D1CCDDCDC87}"/>
              </a:ext>
            </a:extLst>
          </p:cNvPr>
          <p:cNvSpPr>
            <a:spLocks noGrp="1"/>
          </p:cNvSpPr>
          <p:nvPr/>
        </p:nvSpPr>
        <p:spPr>
          <a:xfrm>
            <a:off x="6143625" y="25431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2EF7F2-0A35-475A-8C6D-2B18A2FF7521}"/>
              </a:ext>
            </a:extLst>
          </p:cNvPr>
          <p:cNvSpPr>
            <a:spLocks noGrp="1"/>
          </p:cNvSpPr>
          <p:nvPr/>
        </p:nvSpPr>
        <p:spPr>
          <a:xfrm>
            <a:off x="6219825" y="26193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+0.263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607008-E3A5-41F6-B93A-6C5D8314B0B7}"/>
              </a:ext>
            </a:extLst>
          </p:cNvPr>
          <p:cNvSpPr>
            <a:spLocks noGrp="1"/>
          </p:cNvSpPr>
          <p:nvPr/>
        </p:nvSpPr>
        <p:spPr>
          <a:xfrm>
            <a:off x="7762875" y="2543175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46E312-E317-4CCA-B1ED-9A4FFD4528D6}"/>
              </a:ext>
            </a:extLst>
          </p:cNvPr>
          <p:cNvSpPr>
            <a:spLocks noGrp="1"/>
          </p:cNvSpPr>
          <p:nvPr/>
        </p:nvSpPr>
        <p:spPr>
          <a:xfrm>
            <a:off x="7839075" y="2619375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未作为当前主表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09E612-51A0-4811-B6CC-ADBB643AA660}"/>
              </a:ext>
            </a:extLst>
          </p:cNvPr>
          <p:cNvSpPr>
            <a:spLocks noGrp="1"/>
          </p:cNvSpPr>
          <p:nvPr/>
        </p:nvSpPr>
        <p:spPr>
          <a:xfrm>
            <a:off x="9953625" y="25431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C0C2B1-0BEA-4BC0-9394-D435CC06B560}"/>
              </a:ext>
            </a:extLst>
          </p:cNvPr>
          <p:cNvSpPr>
            <a:spLocks noGrp="1"/>
          </p:cNvSpPr>
          <p:nvPr/>
        </p:nvSpPr>
        <p:spPr>
          <a:xfrm>
            <a:off x="10029825" y="26193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96.2%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7367B8-D645-4BEC-A99D-77B227A8A63A}"/>
              </a:ext>
            </a:extLst>
          </p:cNvPr>
          <p:cNvSpPr>
            <a:spLocks noGrp="1"/>
          </p:cNvSpPr>
          <p:nvPr/>
        </p:nvSpPr>
        <p:spPr>
          <a:xfrm>
            <a:off x="809625" y="3190875"/>
            <a:ext cx="228600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111F67-7085-476A-83C0-6B1611C68DF3}"/>
              </a:ext>
            </a:extLst>
          </p:cNvPr>
          <p:cNvSpPr>
            <a:spLocks noGrp="1"/>
          </p:cNvSpPr>
          <p:nvPr/>
        </p:nvSpPr>
        <p:spPr>
          <a:xfrm>
            <a:off x="885825" y="326707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GPT-4o 主口径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147B03-EA0C-4A36-8A78-FBFE091C241D}"/>
              </a:ext>
            </a:extLst>
          </p:cNvPr>
          <p:cNvSpPr>
            <a:spLocks noGrp="1"/>
          </p:cNvSpPr>
          <p:nvPr/>
        </p:nvSpPr>
        <p:spPr>
          <a:xfrm>
            <a:off x="3095625" y="3190875"/>
            <a:ext cx="14287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6EB206-FE67-471A-91BF-24E42CC4C908}"/>
              </a:ext>
            </a:extLst>
          </p:cNvPr>
          <p:cNvSpPr>
            <a:spLocks noGrp="1"/>
          </p:cNvSpPr>
          <p:nvPr/>
        </p:nvSpPr>
        <p:spPr>
          <a:xfrm>
            <a:off x="3171825" y="3267075"/>
            <a:ext cx="1276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0.6690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240DE4-78F1-4AE3-858B-20E7C9E7D6DD}"/>
              </a:ext>
            </a:extLst>
          </p:cNvPr>
          <p:cNvSpPr>
            <a:spLocks noGrp="1"/>
          </p:cNvSpPr>
          <p:nvPr/>
        </p:nvSpPr>
        <p:spPr>
          <a:xfrm>
            <a:off x="4524375" y="3190875"/>
            <a:ext cx="16192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8FD988-82B2-40BB-9226-97CE7B68FDCC}"/>
              </a:ext>
            </a:extLst>
          </p:cNvPr>
          <p:cNvSpPr>
            <a:spLocks noGrp="1"/>
          </p:cNvSpPr>
          <p:nvPr/>
        </p:nvSpPr>
        <p:spPr>
          <a:xfrm>
            <a:off x="4600575" y="32670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0.8585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3F8A28-41C3-4E1B-8942-E3423A84CFA8}"/>
              </a:ext>
            </a:extLst>
          </p:cNvPr>
          <p:cNvSpPr>
            <a:spLocks noGrp="1"/>
          </p:cNvSpPr>
          <p:nvPr/>
        </p:nvSpPr>
        <p:spPr>
          <a:xfrm>
            <a:off x="6143625" y="3190875"/>
            <a:ext cx="16192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9821F7-AC4D-49E9-ADE7-C6BB3B704BA6}"/>
              </a:ext>
            </a:extLst>
          </p:cNvPr>
          <p:cNvSpPr>
            <a:spLocks noGrp="1"/>
          </p:cNvSpPr>
          <p:nvPr/>
        </p:nvSpPr>
        <p:spPr>
          <a:xfrm>
            <a:off x="6219825" y="32670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+0.1895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EE78CF-F293-414C-9FB3-F6C79159F4AC}"/>
              </a:ext>
            </a:extLst>
          </p:cNvPr>
          <p:cNvSpPr>
            <a:spLocks noGrp="1"/>
          </p:cNvSpPr>
          <p:nvPr/>
        </p:nvSpPr>
        <p:spPr>
          <a:xfrm>
            <a:off x="7762875" y="3190875"/>
            <a:ext cx="21907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9B59CD-36A4-4502-A6B6-C39A48BE33EC}"/>
              </a:ext>
            </a:extLst>
          </p:cNvPr>
          <p:cNvSpPr>
            <a:spLocks noGrp="1"/>
          </p:cNvSpPr>
          <p:nvPr/>
        </p:nvSpPr>
        <p:spPr>
          <a:xfrm>
            <a:off x="7839075" y="3267075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[0.168, 0.212]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1B811B-B0D8-49A0-BB2E-EB9EFE8E823E}"/>
              </a:ext>
            </a:extLst>
          </p:cNvPr>
          <p:cNvSpPr>
            <a:spLocks noGrp="1"/>
          </p:cNvSpPr>
          <p:nvPr/>
        </p:nvSpPr>
        <p:spPr>
          <a:xfrm>
            <a:off x="9953625" y="3190875"/>
            <a:ext cx="16192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C7014F5-144C-4607-A9BF-B3501DED52F5}"/>
              </a:ext>
            </a:extLst>
          </p:cNvPr>
          <p:cNvSpPr>
            <a:spLocks noGrp="1"/>
          </p:cNvSpPr>
          <p:nvPr/>
        </p:nvSpPr>
        <p:spPr>
          <a:xfrm>
            <a:off x="10029825" y="32670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81.9%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12F6D3-BA0F-4E17-8B07-7216ED5D328F}"/>
              </a:ext>
            </a:extLst>
          </p:cNvPr>
          <p:cNvSpPr>
            <a:spLocks noGrp="1"/>
          </p:cNvSpPr>
          <p:nvPr/>
        </p:nvSpPr>
        <p:spPr>
          <a:xfrm>
            <a:off x="809625" y="3838575"/>
            <a:ext cx="2286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95595F-ECAD-48DA-89C0-9C631ABAE484}"/>
              </a:ext>
            </a:extLst>
          </p:cNvPr>
          <p:cNvSpPr>
            <a:spLocks noGrp="1"/>
          </p:cNvSpPr>
          <p:nvPr/>
        </p:nvSpPr>
        <p:spPr>
          <a:xfrm>
            <a:off x="885825" y="391477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Claude Sonnet 4.6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68F4457-CEEA-47B5-935D-6EDAA80C094F}"/>
              </a:ext>
            </a:extLst>
          </p:cNvPr>
          <p:cNvSpPr>
            <a:spLocks noGrp="1"/>
          </p:cNvSpPr>
          <p:nvPr/>
        </p:nvSpPr>
        <p:spPr>
          <a:xfrm>
            <a:off x="3095625" y="3838575"/>
            <a:ext cx="1428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5BD15-0E66-450D-BC3D-614B08DC1920}"/>
              </a:ext>
            </a:extLst>
          </p:cNvPr>
          <p:cNvSpPr>
            <a:spLocks noGrp="1"/>
          </p:cNvSpPr>
          <p:nvPr/>
        </p:nvSpPr>
        <p:spPr>
          <a:xfrm>
            <a:off x="3171825" y="3914775"/>
            <a:ext cx="1276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0.6178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A92914-8625-4B64-82C4-AEE003545387}"/>
              </a:ext>
            </a:extLst>
          </p:cNvPr>
          <p:cNvSpPr>
            <a:spLocks noGrp="1"/>
          </p:cNvSpPr>
          <p:nvPr/>
        </p:nvSpPr>
        <p:spPr>
          <a:xfrm>
            <a:off x="4524375" y="38385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6136E0B-7E41-4F85-AD4A-0DAF3C884EDA}"/>
              </a:ext>
            </a:extLst>
          </p:cNvPr>
          <p:cNvSpPr>
            <a:spLocks noGrp="1"/>
          </p:cNvSpPr>
          <p:nvPr/>
        </p:nvSpPr>
        <p:spPr>
          <a:xfrm>
            <a:off x="4600575" y="39147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0.8413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7B548E-017E-4DA5-BFBF-8D9F07631FBD}"/>
              </a:ext>
            </a:extLst>
          </p:cNvPr>
          <p:cNvSpPr>
            <a:spLocks noGrp="1"/>
          </p:cNvSpPr>
          <p:nvPr/>
        </p:nvSpPr>
        <p:spPr>
          <a:xfrm>
            <a:off x="6143625" y="38385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B2D2A3B-8D35-4D5E-8C3F-32B4C3E89D8B}"/>
              </a:ext>
            </a:extLst>
          </p:cNvPr>
          <p:cNvSpPr>
            <a:spLocks noGrp="1"/>
          </p:cNvSpPr>
          <p:nvPr/>
        </p:nvSpPr>
        <p:spPr>
          <a:xfrm>
            <a:off x="6219825" y="39147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+0.2236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726EC17-4AB4-4CAF-A432-70E729E94C13}"/>
              </a:ext>
            </a:extLst>
          </p:cNvPr>
          <p:cNvSpPr>
            <a:spLocks noGrp="1"/>
          </p:cNvSpPr>
          <p:nvPr/>
        </p:nvSpPr>
        <p:spPr>
          <a:xfrm>
            <a:off x="7762875" y="3838575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AD9351-0251-428C-9F79-CCC241AA3C7B}"/>
              </a:ext>
            </a:extLst>
          </p:cNvPr>
          <p:cNvSpPr>
            <a:spLocks noGrp="1"/>
          </p:cNvSpPr>
          <p:nvPr/>
        </p:nvSpPr>
        <p:spPr>
          <a:xfrm>
            <a:off x="7839075" y="3914775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[0.206, 0.241]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D56982C-5FDA-4AD4-8070-D2BF3ADC6E0A}"/>
              </a:ext>
            </a:extLst>
          </p:cNvPr>
          <p:cNvSpPr>
            <a:spLocks noGrp="1"/>
          </p:cNvSpPr>
          <p:nvPr/>
        </p:nvSpPr>
        <p:spPr>
          <a:xfrm>
            <a:off x="9953625" y="38385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B59464-E58C-4E24-A8C5-2EA95E7E4FE5}"/>
              </a:ext>
            </a:extLst>
          </p:cNvPr>
          <p:cNvSpPr>
            <a:spLocks noGrp="1"/>
          </p:cNvSpPr>
          <p:nvPr/>
        </p:nvSpPr>
        <p:spPr>
          <a:xfrm>
            <a:off x="10029825" y="39147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97.7%</a:t>
            </a:r>
          </a:p>
        </p:txBody>
      </p:sp>
    </p:spTree>
    <p:extLst>
      <p:ext uri="{BB962C8B-B14F-4D97-AF65-F5344CB8AC3E}">
        <p14:creationId xmlns:p14="http://schemas.microsoft.com/office/powerpoint/2010/main" val="16278563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610</Words>
  <Application>Microsoft Macintosh PowerPoint</Application>
  <DocSecurity>0</DocSecurity>
  <PresentationFormat>Widescreen</PresentationFormat>
  <Paragraphs>181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 Unicode MS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 Wei</cp:lastModifiedBy>
  <cp:revision>2</cp:revision>
  <dcterms:created xsi:type="dcterms:W3CDTF">2026-05-26T04:44:39Z</dcterms:created>
  <dcterms:modified xsi:type="dcterms:W3CDTF">2026-05-26T04:54:23Z</dcterms:modified>
</cp:coreProperties>
</file>